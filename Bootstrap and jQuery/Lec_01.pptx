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3" r:id="rId6"/>
    <p:sldId id="262" r:id="rId7"/>
    <p:sldId id="265" r:id="rId8"/>
    <p:sldId id="264" r:id="rId9"/>
    <p:sldId id="266" r:id="rId10"/>
    <p:sldId id="26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1CB12-59D7-4DC5-BD1A-FB6830CADD8A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AABEC-6A39-432E-945B-4B5566EB4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2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AABEC-6A39-432E-945B-4B5566EB471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6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5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4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0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0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8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4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7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9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86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9690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2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8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83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01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29003A3-CE5D-42C6-8D0C-43A59C9E730F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164C7-8278-44D4-BF5B-660CBBBE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82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32FD-6880-1B87-1025-EA9F435D0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Bootstrap 5</a:t>
            </a:r>
          </a:p>
        </p:txBody>
      </p:sp>
    </p:spTree>
    <p:extLst>
      <p:ext uri="{BB962C8B-B14F-4D97-AF65-F5344CB8AC3E}">
        <p14:creationId xmlns:p14="http://schemas.microsoft.com/office/powerpoint/2010/main" val="423909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Bootstrap and Why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Free, open-source front-end framework</a:t>
            </a:r>
          </a:p>
          <a:p>
            <a:r>
              <a:rPr dirty="0"/>
              <a:t>Provides ready-made CSS and JS components</a:t>
            </a:r>
          </a:p>
          <a:p>
            <a:r>
              <a:rPr dirty="0"/>
              <a:t>Makes websites responsive &amp; mobile-friendly</a:t>
            </a:r>
          </a:p>
          <a:p>
            <a:r>
              <a:rPr dirty="0"/>
              <a:t>Saves development time and ensures consistency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CDN vs Local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CDN (Content Delivery Network):</a:t>
            </a:r>
          </a:p>
          <a:p>
            <a:r>
              <a:rPr dirty="0"/>
              <a:t>  Quick to start, requires internet</a:t>
            </a:r>
          </a:p>
          <a:p>
            <a:r>
              <a:rPr dirty="0"/>
              <a:t>  Example: Link Bootstrap files online</a:t>
            </a:r>
          </a:p>
          <a:p>
            <a:endParaRPr dirty="0"/>
          </a:p>
          <a:p>
            <a:r>
              <a:rPr dirty="0"/>
              <a:t>Local Setup:</a:t>
            </a:r>
          </a:p>
          <a:p>
            <a:r>
              <a:rPr dirty="0"/>
              <a:t>  Download Bootstrap files into project</a:t>
            </a:r>
          </a:p>
          <a:p>
            <a:r>
              <a:rPr dirty="0"/>
              <a:t>  Works offline, customizable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Structure &amp; Integration with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Typical Project Structure:</a:t>
            </a:r>
          </a:p>
          <a:p>
            <a:r>
              <a:rPr dirty="0"/>
              <a:t> index.html</a:t>
            </a:r>
          </a:p>
          <a:p>
            <a:r>
              <a:rPr dirty="0"/>
              <a:t> </a:t>
            </a:r>
            <a:r>
              <a:rPr dirty="0" err="1"/>
              <a:t>css</a:t>
            </a:r>
            <a:r>
              <a:rPr dirty="0"/>
              <a:t>/bootstrap.min.css</a:t>
            </a:r>
          </a:p>
          <a:p>
            <a:r>
              <a:rPr dirty="0"/>
              <a:t> </a:t>
            </a:r>
            <a:r>
              <a:rPr dirty="0" err="1"/>
              <a:t>js</a:t>
            </a:r>
            <a:r>
              <a:rPr dirty="0"/>
              <a:t>/bootstrap.bundle.min.js</a:t>
            </a:r>
          </a:p>
          <a:p>
            <a:r>
              <a:rPr dirty="0"/>
              <a:t> style.css (custom)</a:t>
            </a:r>
          </a:p>
          <a:p>
            <a:r>
              <a:rPr dirty="0"/>
              <a:t>Include Bootstrap CSS before your own styles.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9AD2-E257-F3A5-7600-775F712AB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67" y="325396"/>
            <a:ext cx="9404723" cy="1400530"/>
          </a:xfrm>
        </p:spPr>
        <p:txBody>
          <a:bodyPr/>
          <a:lstStyle/>
          <a:p>
            <a:r>
              <a:rPr lang="en-US" dirty="0"/>
              <a:t>Responsive Breakpoints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58D659-9A94-7682-F80B-61D93E96A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364" y="1369969"/>
            <a:ext cx="10372988" cy="4118062"/>
          </a:xfrm>
        </p:spPr>
      </p:pic>
    </p:spTree>
    <p:extLst>
      <p:ext uri="{BB962C8B-B14F-4D97-AF65-F5344CB8AC3E}">
        <p14:creationId xmlns:p14="http://schemas.microsoft.com/office/powerpoint/2010/main" val="153351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Responsive 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Breakpoints define layouts for different screen sizes:</a:t>
            </a:r>
          </a:p>
          <a:p>
            <a:r>
              <a:rPr lang="en-US" dirty="0"/>
              <a:t> col- (extra small &lt;576px)</a:t>
            </a:r>
          </a:p>
          <a:p>
            <a:r>
              <a:rPr lang="en-US" dirty="0"/>
              <a:t> col-</a:t>
            </a:r>
            <a:r>
              <a:rPr lang="en-US" dirty="0" err="1"/>
              <a:t>sm</a:t>
            </a:r>
            <a:r>
              <a:rPr lang="en-US" dirty="0"/>
              <a:t>- (small ≥576px)</a:t>
            </a:r>
          </a:p>
          <a:p>
            <a:r>
              <a:rPr lang="en-US" dirty="0"/>
              <a:t> col-md- (medium ≥768px)</a:t>
            </a:r>
          </a:p>
          <a:p>
            <a:r>
              <a:rPr lang="en-US" dirty="0"/>
              <a:t> col-lg- (large ≥992px)</a:t>
            </a:r>
          </a:p>
          <a:p>
            <a:r>
              <a:rPr lang="en-US" dirty="0"/>
              <a:t> col-xl- (extra large ≥1200px)</a:t>
            </a:r>
          </a:p>
          <a:p>
            <a:r>
              <a:rPr lang="en-US" dirty="0"/>
              <a:t> col-</a:t>
            </a:r>
            <a:r>
              <a:rPr lang="en-US" dirty="0" err="1"/>
              <a:t>xxl</a:t>
            </a:r>
            <a:r>
              <a:rPr lang="en-US" dirty="0"/>
              <a:t>- (extra </a:t>
            </a:r>
            <a:r>
              <a:rPr lang="en-US" dirty="0" err="1"/>
              <a:t>extra</a:t>
            </a:r>
            <a:r>
              <a:rPr lang="en-US" dirty="0"/>
              <a:t> large ≥1400px)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0314-01A5-616D-F8AC-EEEF4FE8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Container?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0F4B5-CDA6-1938-0B27-7FA7F515B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container is the main layout wrapper in Bootstrap.</a:t>
            </a:r>
          </a:p>
          <a:p>
            <a:r>
              <a:rPr lang="en-US" dirty="0"/>
              <a:t>It aligns content properly on the page.</a:t>
            </a:r>
          </a:p>
          <a:p>
            <a:r>
              <a:rPr lang="en-US" dirty="0"/>
              <a:t>It provides responsive padding and margin.</a:t>
            </a:r>
          </a:p>
          <a:p>
            <a:r>
              <a:rPr lang="en-US" dirty="0"/>
              <a:t>It is required for using the Bootstrap grid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99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68F5-317A-7C39-2142-5CA4CA8C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ED580A-83AA-E5A7-BFB6-DFBC1C6C9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349" y="1242267"/>
            <a:ext cx="10276382" cy="437346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78772-1A73-FD2E-6299-637B5386AD32}"/>
              </a:ext>
            </a:extLst>
          </p:cNvPr>
          <p:cNvSpPr txBox="1"/>
          <p:nvPr/>
        </p:nvSpPr>
        <p:spPr>
          <a:xfrm>
            <a:off x="646111" y="5817601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use container and container fluid for 100% almost</a:t>
            </a:r>
          </a:p>
          <a:p>
            <a:r>
              <a:rPr lang="en-US" dirty="0"/>
              <a:t>container fluid for 100% and only container for </a:t>
            </a:r>
          </a:p>
          <a:p>
            <a:r>
              <a:rPr lang="en-US" dirty="0"/>
              <a:t>Container for mid part</a:t>
            </a:r>
          </a:p>
        </p:txBody>
      </p:sp>
    </p:spTree>
    <p:extLst>
      <p:ext uri="{BB962C8B-B14F-4D97-AF65-F5344CB8AC3E}">
        <p14:creationId xmlns:p14="http://schemas.microsoft.com/office/powerpoint/2010/main" val="322376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CE76-946B-676D-87F8-14B11BBC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2BF1-48B3-FD91-164D-FCA4B30FA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the Grid System?</a:t>
            </a:r>
          </a:p>
          <a:p>
            <a:r>
              <a:rPr lang="en-US" dirty="0"/>
              <a:t>The Bootstrap Grid System is a layout system that allows you to create responsive web page layouts using rows and columns.</a:t>
            </a:r>
          </a:p>
          <a:p>
            <a:r>
              <a:rPr lang="en-US" dirty="0"/>
              <a:t>It is based on a </a:t>
            </a:r>
            <a:r>
              <a:rPr lang="en-US" b="1" dirty="0"/>
              <a:t>12-column system</a:t>
            </a:r>
            <a:r>
              <a:rPr lang="en-US" dirty="0"/>
              <a:t>.</a:t>
            </a:r>
          </a:p>
          <a:p>
            <a:r>
              <a:rPr lang="en-US" dirty="0"/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row is divided into 12 columns.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combine these columns in different ways to create layouts.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214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Grid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Layout based on 12-column grid</a:t>
            </a:r>
          </a:p>
          <a:p>
            <a:r>
              <a:rPr dirty="0"/>
              <a:t>Container: wrapper for rows and columns</a:t>
            </a:r>
          </a:p>
          <a:p>
            <a:r>
              <a:rPr dirty="0"/>
              <a:t>Row: horizontal group of columns</a:t>
            </a:r>
          </a:p>
          <a:p>
            <a:r>
              <a:rPr dirty="0"/>
              <a:t>Column: defined with col- classes (e.g., col-6)</a:t>
            </a:r>
          </a:p>
          <a:p>
            <a:r>
              <a:rPr dirty="0"/>
              <a:t>Example: col-6 + col-6 = full row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2F94-6C91-0F6F-FC57-71B63C22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76" y="86810"/>
            <a:ext cx="9404723" cy="1400530"/>
          </a:xfrm>
        </p:spPr>
        <p:txBody>
          <a:bodyPr/>
          <a:lstStyle/>
          <a:p>
            <a:r>
              <a:rPr lang="en-US" b="1" dirty="0"/>
              <a:t>Columns in Bootstrap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EA2F-98AF-FF19-23B0-D861751F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451" y="1018572"/>
            <a:ext cx="10691291" cy="57526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Columns are used to divide a row into different sections.</a:t>
            </a:r>
          </a:p>
          <a:p>
            <a:r>
              <a:rPr lang="en-US" dirty="0"/>
              <a:t>Bootstrap uses a </a:t>
            </a:r>
            <a:r>
              <a:rPr lang="en-US" b="1" dirty="0"/>
              <a:t>12-column layout system</a:t>
            </a:r>
            <a:r>
              <a:rPr lang="en-US" dirty="0"/>
              <a:t>, which means: Each row has 12 available columns.</a:t>
            </a:r>
          </a:p>
          <a:p>
            <a:r>
              <a:rPr lang="en-US" dirty="0"/>
              <a:t>Vertical Alignment of Columns: Vertical alignment is controlled on the row.</a:t>
            </a:r>
          </a:p>
          <a:p>
            <a:r>
              <a:rPr lang="en-US" dirty="0"/>
              <a:t>Classes:</a:t>
            </a:r>
          </a:p>
          <a:p>
            <a:r>
              <a:rPr lang="en-US" dirty="0"/>
              <a:t>align-items-start → Top</a:t>
            </a:r>
          </a:p>
          <a:p>
            <a:r>
              <a:rPr lang="en-US" dirty="0"/>
              <a:t>align-items-center → Center</a:t>
            </a:r>
          </a:p>
          <a:p>
            <a:r>
              <a:rPr lang="en-US" dirty="0"/>
              <a:t>align-items-end → Bottom</a:t>
            </a:r>
          </a:p>
          <a:p>
            <a:r>
              <a:rPr lang="en-US" dirty="0"/>
              <a:t>Horizontal Alignment of Columns: It is also controlled on the row</a:t>
            </a:r>
          </a:p>
          <a:p>
            <a:r>
              <a:rPr lang="en-US" dirty="0"/>
              <a:t>Classes:</a:t>
            </a:r>
          </a:p>
          <a:p>
            <a:r>
              <a:rPr lang="en-US" dirty="0"/>
              <a:t>justify-content-start</a:t>
            </a:r>
          </a:p>
          <a:p>
            <a:r>
              <a:rPr lang="en-US" dirty="0"/>
              <a:t>justify-content-center</a:t>
            </a:r>
          </a:p>
          <a:p>
            <a:r>
              <a:rPr lang="en-US" dirty="0"/>
              <a:t>justify-content-end</a:t>
            </a:r>
          </a:p>
          <a:p>
            <a:r>
              <a:rPr lang="en-US" dirty="0"/>
              <a:t>justify-content-between</a:t>
            </a:r>
          </a:p>
          <a:p>
            <a:r>
              <a:rPr lang="en-US" dirty="0"/>
              <a:t>justify-content-around</a:t>
            </a:r>
          </a:p>
          <a:p>
            <a:r>
              <a:rPr lang="en-US" dirty="0"/>
              <a:t>justify-content-evenly</a:t>
            </a:r>
          </a:p>
        </p:txBody>
      </p:sp>
    </p:spTree>
    <p:extLst>
      <p:ext uri="{BB962C8B-B14F-4D97-AF65-F5344CB8AC3E}">
        <p14:creationId xmlns:p14="http://schemas.microsoft.com/office/powerpoint/2010/main" val="3309569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440</TotalTime>
  <Words>422</Words>
  <Application>Microsoft Office PowerPoint</Application>
  <PresentationFormat>Widescreen</PresentationFormat>
  <Paragraphs>69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Century Gothic</vt:lpstr>
      <vt:lpstr>Wingdings 3</vt:lpstr>
      <vt:lpstr>Ion</vt:lpstr>
      <vt:lpstr>Introduction to Bootstrap 5</vt:lpstr>
      <vt:lpstr>What is Bootstrap and Why Use it?</vt:lpstr>
      <vt:lpstr>Bootstrap CDN vs Local Setup</vt:lpstr>
      <vt:lpstr>File Structure &amp; Integration with HTML</vt:lpstr>
      <vt:lpstr>Responsive Breakpoints</vt:lpstr>
      <vt:lpstr>Responsive Breakpoints</vt:lpstr>
      <vt:lpstr>What is Container? </vt:lpstr>
      <vt:lpstr>Container</vt:lpstr>
      <vt:lpstr>Grid:</vt:lpstr>
      <vt:lpstr>Bootstrap Grid System</vt:lpstr>
      <vt:lpstr>Columns in Bootstrap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11</cp:revision>
  <dcterms:created xsi:type="dcterms:W3CDTF">2026-02-26T06:29:26Z</dcterms:created>
  <dcterms:modified xsi:type="dcterms:W3CDTF">2026-02-27T12:04:22Z</dcterms:modified>
</cp:coreProperties>
</file>