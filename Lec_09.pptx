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5" r:id="rId9"/>
    <p:sldId id="262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49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5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84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50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2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5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7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4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43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16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162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284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56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79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358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81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89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1D264FE-40EE-4B3A-84CC-BD600FA995B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BFFE3-ABF9-439C-9E47-7F9830B8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505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A678A-0F50-EA9A-2277-A11275F56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3377" y="1447800"/>
            <a:ext cx="10567686" cy="3329581"/>
          </a:xfrm>
        </p:spPr>
        <p:txBody>
          <a:bodyPr/>
          <a:lstStyle/>
          <a:p>
            <a:r>
              <a:rPr lang="en-US" dirty="0"/>
              <a:t>Forms &amp; Input Elements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B8EA1-45E0-2372-4BC0-77E964C89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185" y="4777381"/>
            <a:ext cx="8825658" cy="861420"/>
          </a:xfrm>
        </p:spPr>
        <p:txBody>
          <a:bodyPr/>
          <a:lstStyle/>
          <a:p>
            <a:r>
              <a:rPr lang="en-US" dirty="0"/>
              <a:t>Presented by : Manal </a:t>
            </a:r>
            <a:r>
              <a:rPr lang="en-US" dirty="0" err="1"/>
              <a:t>asghar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714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6FFC-AD90-947B-34D1-257CF71F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&amp; Input Elements in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2D74F-3967-8B26-A8D7-EE1905A97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Forms are used to collect user data. </a:t>
            </a:r>
          </a:p>
          <a:p>
            <a:endParaRPr lang="en-US" dirty="0"/>
          </a:p>
          <a:p>
            <a:r>
              <a:rPr lang="en-US" dirty="0"/>
              <a:t>The user input is most often sent to a server for processing.</a:t>
            </a:r>
          </a:p>
          <a:p>
            <a:endParaRPr lang="en-US" dirty="0"/>
          </a:p>
          <a:p>
            <a:r>
              <a:rPr lang="en-US" dirty="0"/>
              <a:t>HTML provides a variety of input elements, validation attributes, and form controls.</a:t>
            </a:r>
          </a:p>
        </p:txBody>
      </p:sp>
    </p:spTree>
    <p:extLst>
      <p:ext uri="{BB962C8B-B14F-4D97-AF65-F5344CB8AC3E}">
        <p14:creationId xmlns:p14="http://schemas.microsoft.com/office/powerpoint/2010/main" val="40059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555A0-9037-30F5-7726-88440E897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HTML &lt;form&gt;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B1637-F301-4002-5C2B-E4A7950B5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497333"/>
            <a:ext cx="10456414" cy="476457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HTML &lt;form&gt; element can contain one or more of the following form elements:</a:t>
            </a:r>
          </a:p>
          <a:p>
            <a:endParaRPr lang="en-US" dirty="0"/>
          </a:p>
          <a:p>
            <a:r>
              <a:rPr lang="en-US" dirty="0"/>
              <a:t>&lt;input&gt;</a:t>
            </a:r>
          </a:p>
          <a:p>
            <a:r>
              <a:rPr lang="en-US" dirty="0"/>
              <a:t>&lt;label&gt;</a:t>
            </a:r>
          </a:p>
          <a:p>
            <a:r>
              <a:rPr lang="en-US" dirty="0"/>
              <a:t>&lt;select&gt;</a:t>
            </a:r>
          </a:p>
          <a:p>
            <a:r>
              <a:rPr lang="en-US" dirty="0"/>
              <a:t>&lt;</a:t>
            </a:r>
            <a:r>
              <a:rPr lang="en-US" dirty="0" err="1"/>
              <a:t>textarea</a:t>
            </a:r>
            <a:r>
              <a:rPr lang="en-US" dirty="0"/>
              <a:t>&gt;</a:t>
            </a:r>
          </a:p>
          <a:p>
            <a:r>
              <a:rPr lang="en-US" dirty="0"/>
              <a:t>&lt;button&gt;</a:t>
            </a:r>
          </a:p>
          <a:p>
            <a:r>
              <a:rPr lang="en-US" dirty="0"/>
              <a:t>&lt;</a:t>
            </a:r>
            <a:r>
              <a:rPr lang="en-US" dirty="0" err="1"/>
              <a:t>fieldset</a:t>
            </a:r>
            <a:r>
              <a:rPr lang="en-US" dirty="0"/>
              <a:t>&gt;</a:t>
            </a:r>
          </a:p>
          <a:p>
            <a:r>
              <a:rPr lang="en-US" dirty="0"/>
              <a:t>&lt;legend&gt;</a:t>
            </a:r>
          </a:p>
          <a:p>
            <a:r>
              <a:rPr lang="en-US" dirty="0"/>
              <a:t>&lt;</a:t>
            </a:r>
            <a:r>
              <a:rPr lang="en-US" dirty="0" err="1"/>
              <a:t>datalist</a:t>
            </a:r>
            <a:r>
              <a:rPr lang="en-US" dirty="0"/>
              <a:t>&gt;</a:t>
            </a:r>
          </a:p>
          <a:p>
            <a:r>
              <a:rPr lang="en-US" dirty="0"/>
              <a:t>&lt;output&gt;</a:t>
            </a:r>
          </a:p>
          <a:p>
            <a:r>
              <a:rPr lang="en-US" dirty="0"/>
              <a:t>&lt;option&gt;</a:t>
            </a:r>
          </a:p>
          <a:p>
            <a:r>
              <a:rPr lang="en-US" dirty="0"/>
              <a:t>&lt;</a:t>
            </a:r>
            <a:r>
              <a:rPr lang="en-US" dirty="0" err="1"/>
              <a:t>optgroup</a:t>
            </a:r>
            <a:r>
              <a:rPr lang="en-US" dirty="0"/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932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28C5-4471-448A-0A3A-FED46258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Types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2B8B69-A481-A02C-92A2-2A3B4B8C3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140" y="1374646"/>
            <a:ext cx="8924663" cy="5118752"/>
          </a:xfrm>
        </p:spPr>
      </p:pic>
    </p:spTree>
    <p:extLst>
      <p:ext uri="{BB962C8B-B14F-4D97-AF65-F5344CB8AC3E}">
        <p14:creationId xmlns:p14="http://schemas.microsoft.com/office/powerpoint/2010/main" val="333599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B43EC-9454-671E-0BF3-A673D572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Types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45E229-88A2-7BC2-ECF2-CF4467755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977"/>
          <a:stretch/>
        </p:blipFill>
        <p:spPr>
          <a:xfrm>
            <a:off x="1697681" y="1853248"/>
            <a:ext cx="8637726" cy="3656301"/>
          </a:xfrm>
        </p:spPr>
      </p:pic>
    </p:spTree>
    <p:extLst>
      <p:ext uri="{BB962C8B-B14F-4D97-AF65-F5344CB8AC3E}">
        <p14:creationId xmlns:p14="http://schemas.microsoft.com/office/powerpoint/2010/main" val="1208103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B06F-3694-1985-4AA0-C5AEC177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93BCB-3B93-D4D4-9863-FFCA8364E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2C04F-9B40-3D63-B3DC-6894EDFD7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1893233"/>
            <a:ext cx="9171559" cy="397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3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9D2F4-916D-0E85-E221-B1E099F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Attributes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768ED81-9C8B-4E5D-2AD1-1CA7789FC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415" y="1607917"/>
            <a:ext cx="8946541" cy="4195481"/>
          </a:xfrm>
        </p:spPr>
        <p:txBody>
          <a:bodyPr/>
          <a:lstStyle/>
          <a:p>
            <a:r>
              <a:rPr lang="en-US" dirty="0"/>
              <a:t>Validation helps ensure correct user input before submission.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C41648-D89A-D75D-B2A2-051441391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240" y="2418043"/>
            <a:ext cx="9177893" cy="409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85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A465-1DC9-95C4-2124-3BCBD071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Target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C104B-C7FA-DF79-CBC1-63430836B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646" y="1485758"/>
            <a:ext cx="8946541" cy="4195481"/>
          </a:xfrm>
        </p:spPr>
        <p:txBody>
          <a:bodyPr/>
          <a:lstStyle/>
          <a:p>
            <a:r>
              <a:rPr lang="en-US" dirty="0"/>
              <a:t>The target attribute specifies where to display the response that is received after submitting the form.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6ED6F0-B8C7-3F36-82B9-15F32EE0B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80" y="2255496"/>
            <a:ext cx="8299572" cy="414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08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2235-0189-5A4E-EE0E-FD878351C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3A3F8-167E-F0A1-00AF-DCFED26AF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566781"/>
            <a:ext cx="8946541" cy="4195481"/>
          </a:xfrm>
        </p:spPr>
        <p:txBody>
          <a:bodyPr/>
          <a:lstStyle/>
          <a:p>
            <a:r>
              <a:rPr lang="en-US" dirty="0"/>
              <a:t>Hidden fields store data that users don’t see but is sent with the form.</a:t>
            </a:r>
          </a:p>
          <a:p>
            <a:r>
              <a:rPr lang="en-US" dirty="0"/>
              <a:t>&lt;input type="hidden" name="</a:t>
            </a:r>
            <a:r>
              <a:rPr lang="en-US" dirty="0" err="1"/>
              <a:t>userID</a:t>
            </a:r>
            <a:r>
              <a:rPr lang="en-US" dirty="0"/>
              <a:t>" value="12345"&gt;</a:t>
            </a:r>
          </a:p>
          <a:p>
            <a:r>
              <a:rPr lang="en-US" b="1" dirty="0"/>
              <a:t>Use cases: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IDs, session tokens, tracking info.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885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1CD9-C7F3-A838-CAC4-D34BC05F2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FF18FE-A3BF-66F9-33AE-1954F94010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502" r="6452" b="21894"/>
          <a:stretch/>
        </p:blipFill>
        <p:spPr>
          <a:xfrm>
            <a:off x="1355865" y="4090353"/>
            <a:ext cx="3887467" cy="18288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B8C325-FB24-420F-789E-2380A4D16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20" y="1238913"/>
            <a:ext cx="560070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45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72BA0-86DC-9AF6-6EF0-785F2BE37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225611"/>
          </a:xfrm>
        </p:spPr>
        <p:txBody>
          <a:bodyPr/>
          <a:lstStyle/>
          <a:p>
            <a:r>
              <a:rPr lang="en-US" dirty="0"/>
              <a:t>Practical: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BF5B55-A3B7-EB79-39CF-532EC474B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1617" y="911518"/>
            <a:ext cx="5625295" cy="563686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5FB26E-E8A2-AF13-0165-46FA6ED5690C}"/>
              </a:ext>
            </a:extLst>
          </p:cNvPr>
          <p:cNvSpPr txBox="1"/>
          <p:nvPr/>
        </p:nvSpPr>
        <p:spPr>
          <a:xfrm>
            <a:off x="928869" y="130899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design contact form</a:t>
            </a:r>
          </a:p>
        </p:txBody>
      </p:sp>
    </p:spTree>
    <p:extLst>
      <p:ext uri="{BB962C8B-B14F-4D97-AF65-F5344CB8AC3E}">
        <p14:creationId xmlns:p14="http://schemas.microsoft.com/office/powerpoint/2010/main" val="1769770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10543-BBDD-61AE-2312-FE697FF96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66796"/>
          </a:xfrm>
        </p:spPr>
        <p:txBody>
          <a:bodyPr/>
          <a:lstStyle/>
          <a:p>
            <a:r>
              <a:rPr lang="en-US" dirty="0"/>
              <a:t>Practical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C5A76C-CF92-4E14-76B7-C087427B5B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147" y="1645676"/>
            <a:ext cx="5291242" cy="419576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342345-14A6-6B49-D7A8-E551B081E086}"/>
              </a:ext>
            </a:extLst>
          </p:cNvPr>
          <p:cNvSpPr txBox="1"/>
          <p:nvPr/>
        </p:nvSpPr>
        <p:spPr>
          <a:xfrm>
            <a:off x="646111" y="113221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Survey form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361CBD-1089-997E-3CFB-4CF56041C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175" y="1642782"/>
            <a:ext cx="6051006" cy="40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372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197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Forms &amp; Input Elements</vt:lpstr>
      <vt:lpstr>Forms &amp; Input Elements in HTML</vt:lpstr>
      <vt:lpstr>The HTML &lt;form&gt; Elements</vt:lpstr>
      <vt:lpstr>Input Types</vt:lpstr>
      <vt:lpstr>Input Types</vt:lpstr>
      <vt:lpstr>Form Attributes</vt:lpstr>
      <vt:lpstr>Validation Attributes</vt:lpstr>
      <vt:lpstr>The Target Attribute</vt:lpstr>
      <vt:lpstr>Hidden Fields</vt:lpstr>
      <vt:lpstr>Practical</vt:lpstr>
      <vt:lpstr>Practical: </vt:lpstr>
      <vt:lpstr>Practical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9</cp:revision>
  <dcterms:created xsi:type="dcterms:W3CDTF">2026-02-20T09:37:57Z</dcterms:created>
  <dcterms:modified xsi:type="dcterms:W3CDTF">2026-02-20T10:40:40Z</dcterms:modified>
</cp:coreProperties>
</file>