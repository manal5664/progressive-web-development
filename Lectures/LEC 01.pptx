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5" r:id="rId3"/>
    <p:sldId id="266" r:id="rId4"/>
    <p:sldId id="264" r:id="rId5"/>
    <p:sldId id="267" r:id="rId6"/>
    <p:sldId id="258" r:id="rId7"/>
    <p:sldId id="259" r:id="rId8"/>
    <p:sldId id="270" r:id="rId9"/>
    <p:sldId id="260" r:id="rId10"/>
    <p:sldId id="261" r:id="rId11"/>
    <p:sldId id="262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3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0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7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6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3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5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9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3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63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40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44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21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07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37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7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E8BC5F8-F307-46E4-A183-C703DFF6F0C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1CFCF9A2-A6FC-4230-8EA7-60BC940CE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1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8530-07A5-406F-C1CC-8A968F3DD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773778" cy="2677648"/>
          </a:xfrm>
        </p:spPr>
        <p:txBody>
          <a:bodyPr/>
          <a:lstStyle/>
          <a:p>
            <a:r>
              <a:rPr lang="en-US" b="1" dirty="0"/>
              <a:t>Getting Started with the Web</a:t>
            </a:r>
            <a:br>
              <a:rPr lang="en-US" b="1" dirty="0"/>
            </a:br>
            <a:r>
              <a:rPr lang="en-US" b="1" dirty="0"/>
              <a:t>Introduction to HTML &amp; Web Technologies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ED292-80E8-CB73-471E-6F542629A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267" y="4777381"/>
            <a:ext cx="8825658" cy="861420"/>
          </a:xfrm>
        </p:spPr>
        <p:txBody>
          <a:bodyPr/>
          <a:lstStyle/>
          <a:p>
            <a:r>
              <a:rPr lang="en-US" dirty="0"/>
              <a:t>Presented by: </a:t>
            </a:r>
            <a:r>
              <a:rPr lang="en-US" i="1" dirty="0"/>
              <a:t>Manal Asghar</a:t>
            </a:r>
            <a:br>
              <a:rPr lang="en-US" dirty="0"/>
            </a:br>
            <a:r>
              <a:rPr lang="en-US" dirty="0"/>
              <a:t>Course: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256027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8D45-81F2-ECAC-A92D-861E48F7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Internet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B8181-D29F-612A-C8CD-A6E227993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208245" cy="482600"/>
          </a:xfrm>
        </p:spPr>
        <p:txBody>
          <a:bodyPr/>
          <a:lstStyle/>
          <a:p>
            <a:r>
              <a:rPr lang="en-US" dirty="0"/>
              <a:t>Global network connecting computers for data sharing.</a:t>
            </a:r>
          </a:p>
        </p:txBody>
      </p:sp>
      <p:pic>
        <p:nvPicPr>
          <p:cNvPr id="1026" name="Picture 2" descr="Connecting the World: Exploring the Wonders of Computer Networks&quot;">
            <a:extLst>
              <a:ext uri="{FF2B5EF4-FFF2-40B4-BE49-F238E27FC236}">
                <a16:creationId xmlns:a16="http://schemas.microsoft.com/office/drawing/2014/main" id="{4DE53D88-1CE8-F5E0-3B13-44A7D81D2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208" y="3086100"/>
            <a:ext cx="4903042" cy="346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641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3E92-476F-B724-7D61-F620A21F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Web, </a:t>
            </a:r>
            <a:r>
              <a:rPr lang="en-US" dirty="0"/>
              <a:t>Web Pages &amp; Websites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EE0B-1F55-1450-AA9B-B7D01D48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741645" cy="38544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Web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 (World Wide Web) </a:t>
            </a:r>
            <a:r>
              <a:rPr lang="en-US" sz="2800" dirty="0"/>
              <a:t>: Part of the internet that hosts websites and web pages, accessed through browsers.</a:t>
            </a:r>
          </a:p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Page: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Single page with text, images, links,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Collection of multiple web pages (e.g., Google.com, Wikipedia.org).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Connected through hyperlinks</a:t>
            </a:r>
          </a:p>
          <a:p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293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769E-FB15-15C4-A831-CE2A8D79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Website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9505-B66A-800B-C729-816C5370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type a website address in the browser.</a:t>
            </a:r>
          </a:p>
          <a:p>
            <a:r>
              <a:rPr lang="en-US" dirty="0"/>
              <a:t>The browser sends a request to the server.</a:t>
            </a:r>
          </a:p>
          <a:p>
            <a:r>
              <a:rPr lang="en-US" dirty="0"/>
              <a:t>The server sends back website files (HTML, CSS, JavaScript).</a:t>
            </a:r>
          </a:p>
          <a:p>
            <a:r>
              <a:rPr lang="en-US" dirty="0"/>
              <a:t>The browser shows the website on your screen.</a:t>
            </a:r>
          </a:p>
          <a:p>
            <a:r>
              <a:rPr lang="en-US" sz="2000" b="1" dirty="0"/>
              <a:t>Simple Flow: User → Browser → Server → Browser → Websites </a:t>
            </a:r>
          </a:p>
          <a:p>
            <a:r>
              <a:rPr lang="en-US" dirty="0"/>
              <a:t>“When we type a website name, the browser asks the server for the website, and the server sends it back and browser displayed on the screen.”</a:t>
            </a:r>
          </a:p>
        </p:txBody>
      </p:sp>
    </p:spTree>
    <p:extLst>
      <p:ext uri="{BB962C8B-B14F-4D97-AF65-F5344CB8AC3E}">
        <p14:creationId xmlns:p14="http://schemas.microsoft.com/office/powerpoint/2010/main" val="72135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1C76-7C1F-052E-C43F-9004BDBE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File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83B9-4EF0-EE62-2857-6E2703811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HTML:</a:t>
            </a:r>
            <a:r>
              <a:rPr lang="en-US" sz="2000" dirty="0"/>
              <a:t> Structure of a page.</a:t>
            </a:r>
          </a:p>
          <a:p>
            <a:r>
              <a:rPr lang="en-US" sz="2000" b="1" dirty="0"/>
              <a:t>CSS:</a:t>
            </a:r>
            <a:r>
              <a:rPr lang="en-US" sz="2000" dirty="0"/>
              <a:t> Styles and layout.</a:t>
            </a:r>
          </a:p>
          <a:p>
            <a:r>
              <a:rPr lang="en-US" sz="2000" b="1" dirty="0"/>
              <a:t>JS (optional for now):</a:t>
            </a:r>
            <a:r>
              <a:rPr lang="en-US" sz="2000" dirty="0"/>
              <a:t> Adds interactivity.</a:t>
            </a:r>
          </a:p>
          <a:p>
            <a:pPr marL="0" indent="0">
              <a:buNone/>
            </a:pPr>
            <a:r>
              <a:rPr lang="en-US" sz="2000" b="1" dirty="0"/>
              <a:t>Difference between Frontend &amp; Backend</a:t>
            </a:r>
            <a:r>
              <a:rPr lang="en-US" sz="2000" dirty="0"/>
              <a:t> –</a:t>
            </a:r>
          </a:p>
          <a:p>
            <a:r>
              <a:rPr lang="en-US" sz="2000" b="1" dirty="0"/>
              <a:t>Frontend:</a:t>
            </a:r>
            <a:r>
              <a:rPr lang="en-US" sz="2000" dirty="0"/>
              <a:t> What user sees (HTML + CSS).</a:t>
            </a:r>
          </a:p>
          <a:p>
            <a:r>
              <a:rPr lang="en-US" sz="2000" b="1" dirty="0"/>
              <a:t>Backend:</a:t>
            </a:r>
            <a:r>
              <a:rPr lang="en-US" sz="2000" dirty="0"/>
              <a:t> Server-side logic and databases.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691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94EB-0F1F-C3BA-E55F-666BDECC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HTML &amp; Web Technologies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FF9A-AA7E-175D-2EDB-855088811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24559"/>
            <a:ext cx="8761412" cy="4533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  HTML Versions</a:t>
            </a:r>
          </a:p>
          <a:p>
            <a:r>
              <a:rPr lang="en-US" dirty="0"/>
              <a:t>HTML (1991) – Created by Tim Berners-Lee</a:t>
            </a:r>
          </a:p>
          <a:p>
            <a:r>
              <a:rPr lang="en-US" dirty="0"/>
              <a:t>HTML 2.0</a:t>
            </a:r>
          </a:p>
          <a:p>
            <a:r>
              <a:rPr lang="en-US" dirty="0"/>
              <a:t>HTML 4.01</a:t>
            </a:r>
          </a:p>
          <a:p>
            <a:r>
              <a:rPr lang="en-US" dirty="0"/>
              <a:t>XHTML</a:t>
            </a:r>
          </a:p>
          <a:p>
            <a:r>
              <a:rPr lang="en-US" dirty="0"/>
              <a:t>HTML5 (Latest &amp; Modern standard)</a:t>
            </a:r>
          </a:p>
          <a:p>
            <a:pPr marL="0" indent="0">
              <a:buNone/>
            </a:pPr>
            <a:r>
              <a:rPr lang="en-US" b="1" dirty="0"/>
              <a:t>     Web Technologies Evolution</a:t>
            </a:r>
          </a:p>
          <a:p>
            <a:r>
              <a:rPr lang="en-US" dirty="0"/>
              <a:t>Static Websites (Only HTML)</a:t>
            </a:r>
          </a:p>
          <a:p>
            <a:r>
              <a:rPr lang="en-US" dirty="0"/>
              <a:t>Dynamic Websites (PHP, ASP)</a:t>
            </a:r>
          </a:p>
          <a:p>
            <a:r>
              <a:rPr lang="en-US" dirty="0"/>
              <a:t>Modern Web Apps (React, Angular, APIs)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6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4FDF-873D-3316-A73D-DF583867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88" y="1368646"/>
            <a:ext cx="8761413" cy="706964"/>
          </a:xfrm>
        </p:spPr>
        <p:txBody>
          <a:bodyPr/>
          <a:lstStyle/>
          <a:p>
            <a:r>
              <a:rPr lang="en-US" b="1" dirty="0"/>
              <a:t>Structure of an HTML Page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54F70-8218-F5DC-D191-6AF6E7B13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2412215" cy="2188837"/>
          </a:xfrm>
        </p:spPr>
        <p:txBody>
          <a:bodyPr/>
          <a:lstStyle/>
          <a:p>
            <a:r>
              <a:rPr lang="en-US" dirty="0"/>
              <a:t>Basic structure: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D5E19-A0AC-CC96-0799-94AF2B7B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43" b="23399"/>
          <a:stretch/>
        </p:blipFill>
        <p:spPr>
          <a:xfrm>
            <a:off x="1286677" y="3040741"/>
            <a:ext cx="5896319" cy="3635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ECDC13-CCA1-FA6E-83E4-28F91F931707}"/>
              </a:ext>
            </a:extLst>
          </p:cNvPr>
          <p:cNvSpPr txBox="1"/>
          <p:nvPr/>
        </p:nvSpPr>
        <p:spPr>
          <a:xfrm>
            <a:off x="7458419" y="3429000"/>
            <a:ext cx="459403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Root element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Metadata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Visible content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04193-071E-A430-1869-A56098593642}"/>
              </a:ext>
            </a:extLst>
          </p:cNvPr>
          <p:cNvSpPr txBox="1"/>
          <p:nvPr/>
        </p:nvSpPr>
        <p:spPr>
          <a:xfrm>
            <a:off x="6206148" y="2337479"/>
            <a:ext cx="2243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Defines HTML5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831CA0-127D-4D8C-5E3D-C64C4CC99FFC}"/>
              </a:ext>
            </a:extLst>
          </p:cNvPr>
          <p:cNvCxnSpPr>
            <a:cxnSpLocks/>
          </p:cNvCxnSpPr>
          <p:nvPr/>
        </p:nvCxnSpPr>
        <p:spPr>
          <a:xfrm flipV="1">
            <a:off x="4208442" y="2643011"/>
            <a:ext cx="1997706" cy="7529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DD5C2B-1B62-6765-6D8E-C928946A7474}"/>
              </a:ext>
            </a:extLst>
          </p:cNvPr>
          <p:cNvCxnSpPr>
            <a:cxnSpLocks/>
          </p:cNvCxnSpPr>
          <p:nvPr/>
        </p:nvCxnSpPr>
        <p:spPr>
          <a:xfrm>
            <a:off x="3417753" y="4003120"/>
            <a:ext cx="41618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862A38-DA9B-FB0D-0866-D9DAC4C0B7D4}"/>
              </a:ext>
            </a:extLst>
          </p:cNvPr>
          <p:cNvCxnSpPr>
            <a:cxnSpLocks/>
          </p:cNvCxnSpPr>
          <p:nvPr/>
        </p:nvCxnSpPr>
        <p:spPr>
          <a:xfrm>
            <a:off x="3384703" y="4338927"/>
            <a:ext cx="41618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DC9AC90-334B-ED46-CB53-F3BEF4D38439}"/>
              </a:ext>
            </a:extLst>
          </p:cNvPr>
          <p:cNvCxnSpPr>
            <a:cxnSpLocks/>
          </p:cNvCxnSpPr>
          <p:nvPr/>
        </p:nvCxnSpPr>
        <p:spPr>
          <a:xfrm>
            <a:off x="3384703" y="5394709"/>
            <a:ext cx="416185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1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E0FD-AE30-CAA6-4418-4B127E98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307155"/>
            <a:ext cx="8761413" cy="706964"/>
          </a:xfrm>
        </p:spPr>
        <p:txBody>
          <a:bodyPr/>
          <a:lstStyle/>
          <a:p>
            <a:r>
              <a:rPr lang="en-US" b="1" dirty="0"/>
              <a:t>Structure of an HTML Page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71BE8-2189-0048-D877-59462208D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&lt;!DOCTYPE html&gt;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declaration defines that this document is an HTML5 document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&lt;html&gt;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is the root element of an HTML page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&lt;head&gt;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contains meta information about the HTML page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&lt;title&gt;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specifies a title for the HTML page (which is shown in the browser's title bar or in the page's tab)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&lt;body&gt;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defines the document's body, and is a container for all the visible contents, such as headings, paragraphs, images, hyperlinks, tables, lists, etc.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&lt;h1&gt;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defines a large heading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&lt;p&gt;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element defines a paragraph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3DAFD3-0D6E-6123-E3C9-4E44CC47E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33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FABF-95B2-A78C-DFB1-98C41524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 &amp; Elements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A499CF-FA84-2E22-8D65-C39E60A96B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3" y="2209001"/>
            <a:ext cx="7515320" cy="4425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a Tag?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Tags are keywords enclosed in angle brackets.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a paragraph&lt;/p&gt;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 → Opening tag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&lt;/p&gt; → Closing tag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in between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Tags: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Paired Tags (e.g., &lt;h1&gt;&lt;/h1&gt;)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Self-closing Tags (e.g., &lt;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&gt;)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331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3407-C30D-E49F-1876-5B12FC0D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DOCTYPE Declaration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C55158-38D4-64B2-25B9-82F224268F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556522"/>
            <a:ext cx="5816849" cy="351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&lt;!DOCTYPE html&gt;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  <a:endPara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Tells the browser which version of HTML is used.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proper rendering.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HTML5, it is simple and clean.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8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666AA-49E8-3FC1-8753-E64606D6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D4AC-E660-0DD9-32FF-669F5B11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Install Code Editor</a:t>
            </a:r>
          </a:p>
          <a:p>
            <a:r>
              <a:rPr lang="en-US" dirty="0"/>
              <a:t>Visual Studio Code</a:t>
            </a:r>
          </a:p>
          <a:p>
            <a:r>
              <a:rPr lang="en-US" b="1" dirty="0"/>
              <a:t>Useful Extensions:</a:t>
            </a:r>
          </a:p>
          <a:p>
            <a:r>
              <a:rPr lang="en-US" dirty="0"/>
              <a:t>Live Server</a:t>
            </a:r>
          </a:p>
          <a:p>
            <a:r>
              <a:rPr lang="en-US" dirty="0"/>
              <a:t>Prettier (Code Formatter)</a:t>
            </a:r>
          </a:p>
          <a:p>
            <a:r>
              <a:rPr lang="en-US" b="1" dirty="0"/>
              <a:t>Browser Developer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Inspect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Console tab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10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4C40-B493-7F51-C445-65076966D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9784796" cy="706964"/>
          </a:xfrm>
        </p:spPr>
        <p:txBody>
          <a:bodyPr/>
          <a:lstStyle/>
          <a:p>
            <a:r>
              <a:rPr lang="en-US" dirty="0"/>
              <a:t>Practical – Create Your First HTML Page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FE7F3A-816C-6BF6-BE34-A33001716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500867"/>
            <a:ext cx="3427541" cy="362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VS Code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new file → index.html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basic HTML structure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file</a:t>
            </a:r>
          </a:p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with Live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8186F-8C4B-36C5-9443-FCBC9B6C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43" b="23399"/>
          <a:stretch/>
        </p:blipFill>
        <p:spPr>
          <a:xfrm>
            <a:off x="4966311" y="2666082"/>
            <a:ext cx="6110874" cy="376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28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E492-909F-AAD6-E84F-8D4EAB86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HTML Headings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94065-6A68-D623-DE3C-B659E94AD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14257"/>
            <a:ext cx="8761412" cy="3416300"/>
          </a:xfrm>
        </p:spPr>
        <p:txBody>
          <a:bodyPr/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HTML headings are defined with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&lt;h6&gt;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tags.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defines the most important heading.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&lt;h6&gt;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defines the least important heading.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1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2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/h2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3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/h3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4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/h4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5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/h5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 6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/h6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354A0-EF53-97EA-F1D8-13A67CE11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434" y="3550818"/>
            <a:ext cx="1968976" cy="209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9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831B-326B-0206-BA63-E821DB5A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Comment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D51CE-8139-871E-B39F-A1E2C9650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 can add comments to your HTML source by using the following syntax:</a:t>
            </a:r>
          </a:p>
          <a:p>
            <a:pPr algn="l"/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&lt;!-- Write your comments here --&gt;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3F59F-7AE6-25A2-A508-09E097CF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65" y="3429000"/>
            <a:ext cx="5143976" cy="245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47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105</TotalTime>
  <Words>705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Unicode MS</vt:lpstr>
      <vt:lpstr>Century Gothic</vt:lpstr>
      <vt:lpstr>Consolas</vt:lpstr>
      <vt:lpstr>quote-cjk-patch</vt:lpstr>
      <vt:lpstr>Segoe UI</vt:lpstr>
      <vt:lpstr>Times New Roman</vt:lpstr>
      <vt:lpstr>Wingdings 3</vt:lpstr>
      <vt:lpstr>Ion Boardroom</vt:lpstr>
      <vt:lpstr>Getting Started with the Web Introduction to HTML &amp; Web Technologies</vt:lpstr>
      <vt:lpstr>Internet </vt:lpstr>
      <vt:lpstr>Web, Web Pages &amp; Websites:</vt:lpstr>
      <vt:lpstr>How a Website Works?</vt:lpstr>
      <vt:lpstr>Basic File Types</vt:lpstr>
      <vt:lpstr>Evolution of HTML &amp; Web Technologies </vt:lpstr>
      <vt:lpstr>Structure of an HTML Page  </vt:lpstr>
      <vt:lpstr>Structure of an HTML Page  </vt:lpstr>
      <vt:lpstr>HTML Tags &amp; Elements</vt:lpstr>
      <vt:lpstr>DOCTYPE Declaration</vt:lpstr>
      <vt:lpstr>Tools Setup</vt:lpstr>
      <vt:lpstr>Practical – Create Your First HTML Page</vt:lpstr>
      <vt:lpstr>HTML Headings</vt:lpstr>
      <vt:lpstr>HTML Comment Tag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21</cp:revision>
  <dcterms:created xsi:type="dcterms:W3CDTF">2026-02-17T09:40:08Z</dcterms:created>
  <dcterms:modified xsi:type="dcterms:W3CDTF">2026-02-17T15:46:15Z</dcterms:modified>
</cp:coreProperties>
</file>