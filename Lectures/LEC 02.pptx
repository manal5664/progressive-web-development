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5" r:id="rId5"/>
    <p:sldId id="266" r:id="rId6"/>
    <p:sldId id="267" r:id="rId7"/>
    <p:sldId id="269" r:id="rId8"/>
    <p:sldId id="268" r:id="rId9"/>
    <p:sldId id="270" r:id="rId10"/>
    <p:sldId id="259" r:id="rId11"/>
    <p:sldId id="260" r:id="rId12"/>
    <p:sldId id="261" r:id="rId13"/>
    <p:sldId id="262" r:id="rId14"/>
    <p:sldId id="263" r:id="rId15"/>
    <p:sldId id="264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7" d="100"/>
          <a:sy n="87" d="100"/>
        </p:scale>
        <p:origin x="2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91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0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74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34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22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75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76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0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5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05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92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79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93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53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356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429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4C0DA81-7AAB-41A5-BBBC-50DC404B359D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60B3C17-2682-4063-B6C6-6C282AF99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1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1404E-70ED-AEBA-F46A-AC2C09822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7779"/>
            <a:ext cx="9977610" cy="2387600"/>
          </a:xfrm>
        </p:spPr>
        <p:txBody>
          <a:bodyPr/>
          <a:lstStyle/>
          <a:p>
            <a:r>
              <a:rPr lang="en-US" dirty="0"/>
              <a:t>HTML5 Essentials &amp; Semantic Markup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F1FC1-CDAA-842B-36D4-09CC8B376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68060"/>
            <a:ext cx="8825658" cy="861420"/>
          </a:xfrm>
        </p:spPr>
        <p:txBody>
          <a:bodyPr/>
          <a:lstStyle/>
          <a:p>
            <a:r>
              <a:rPr lang="en-US" dirty="0"/>
              <a:t>Manal Asghar</a:t>
            </a:r>
          </a:p>
        </p:txBody>
      </p:sp>
    </p:spTree>
    <p:extLst>
      <p:ext uri="{BB962C8B-B14F-4D97-AF65-F5344CB8AC3E}">
        <p14:creationId xmlns:p14="http://schemas.microsoft.com/office/powerpoint/2010/main" val="96913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C252-FB1C-037B-2CB3-58E946D0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HTML5?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401D9-25D0-7C21-2447-5E5BDDCF4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Latest version of HTML</a:t>
            </a:r>
          </a:p>
          <a:p>
            <a:r>
              <a:rPr lang="en-US" dirty="0"/>
              <a:t>Introduced new semantic tags</a:t>
            </a:r>
          </a:p>
          <a:p>
            <a:r>
              <a:rPr lang="en-US" dirty="0"/>
              <a:t>Better support for multimedia</a:t>
            </a:r>
          </a:p>
          <a:p>
            <a:r>
              <a:rPr lang="en-US" dirty="0"/>
              <a:t>Mobile-friendly</a:t>
            </a:r>
          </a:p>
          <a:p>
            <a:r>
              <a:rPr lang="en-US" dirty="0"/>
              <a:t>HTML5 makes websites more structured and meaningful.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25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2B3D-9E60-9830-DCC8-C362BBDB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Types, Attributes &amp; Entities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5C010-E844-0EC8-AD9C-E6AE43996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667" y="2388671"/>
            <a:ext cx="8825659" cy="4469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Types (Basic Values)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Number</a:t>
            </a:r>
          </a:p>
          <a:p>
            <a:r>
              <a:rPr lang="en-US" dirty="0"/>
              <a:t>URL</a:t>
            </a:r>
          </a:p>
          <a:p>
            <a:r>
              <a:rPr lang="en-US" dirty="0"/>
              <a:t>Email</a:t>
            </a:r>
          </a:p>
          <a:p>
            <a:pPr marL="0" indent="0">
              <a:buNone/>
            </a:pPr>
            <a:r>
              <a:rPr lang="en-US" dirty="0"/>
              <a:t>E.g.  &lt;input type="email"&gt;</a:t>
            </a:r>
          </a:p>
        </p:txBody>
      </p:sp>
    </p:spTree>
    <p:extLst>
      <p:ext uri="{BB962C8B-B14F-4D97-AF65-F5344CB8AC3E}">
        <p14:creationId xmlns:p14="http://schemas.microsoft.com/office/powerpoint/2010/main" val="192388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D59A-217A-CE33-3CEE-9BF7FA89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DD8FE-CE4D-F069-1742-DC28B5770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attributes provide additional information about HTML elements.</a:t>
            </a:r>
          </a:p>
          <a:p>
            <a:r>
              <a:rPr lang="en-US" dirty="0"/>
              <a:t>All HTML elements can have attributes</a:t>
            </a:r>
          </a:p>
          <a:p>
            <a:r>
              <a:rPr lang="en-US" dirty="0"/>
              <a:t>Attributes provide additional information about elements</a:t>
            </a:r>
          </a:p>
          <a:p>
            <a:r>
              <a:rPr lang="en-US" dirty="0"/>
              <a:t>Attributes are always specified in the start tag</a:t>
            </a:r>
          </a:p>
          <a:p>
            <a:r>
              <a:rPr lang="en-US" dirty="0"/>
              <a:t>Attributes usually come in name/value pairs like: name="value“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47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BC32-B187-4ADA-C4A4-5FD5FE811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E1F8-1C65-B728-8664-F61F8520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Connects web pages to each </a:t>
            </a:r>
            <a:r>
              <a:rPr lang="en-US" dirty="0" err="1"/>
              <a:t>other.Lets</a:t>
            </a:r>
            <a:r>
              <a:rPr lang="en-US" dirty="0"/>
              <a:t> users navigate from one page or website to another.</a:t>
            </a:r>
          </a:p>
          <a:p>
            <a:r>
              <a:rPr lang="en-US" dirty="0"/>
              <a:t>Tag &lt;a&gt; (anchor)</a:t>
            </a:r>
          </a:p>
          <a:p>
            <a:r>
              <a:rPr lang="en-US" dirty="0"/>
              <a:t>The &lt;a&gt; tag defines a hyperlink. The </a:t>
            </a:r>
            <a:r>
              <a:rPr lang="en-US" dirty="0" err="1"/>
              <a:t>href</a:t>
            </a:r>
            <a:r>
              <a:rPr lang="en-US" dirty="0"/>
              <a:t> attribute specifies the URL of the page the link goes to: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="https://www.w3schools.com"&gt;Visit W3Schools&lt;/a&gt;</a:t>
            </a:r>
          </a:p>
          <a:p>
            <a:r>
              <a:rPr lang="en-US" dirty="0" err="1"/>
              <a:t>href</a:t>
            </a:r>
            <a:r>
              <a:rPr lang="en-US" dirty="0"/>
              <a:t> → URL of the page you want to link </a:t>
            </a:r>
            <a:r>
              <a:rPr lang="en-US" dirty="0" err="1"/>
              <a:t>to.Text</a:t>
            </a:r>
            <a:r>
              <a:rPr lang="en-US" dirty="0"/>
              <a:t> between &lt;a&gt; and &lt;/a&gt; → clickable text.</a:t>
            </a:r>
          </a:p>
        </p:txBody>
      </p:sp>
    </p:spTree>
    <p:extLst>
      <p:ext uri="{BB962C8B-B14F-4D97-AF65-F5344CB8AC3E}">
        <p14:creationId xmlns:p14="http://schemas.microsoft.com/office/powerpoint/2010/main" val="3799971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E5AD5-410C-C860-BB8C-1AD3F9D5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tag with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AF52A-C42A-D921-C5E6-E36DAEE70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767273"/>
            <a:ext cx="9471824" cy="331962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 err="1"/>
              <a:t>Src</a:t>
            </a:r>
            <a:r>
              <a:rPr lang="en-US" sz="2400" b="1" dirty="0"/>
              <a:t> Attributes:</a:t>
            </a:r>
          </a:p>
          <a:p>
            <a:pPr>
              <a:lnSpc>
                <a:spcPct val="150000"/>
              </a:lnSpc>
            </a:pPr>
            <a:r>
              <a:rPr lang="en-US" dirty="0"/>
              <a:t>The &lt;</a:t>
            </a:r>
            <a:r>
              <a:rPr lang="en-US" dirty="0" err="1"/>
              <a:t>img</a:t>
            </a:r>
            <a:r>
              <a:rPr lang="en-US" dirty="0"/>
              <a:t>&gt; tag is used to embed an image in an HTML page. The </a:t>
            </a:r>
            <a:r>
              <a:rPr lang="en-US" dirty="0" err="1"/>
              <a:t>src</a:t>
            </a:r>
            <a:r>
              <a:rPr lang="en-US" dirty="0"/>
              <a:t> attribute specifies the path to the image to be displayed:</a:t>
            </a:r>
          </a:p>
          <a:p>
            <a:pPr>
              <a:lnSpc>
                <a:spcPct val="150000"/>
              </a:lnSpc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="img_girl.jpg"&gt;</a:t>
            </a:r>
          </a:p>
        </p:txBody>
      </p:sp>
    </p:spTree>
    <p:extLst>
      <p:ext uri="{BB962C8B-B14F-4D97-AF65-F5344CB8AC3E}">
        <p14:creationId xmlns:p14="http://schemas.microsoft.com/office/powerpoint/2010/main" val="3270944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2E86-3F87-D098-F71E-B1E759CD3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SRC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ECD32-786B-8359-CC70-3596BADEF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967971" cy="42545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two ways to specify the URL in the </a:t>
            </a:r>
            <a:r>
              <a:rPr lang="en-US" dirty="0" err="1"/>
              <a:t>src</a:t>
            </a:r>
            <a:r>
              <a:rPr lang="en-US" dirty="0"/>
              <a:t> attribute:</a:t>
            </a:r>
          </a:p>
          <a:p>
            <a:pPr>
              <a:lnSpc>
                <a:spcPct val="150000"/>
              </a:lnSpc>
            </a:pPr>
            <a:r>
              <a:rPr lang="en-US" dirty="0"/>
              <a:t>1.	</a:t>
            </a:r>
            <a:r>
              <a:rPr lang="en-US" b="1" dirty="0"/>
              <a:t>Absolute URL </a:t>
            </a:r>
            <a:r>
              <a:rPr lang="en-US" dirty="0"/>
              <a:t>- Links to an external image that is hosted on another website. Example: 	</a:t>
            </a:r>
            <a:r>
              <a:rPr lang="en-US" dirty="0" err="1"/>
              <a:t>src</a:t>
            </a:r>
            <a:r>
              <a:rPr lang="en-US" dirty="0"/>
              <a:t>="https://www.w3schools.com/images/img_girl.jpg".</a:t>
            </a:r>
          </a:p>
          <a:p>
            <a:pPr>
              <a:lnSpc>
                <a:spcPct val="150000"/>
              </a:lnSpc>
            </a:pPr>
            <a:r>
              <a:rPr lang="en-US" dirty="0"/>
              <a:t>2.	 </a:t>
            </a:r>
            <a:r>
              <a:rPr lang="en-US" b="1" dirty="0"/>
              <a:t>Relative URL </a:t>
            </a:r>
            <a:r>
              <a:rPr lang="en-US" dirty="0"/>
              <a:t>- Links to an image that is hosted within the website. Here, the URL does not include 	the domain name. If the URL begins without a slash, it will be relative to the current page. 	Example: </a:t>
            </a:r>
            <a:r>
              <a:rPr lang="en-US" dirty="0" err="1"/>
              <a:t>src</a:t>
            </a:r>
            <a:r>
              <a:rPr lang="en-US" dirty="0"/>
              <a:t>="img_girl.jpg". If the URL begins with a slash, it will be relative to the domain. 	Example: </a:t>
            </a:r>
            <a:r>
              <a:rPr lang="en-US" dirty="0" err="1"/>
              <a:t>src</a:t>
            </a:r>
            <a:r>
              <a:rPr lang="en-US" dirty="0"/>
              <a:t>="/images/img_girl.jpg".</a:t>
            </a:r>
          </a:p>
          <a:p>
            <a:pPr>
              <a:lnSpc>
                <a:spcPct val="150000"/>
              </a:lnSpc>
            </a:pPr>
            <a:r>
              <a:rPr lang="en-US" dirty="0"/>
              <a:t>Tip: It is almost always best to use relative URLs. They will not break if you change domain</a:t>
            </a:r>
          </a:p>
        </p:txBody>
      </p:sp>
    </p:spTree>
    <p:extLst>
      <p:ext uri="{BB962C8B-B14F-4D97-AF65-F5344CB8AC3E}">
        <p14:creationId xmlns:p14="http://schemas.microsoft.com/office/powerpoint/2010/main" val="2771321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61DC-D775-086B-07F0-752C59374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tag with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D58D-1267-8912-95AC-3E5FD4D15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790550" cy="39474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/>
              <a:t>The width and height Attributes: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The &lt;</a:t>
            </a:r>
            <a:r>
              <a:rPr lang="en-US" sz="2400" dirty="0" err="1"/>
              <a:t>img</a:t>
            </a:r>
            <a:r>
              <a:rPr lang="en-US" sz="2400" dirty="0"/>
              <a:t>&gt; tag should also contain the width and height attributes, which specify the width and height of the image (in pixels):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&lt;</a:t>
            </a:r>
            <a:r>
              <a:rPr lang="en-US" sz="2400" dirty="0" err="1"/>
              <a:t>img</a:t>
            </a:r>
            <a:r>
              <a:rPr lang="en-US" sz="2400" dirty="0"/>
              <a:t> </a:t>
            </a:r>
            <a:r>
              <a:rPr lang="en-US" sz="2400" dirty="0" err="1"/>
              <a:t>src</a:t>
            </a:r>
            <a:r>
              <a:rPr lang="en-US" sz="2400" dirty="0"/>
              <a:t>="img_girl.jpg" width="500" height="600"&gt;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783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E0A0-137B-A787-6A9F-60C0065D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DB318-2F8A-18AA-70D0-E6225BF15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style attribute is used to add styles to an element, such as color, font, size, and more.</a:t>
            </a:r>
          </a:p>
          <a:p>
            <a:r>
              <a:rPr lang="en-US" dirty="0"/>
              <a:t>&lt;p style="</a:t>
            </a:r>
            <a:r>
              <a:rPr lang="en-US" dirty="0" err="1"/>
              <a:t>color:red</a:t>
            </a:r>
            <a:r>
              <a:rPr lang="en-US" dirty="0"/>
              <a:t>;"&gt;This is a red paragraph.&lt;/p&gt;</a:t>
            </a:r>
          </a:p>
        </p:txBody>
      </p:sp>
    </p:spTree>
    <p:extLst>
      <p:ext uri="{BB962C8B-B14F-4D97-AF65-F5344CB8AC3E}">
        <p14:creationId xmlns:p14="http://schemas.microsoft.com/office/powerpoint/2010/main" val="298794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456D-811D-4BD5-DC93-2106400E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8B294-D365-736B-3AA7-6848E1FD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dirty="0"/>
              <a:t>Entities Special symbols in HTML.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&lt;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&gt;</a:t>
            </a:r>
            <a:endParaRPr lang="en-US" altLang="en-US" sz="4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&amp;copy;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©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96281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CC19-5DE7-3E0F-29AB-251EA22A5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Container vs. Standalone Tags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797C6-4E94-BB22-21DE-7F1FEE842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Container Tags: </a:t>
            </a:r>
            <a:r>
              <a:rPr lang="en-US" dirty="0"/>
              <a:t>Have opening and closing tags</a:t>
            </a:r>
          </a:p>
          <a:p>
            <a:r>
              <a:rPr lang="en-US" dirty="0"/>
              <a:t>&lt;p&gt;Hello&lt;/p&gt;</a:t>
            </a:r>
          </a:p>
          <a:p>
            <a:r>
              <a:rPr lang="en-US" dirty="0"/>
              <a:t>&lt;h&gt;Hi&lt;h&gt;</a:t>
            </a:r>
          </a:p>
          <a:p>
            <a:r>
              <a:rPr lang="en-US" b="1" dirty="0">
                <a:solidFill>
                  <a:srgbClr val="0D0D0D"/>
                </a:solidFill>
                <a:latin typeface="ui-sans-serif"/>
              </a:rPr>
              <a:t>Standalone (Empty) Tags: 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No closing tags</a:t>
            </a:r>
          </a:p>
          <a:p>
            <a:pPr marL="0" indent="0">
              <a:buNone/>
            </a:pPr>
            <a:r>
              <a:rPr lang="en-US" dirty="0">
                <a:solidFill>
                  <a:srgbClr val="0D0D0D"/>
                </a:solidFill>
                <a:latin typeface="ui-sans-serif"/>
              </a:rPr>
              <a:t>&lt;</a:t>
            </a:r>
            <a:r>
              <a:rPr lang="en-US" dirty="0" err="1">
                <a:solidFill>
                  <a:srgbClr val="0D0D0D"/>
                </a:solidFill>
                <a:latin typeface="ui-sans-serif"/>
              </a:rPr>
              <a:t>br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&gt;    &lt;</a:t>
            </a:r>
            <a:r>
              <a:rPr lang="en-US" dirty="0" err="1">
                <a:solidFill>
                  <a:srgbClr val="0D0D0D"/>
                </a:solidFill>
                <a:latin typeface="ui-sans-serif"/>
              </a:rPr>
              <a:t>img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&gt;      &lt;</a:t>
            </a:r>
            <a:r>
              <a:rPr lang="en-US" dirty="0" err="1">
                <a:solidFill>
                  <a:srgbClr val="0D0D0D"/>
                </a:solidFill>
                <a:latin typeface="ui-sans-serif"/>
              </a:rPr>
              <a:t>hr</a:t>
            </a:r>
            <a:r>
              <a:rPr lang="en-US" dirty="0">
                <a:solidFill>
                  <a:srgbClr val="0D0D0D"/>
                </a:solidFill>
                <a:latin typeface="ui-sans-serif"/>
              </a:rPr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63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DE931-4BDC-A6E7-5F8C-23D302A1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154643"/>
            <a:ext cx="8761413" cy="706964"/>
          </a:xfrm>
        </p:spPr>
        <p:txBody>
          <a:bodyPr/>
          <a:lstStyle/>
          <a:p>
            <a:r>
              <a:rPr lang="en-US" dirty="0"/>
              <a:t>Semantic Tags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3EEFDB-DD06-4886-46DA-C580195429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0629" y="2142607"/>
            <a:ext cx="8761413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Semantic = Meaningful tags</a:t>
            </a:r>
          </a:p>
          <a:p>
            <a:pPr mar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Instead of using only &lt;div&gt;, HTML5 gives meaningful tags: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&lt;header&gt; – Top section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&lt;main&gt; – Main content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&lt;article&gt; – Independent content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&lt;section&gt; – Group of content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&lt;footer&gt; – Bottom section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Semantic tags improve: Readability and  Structure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371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BDFC-BDA8-1A93-0187-5A8828BA4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229" y="1202268"/>
            <a:ext cx="8761413" cy="706964"/>
          </a:xfrm>
        </p:spPr>
        <p:txBody>
          <a:bodyPr/>
          <a:lstStyle/>
          <a:p>
            <a:r>
              <a:rPr lang="en-US" dirty="0"/>
              <a:t>HTML5 for Mobile Devices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09970D2-E5EC-E3D1-0E1F-532CF2CC1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83554" y="2660035"/>
            <a:ext cx="791114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 support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Viewport meta tag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&lt;meta name="viewport" content="width=device-width, initial-scale=1.0"&gt;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Makes website adjust on mobile screens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8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37F0-352E-E379-09A1-5591988A4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854" y="1078443"/>
            <a:ext cx="8761413" cy="706964"/>
          </a:xfrm>
        </p:spPr>
        <p:txBody>
          <a:bodyPr/>
          <a:lstStyle/>
          <a:p>
            <a:r>
              <a:rPr lang="en-US" dirty="0"/>
              <a:t>Accessibility (aria-*)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26B40-3833-4368-6C02-83C093CDF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Accessibility helps:</a:t>
            </a:r>
          </a:p>
          <a:p>
            <a:r>
              <a:rPr lang="en-US" dirty="0"/>
              <a:t>Visually impaired users</a:t>
            </a:r>
          </a:p>
          <a:p>
            <a:r>
              <a:rPr lang="en-US" dirty="0"/>
              <a:t>Screen readers</a:t>
            </a:r>
          </a:p>
          <a:p>
            <a:r>
              <a:rPr lang="en-US" dirty="0"/>
              <a:t>&lt;button aria-label="Close"&gt;X&lt;/button&gt;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aria-label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gives extra description for assistive tools. 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663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6EA5E-A27A-5AED-EAD9-2E5625CE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518" y="677862"/>
            <a:ext cx="8761413" cy="7069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Practical Task : </a:t>
            </a:r>
            <a:br>
              <a:rPr lang="en-US" dirty="0"/>
            </a:br>
            <a:r>
              <a:rPr lang="en-US" sz="1800" dirty="0"/>
              <a:t>create a semantic web page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EFC009-84AA-BD67-731B-C87A7C8041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0104" y="2071092"/>
            <a:ext cx="3093196" cy="4423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using: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&lt;header&gt;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&lt;main&gt;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&lt;section&gt;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&lt;article&gt;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&lt;footer&gt;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Include: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Heading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Paragraph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B3FC8-2E1C-9A19-AB6C-64A234373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29" y="1956902"/>
            <a:ext cx="6572250" cy="542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376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94BC3-E4F2-2E58-4312-76C7B9956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List: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498D5-F5E4-3784-EAA3-3902E2398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 lists allow web developers to group a set of related items in lists.</a:t>
            </a:r>
          </a:p>
          <a:p>
            <a:r>
              <a:rPr lang="en-US" dirty="0"/>
              <a:t>Organize content in a structured way.</a:t>
            </a:r>
          </a:p>
          <a:p>
            <a:r>
              <a:rPr lang="en-US" dirty="0"/>
              <a:t>Can be ordered (numbers) or unordered (bullets).</a:t>
            </a:r>
          </a:p>
          <a:p>
            <a:r>
              <a:rPr lang="en-US" dirty="0"/>
              <a:t>Types of Lists:</a:t>
            </a:r>
          </a:p>
          <a:p>
            <a:pPr>
              <a:buAutoNum type="arabicPeriod"/>
            </a:pPr>
            <a:r>
              <a:rPr lang="en-US" sz="2000" dirty="0"/>
              <a:t>Ordered List</a:t>
            </a:r>
          </a:p>
          <a:p>
            <a:pPr>
              <a:buAutoNum type="arabicPeriod"/>
            </a:pPr>
            <a:r>
              <a:rPr lang="en-US" sz="2000" dirty="0"/>
              <a:t>Unordered List</a:t>
            </a:r>
          </a:p>
          <a:p>
            <a:pPr>
              <a:buAutoNum type="arabicPeriod"/>
            </a:pPr>
            <a:r>
              <a:rPr lang="en-US" sz="2000" dirty="0"/>
              <a:t>Description list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9791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DF06-5E02-82B1-00BD-BBF88CA0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HTML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9138-1E96-63DD-B636-1EDF0471B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unordered list starts with the &lt;</a:t>
            </a:r>
            <a:r>
              <a:rPr lang="en-US" dirty="0" err="1"/>
              <a:t>ul</a:t>
            </a:r>
            <a:r>
              <a:rPr lang="en-US" dirty="0"/>
              <a:t>&gt; tag. Each list item starts with the &lt;li&gt; tag.</a:t>
            </a:r>
          </a:p>
          <a:p>
            <a:endParaRPr lang="en-US" dirty="0"/>
          </a:p>
          <a:p>
            <a:r>
              <a:rPr lang="en-US" dirty="0"/>
              <a:t>The list items will be marked with bullets (small black circles) by default: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80C409-62AE-FF00-8007-7366952B8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531" y="4025164"/>
            <a:ext cx="3267968" cy="2512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A1F32E-D80A-23B9-55F3-171523B84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9" y="4311650"/>
            <a:ext cx="4382494" cy="208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051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DF06-5E02-82B1-00BD-BBF88CA05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HTML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29138-1E96-63DD-B636-1EDF0471B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ordered list starts with the &lt;</a:t>
            </a:r>
            <a:r>
              <a:rPr lang="en-US" dirty="0" err="1"/>
              <a:t>ol</a:t>
            </a:r>
            <a:r>
              <a:rPr lang="en-US" dirty="0"/>
              <a:t>&gt; tag. Each list item starts with the &lt;li&gt; tag.</a:t>
            </a:r>
          </a:p>
          <a:p>
            <a:endParaRPr lang="en-US" dirty="0"/>
          </a:p>
          <a:p>
            <a:r>
              <a:rPr lang="en-US" dirty="0"/>
              <a:t>The list items will be marked with numbers by default: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D2C4F0-1D3C-D2A4-05F5-E1A9FCCAA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112" y="3692795"/>
            <a:ext cx="3781923" cy="32498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26C53-EFAD-20EF-9AA0-BB236DC5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012" y="4260053"/>
            <a:ext cx="4552955" cy="2529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63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0562-ADBE-F183-C1ED-6F1D3C554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Description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72878-5FB5-1C6C-9A73-4B030727E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362863"/>
            <a:ext cx="8825659" cy="21322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HTML also supports description lists.</a:t>
            </a:r>
          </a:p>
          <a:p>
            <a:pPr>
              <a:lnSpc>
                <a:spcPct val="150000"/>
              </a:lnSpc>
            </a:pPr>
            <a:r>
              <a:rPr lang="en-US" dirty="0"/>
              <a:t>A description list is a list of terms, with a description of each term.</a:t>
            </a:r>
          </a:p>
          <a:p>
            <a:pPr>
              <a:lnSpc>
                <a:spcPct val="150000"/>
              </a:lnSpc>
            </a:pPr>
            <a:r>
              <a:rPr lang="en-US" dirty="0"/>
              <a:t>The &lt;dl&gt; tag defines the description list, the &lt;dt&gt; tag defines the term (name), and the &lt;dd&gt; tag describes each term: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EA825-729F-178B-D1E7-D42BB63F3C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22" b="23230"/>
          <a:stretch/>
        </p:blipFill>
        <p:spPr>
          <a:xfrm>
            <a:off x="1027296" y="4495136"/>
            <a:ext cx="4670735" cy="2028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92295E-6552-17B4-6277-2217F2DEB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659" y="4687235"/>
            <a:ext cx="3995611" cy="213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21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D48F4-27E5-D0B9-00D6-F1211AA1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List Tag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126D65-2494-E65F-335F-0BF9582E9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6207"/>
          <a:stretch/>
        </p:blipFill>
        <p:spPr>
          <a:xfrm>
            <a:off x="1016035" y="2524836"/>
            <a:ext cx="8102640" cy="4195475"/>
          </a:xfrm>
        </p:spPr>
      </p:pic>
    </p:spTree>
    <p:extLst>
      <p:ext uri="{BB962C8B-B14F-4D97-AF65-F5344CB8AC3E}">
        <p14:creationId xmlns:p14="http://schemas.microsoft.com/office/powerpoint/2010/main" val="2930310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5D52-AB1B-D836-FE5D-232860E9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626777" cy="706964"/>
          </a:xfrm>
        </p:spPr>
        <p:txBody>
          <a:bodyPr/>
          <a:lstStyle/>
          <a:p>
            <a:r>
              <a:rPr lang="en-US" dirty="0"/>
              <a:t>Text formatting Tags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C0B3CF-DF8E-4715-B181-20679F7E2A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8803277"/>
              </p:ext>
            </p:extLst>
          </p:nvPr>
        </p:nvGraphicFramePr>
        <p:xfrm>
          <a:off x="261582" y="2552129"/>
          <a:ext cx="11680210" cy="4148922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2388410">
                  <a:extLst>
                    <a:ext uri="{9D8B030D-6E8A-4147-A177-3AD203B41FA5}">
                      <a16:colId xmlns:a16="http://schemas.microsoft.com/office/drawing/2014/main" val="1924930721"/>
                    </a:ext>
                  </a:extLst>
                </a:gridCol>
                <a:gridCol w="1898887">
                  <a:extLst>
                    <a:ext uri="{9D8B030D-6E8A-4147-A177-3AD203B41FA5}">
                      <a16:colId xmlns:a16="http://schemas.microsoft.com/office/drawing/2014/main" val="1263269620"/>
                    </a:ext>
                  </a:extLst>
                </a:gridCol>
                <a:gridCol w="4523128">
                  <a:extLst>
                    <a:ext uri="{9D8B030D-6E8A-4147-A177-3AD203B41FA5}">
                      <a16:colId xmlns:a16="http://schemas.microsoft.com/office/drawing/2014/main" val="2069607120"/>
                    </a:ext>
                  </a:extLst>
                </a:gridCol>
                <a:gridCol w="2869785">
                  <a:extLst>
                    <a:ext uri="{9D8B030D-6E8A-4147-A177-3AD203B41FA5}">
                      <a16:colId xmlns:a16="http://schemas.microsoft.com/office/drawing/2014/main" val="2314782396"/>
                    </a:ext>
                  </a:extLst>
                </a:gridCol>
              </a:tblGrid>
              <a:tr h="677624">
                <a:tc>
                  <a:txBody>
                    <a:bodyPr/>
                    <a:lstStyle/>
                    <a:p>
                      <a:r>
                        <a:rPr lang="en-US" sz="1600" dirty="0"/>
                        <a:t>Formatting Type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Tag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Description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Example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2366365292"/>
                  </a:ext>
                </a:extLst>
              </a:tr>
              <a:tr h="677624">
                <a:tc>
                  <a:txBody>
                    <a:bodyPr/>
                    <a:lstStyle/>
                    <a:p>
                      <a:r>
                        <a:rPr lang="en-US" sz="1600" b="1" dirty="0"/>
                        <a:t>Bold</a:t>
                      </a:r>
                      <a:endParaRPr lang="en-US" sz="16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&lt;b&gt;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Makes text bold (visual purpose only).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&lt;b&gt;Bold Text&lt;/b&gt;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549110943"/>
                  </a:ext>
                </a:extLst>
              </a:tr>
              <a:tr h="733444">
                <a:tc>
                  <a:txBody>
                    <a:bodyPr/>
                    <a:lstStyle/>
                    <a:p>
                      <a:r>
                        <a:rPr lang="en-US" sz="1600" b="1" dirty="0"/>
                        <a:t>Strong</a:t>
                      </a:r>
                      <a:endParaRPr lang="en-US" sz="16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&lt;strong&gt;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Shows important text (semantic meaning + bold).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&lt;strong&gt;Important&lt;/strong&gt;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2837991013"/>
                  </a:ext>
                </a:extLst>
              </a:tr>
              <a:tr h="352491">
                <a:tc>
                  <a:txBody>
                    <a:bodyPr/>
                    <a:lstStyle/>
                    <a:p>
                      <a:r>
                        <a:rPr lang="en-US" sz="1600" b="1" dirty="0"/>
                        <a:t>Italic</a:t>
                      </a:r>
                      <a:endParaRPr lang="en-US" sz="16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i</a:t>
                      </a:r>
                      <a:r>
                        <a:rPr lang="en-US" sz="1600" dirty="0"/>
                        <a:t>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Makes text italic (visual purpose).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&lt;i&gt;Italic&lt;/i&gt;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2956568960"/>
                  </a:ext>
                </a:extLst>
              </a:tr>
              <a:tr h="677624">
                <a:tc>
                  <a:txBody>
                    <a:bodyPr/>
                    <a:lstStyle/>
                    <a:p>
                      <a:r>
                        <a:rPr lang="en-US" sz="1600" b="1" dirty="0"/>
                        <a:t>Emphasis</a:t>
                      </a:r>
                      <a:endParaRPr lang="en-US" sz="16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</a:t>
                      </a:r>
                      <a:r>
                        <a:rPr lang="en-US" sz="1600" dirty="0" err="1"/>
                        <a:t>em</a:t>
                      </a:r>
                      <a:r>
                        <a:rPr lang="en-US" sz="1600" dirty="0"/>
                        <a:t>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Emphasizes text (semantic meaning + italic).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&lt;em&gt;Important Word&lt;/em&gt;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447746806"/>
                  </a:ext>
                </a:extLst>
              </a:tr>
              <a:tr h="352491">
                <a:tc>
                  <a:txBody>
                    <a:bodyPr/>
                    <a:lstStyle/>
                    <a:p>
                      <a:r>
                        <a:rPr lang="en-US" sz="1600" b="1" dirty="0"/>
                        <a:t>Underline</a:t>
                      </a:r>
                      <a:endParaRPr lang="en-US" sz="16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&lt;u&gt;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Underlines the text.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&lt;u&gt;Underlined&lt;/u&gt;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1935594457"/>
                  </a:ext>
                </a:extLst>
              </a:tr>
              <a:tr h="677624">
                <a:tc>
                  <a:txBody>
                    <a:bodyPr/>
                    <a:lstStyle/>
                    <a:p>
                      <a:r>
                        <a:rPr lang="en-US" sz="1600" b="1" dirty="0"/>
                        <a:t>Highlight</a:t>
                      </a:r>
                      <a:endParaRPr lang="en-US" sz="16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&lt;mark&gt;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Highlights text with yellow background.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&lt;mark&gt;Highlighted&lt;/mark&gt;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3750715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557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5E9A-6437-5CA5-6D88-F5E21EFC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formatting Tags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7A8C44-73FD-A8A1-36CC-4437C4D616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907104"/>
              </p:ext>
            </p:extLst>
          </p:nvPr>
        </p:nvGraphicFramePr>
        <p:xfrm>
          <a:off x="373038" y="2318315"/>
          <a:ext cx="11254854" cy="429036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51002">
                  <a:extLst>
                    <a:ext uri="{9D8B030D-6E8A-4147-A177-3AD203B41FA5}">
                      <a16:colId xmlns:a16="http://schemas.microsoft.com/office/drawing/2014/main" val="529113374"/>
                    </a:ext>
                  </a:extLst>
                </a:gridCol>
                <a:gridCol w="1922944">
                  <a:extLst>
                    <a:ext uri="{9D8B030D-6E8A-4147-A177-3AD203B41FA5}">
                      <a16:colId xmlns:a16="http://schemas.microsoft.com/office/drawing/2014/main" val="3451274833"/>
                    </a:ext>
                  </a:extLst>
                </a:gridCol>
                <a:gridCol w="4015632">
                  <a:extLst>
                    <a:ext uri="{9D8B030D-6E8A-4147-A177-3AD203B41FA5}">
                      <a16:colId xmlns:a16="http://schemas.microsoft.com/office/drawing/2014/main" val="2763095962"/>
                    </a:ext>
                  </a:extLst>
                </a:gridCol>
                <a:gridCol w="2765276">
                  <a:extLst>
                    <a:ext uri="{9D8B030D-6E8A-4147-A177-3AD203B41FA5}">
                      <a16:colId xmlns:a16="http://schemas.microsoft.com/office/drawing/2014/main" val="245402315"/>
                    </a:ext>
                  </a:extLst>
                </a:gridCol>
              </a:tblGrid>
              <a:tr h="562726">
                <a:tc>
                  <a:txBody>
                    <a:bodyPr/>
                    <a:lstStyle/>
                    <a:p>
                      <a:r>
                        <a:rPr lang="en-US" sz="1500" dirty="0"/>
                        <a:t>Formatting Type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Tag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Description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Example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682499559"/>
                  </a:ext>
                </a:extLst>
              </a:tr>
              <a:tr h="562726">
                <a:tc>
                  <a:txBody>
                    <a:bodyPr/>
                    <a:lstStyle/>
                    <a:p>
                      <a:r>
                        <a:rPr lang="en-US" sz="1500" b="1" dirty="0"/>
                        <a:t>Deleted Text</a:t>
                      </a:r>
                      <a:endParaRPr lang="en-US" sz="15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&lt;del&gt;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Shows deleted or removed text (strikethrough).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&lt;del&gt;Old Price&lt;/del&gt;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3253663302"/>
                  </a:ext>
                </a:extLst>
              </a:tr>
              <a:tr h="680979">
                <a:tc>
                  <a:txBody>
                    <a:bodyPr/>
                    <a:lstStyle/>
                    <a:p>
                      <a:r>
                        <a:rPr lang="en-US" sz="1500" b="1" dirty="0"/>
                        <a:t>Inserted Text</a:t>
                      </a:r>
                      <a:endParaRPr lang="en-US" sz="15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&lt;ins&gt;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Shows newly added text (usually underlined).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&lt;ins&gt;New Text&lt;/ins&gt;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1028634460"/>
                  </a:ext>
                </a:extLst>
              </a:tr>
              <a:tr h="680979">
                <a:tc>
                  <a:txBody>
                    <a:bodyPr/>
                    <a:lstStyle/>
                    <a:p>
                      <a:r>
                        <a:rPr lang="en-US" sz="1500" b="1" dirty="0"/>
                        <a:t>Subscript</a:t>
                      </a:r>
                      <a:endParaRPr lang="en-US" sz="15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&lt;sub&gt;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Text below normal line (chemistry formulas).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pt-BR" sz="1500" dirty="0"/>
                        <a:t>H&lt;sub&gt;2&lt;/sub&gt;O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1266291419"/>
                  </a:ext>
                </a:extLst>
              </a:tr>
              <a:tr h="522721">
                <a:tc>
                  <a:txBody>
                    <a:bodyPr/>
                    <a:lstStyle/>
                    <a:p>
                      <a:r>
                        <a:rPr lang="en-US" sz="1500" b="1" dirty="0"/>
                        <a:t>Superscript</a:t>
                      </a:r>
                      <a:endParaRPr lang="en-US" sz="15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&lt;sup&gt;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Text above normal line (math powers).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x&lt;sup&gt;2&lt;/sup&gt;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328673742"/>
                  </a:ext>
                </a:extLst>
              </a:tr>
              <a:tr h="757517">
                <a:tc>
                  <a:txBody>
                    <a:bodyPr/>
                    <a:lstStyle/>
                    <a:p>
                      <a:r>
                        <a:rPr lang="en-US" sz="1500" b="1" dirty="0"/>
                        <a:t>Block Quote</a:t>
                      </a:r>
                      <a:endParaRPr lang="en-US" sz="15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&lt;blockquote&gt;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For long quotations.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&lt;blockquote&gt;Long quote&lt;/blockquote&gt;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2662077495"/>
                  </a:ext>
                </a:extLst>
              </a:tr>
              <a:tr h="522721">
                <a:tc>
                  <a:txBody>
                    <a:bodyPr/>
                    <a:lstStyle/>
                    <a:p>
                      <a:r>
                        <a:rPr lang="en-US" sz="1500" b="1" dirty="0"/>
                        <a:t>Preformatted</a:t>
                      </a:r>
                      <a:endParaRPr lang="en-US" sz="1500" dirty="0"/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&lt;pre&gt;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Keeps spaces and line breaks as written.</a:t>
                      </a:r>
                    </a:p>
                  </a:txBody>
                  <a:tcPr marL="23083" marR="23083" marT="11542" marB="11542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&lt;pre&gt;Formatted text&lt;/pre&gt;</a:t>
                      </a:r>
                    </a:p>
                  </a:txBody>
                  <a:tcPr marL="23083" marR="23083" marT="11542" marB="11542" anchor="ctr"/>
                </a:tc>
                <a:extLst>
                  <a:ext uri="{0D108BD9-81ED-4DB2-BD59-A6C34878D82A}">
                    <a16:rowId xmlns:a16="http://schemas.microsoft.com/office/drawing/2014/main" val="777384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553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D5C29-CE90-CC78-7285-177EAC7E1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6E624-AF89-C252-41A4-E07CBB809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861" y="2439726"/>
            <a:ext cx="10868724" cy="23369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Create an HTML page using headings and one paragraph about yourself. Use at least 5 text formatting tags (bold, italic, underline, mark, sub, sup).Add one unordered list (with type attribute) and one ordered list (with type or start attribute)add your favorite website link.</a:t>
            </a:r>
          </a:p>
        </p:txBody>
      </p:sp>
    </p:spTree>
    <p:extLst>
      <p:ext uri="{BB962C8B-B14F-4D97-AF65-F5344CB8AC3E}">
        <p14:creationId xmlns:p14="http://schemas.microsoft.com/office/powerpoint/2010/main" val="113902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7DB3-D2C6-2ED2-1786-A1294EA47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AE9F-3147-63AD-D08B-EE42B897C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44577-2ED1-F5D2-9F4C-673A4E6D2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368" y="0"/>
            <a:ext cx="13473628" cy="796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5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128</TotalTime>
  <Words>1201</Words>
  <Application>Microsoft Office PowerPoint</Application>
  <PresentationFormat>Widescreen</PresentationFormat>
  <Paragraphs>166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Arial Unicode MS</vt:lpstr>
      <vt:lpstr>Century Gothic</vt:lpstr>
      <vt:lpstr>ui-sans-serif</vt:lpstr>
      <vt:lpstr>Wingdings 3</vt:lpstr>
      <vt:lpstr>Ion Boardroom</vt:lpstr>
      <vt:lpstr>HTML5 Essentials &amp; Semantic Markup </vt:lpstr>
      <vt:lpstr>What is HTML5?</vt:lpstr>
      <vt:lpstr>Data Types, Attributes &amp; Entities </vt:lpstr>
      <vt:lpstr>HTML Attributes</vt:lpstr>
      <vt:lpstr>Hyperlink</vt:lpstr>
      <vt:lpstr>Image tag with Attributes</vt:lpstr>
      <vt:lpstr>SRC Attribute</vt:lpstr>
      <vt:lpstr>Image tag with Attributes</vt:lpstr>
      <vt:lpstr>style Attribute</vt:lpstr>
      <vt:lpstr>Entities</vt:lpstr>
      <vt:lpstr>Container vs. Standalone Tags </vt:lpstr>
      <vt:lpstr>Semantic Tags</vt:lpstr>
      <vt:lpstr>HTML5 for Mobile Devices</vt:lpstr>
      <vt:lpstr>Accessibility (aria-*)</vt:lpstr>
      <vt:lpstr>Practical Task :  create a semantic web page</vt:lpstr>
      <vt:lpstr>HTML List:</vt:lpstr>
      <vt:lpstr>Unordered HTML List</vt:lpstr>
      <vt:lpstr>Ordered HTML List</vt:lpstr>
      <vt:lpstr>HTML Description Lists</vt:lpstr>
      <vt:lpstr>HTML List Tag</vt:lpstr>
      <vt:lpstr>Text formatting Tags</vt:lpstr>
      <vt:lpstr>Text formatting Tags</vt:lpstr>
      <vt:lpstr>Practical Task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34</cp:revision>
  <dcterms:created xsi:type="dcterms:W3CDTF">2026-02-17T10:40:05Z</dcterms:created>
  <dcterms:modified xsi:type="dcterms:W3CDTF">2026-02-17T15:32:21Z</dcterms:modified>
</cp:coreProperties>
</file>