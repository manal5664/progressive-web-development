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61" r:id="rId6"/>
    <p:sldId id="262" r:id="rId7"/>
    <p:sldId id="263" r:id="rId8"/>
    <p:sldId id="264" r:id="rId9"/>
    <p:sldId id="265" r:id="rId10"/>
    <p:sldId id="266" r:id="rId11"/>
    <p:sldId id="269" r:id="rId12"/>
    <p:sldId id="259" r:id="rId13"/>
    <p:sldId id="270" r:id="rId14"/>
    <p:sldId id="271" r:id="rId15"/>
    <p:sldId id="272" r:id="rId16"/>
    <p:sldId id="273" r:id="rId17"/>
    <p:sldId id="274" r:id="rId18"/>
    <p:sldId id="275" r:id="rId19"/>
    <p:sldId id="276" r:id="rId20"/>
    <p:sldId id="277"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69" autoAdjust="0"/>
    <p:restoredTop sz="94660"/>
  </p:normalViewPr>
  <p:slideViewPr>
    <p:cSldViewPr snapToGrid="0">
      <p:cViewPr varScale="1">
        <p:scale>
          <a:sx n="87" d="100"/>
          <a:sy n="87" d="100"/>
        </p:scale>
        <p:origin x="24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84CACDA-BED2-42A3-9B47-74015A3D5169}"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EC347C-513B-4FE5-9121-4C0648CCE1D2}" type="slidenum">
              <a:rPr lang="en-US" smtClean="0"/>
              <a:t>‹#›</a:t>
            </a:fld>
            <a:endParaRPr lang="en-US"/>
          </a:p>
        </p:txBody>
      </p:sp>
    </p:spTree>
    <p:extLst>
      <p:ext uri="{BB962C8B-B14F-4D97-AF65-F5344CB8AC3E}">
        <p14:creationId xmlns:p14="http://schemas.microsoft.com/office/powerpoint/2010/main" val="4010547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B84CACDA-BED2-42A3-9B47-74015A3D5169}"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EC347C-513B-4FE5-9121-4C0648CCE1D2}" type="slidenum">
              <a:rPr lang="en-US" smtClean="0"/>
              <a:t>‹#›</a:t>
            </a:fld>
            <a:endParaRPr lang="en-US"/>
          </a:p>
        </p:txBody>
      </p:sp>
    </p:spTree>
    <p:extLst>
      <p:ext uri="{BB962C8B-B14F-4D97-AF65-F5344CB8AC3E}">
        <p14:creationId xmlns:p14="http://schemas.microsoft.com/office/powerpoint/2010/main" val="650074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4CACDA-BED2-42A3-9B47-74015A3D5169}"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EC347C-513B-4FE5-9121-4C0648CCE1D2}" type="slidenum">
              <a:rPr lang="en-US" smtClean="0"/>
              <a:t>‹#›</a:t>
            </a:fld>
            <a:endParaRPr lang="en-US"/>
          </a:p>
        </p:txBody>
      </p:sp>
    </p:spTree>
    <p:extLst>
      <p:ext uri="{BB962C8B-B14F-4D97-AF65-F5344CB8AC3E}">
        <p14:creationId xmlns:p14="http://schemas.microsoft.com/office/powerpoint/2010/main" val="15516889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84CACDA-BED2-42A3-9B47-74015A3D5169}"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EC347C-513B-4FE5-9121-4C0648CCE1D2}" type="slidenum">
              <a:rPr lang="en-US" smtClean="0"/>
              <a:t>‹#›</a:t>
            </a:fld>
            <a:endParaRPr lang="en-US"/>
          </a:p>
        </p:txBody>
      </p:sp>
    </p:spTree>
    <p:extLst>
      <p:ext uri="{BB962C8B-B14F-4D97-AF65-F5344CB8AC3E}">
        <p14:creationId xmlns:p14="http://schemas.microsoft.com/office/powerpoint/2010/main" val="32902588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84CACDA-BED2-42A3-9B47-74015A3D5169}" type="datetimeFigureOut">
              <a:rPr lang="en-US" smtClean="0"/>
              <a:t>2/18/2026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1EC347C-513B-4FE5-9121-4C0648CCE1D2}" type="slidenum">
              <a:rPr lang="en-US" smtClean="0"/>
              <a:t>‹#›</a:t>
            </a:fld>
            <a:endParaRPr lang="en-US"/>
          </a:p>
        </p:txBody>
      </p:sp>
    </p:spTree>
    <p:extLst>
      <p:ext uri="{BB962C8B-B14F-4D97-AF65-F5344CB8AC3E}">
        <p14:creationId xmlns:p14="http://schemas.microsoft.com/office/powerpoint/2010/main" val="3295839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B84CACDA-BED2-42A3-9B47-74015A3D5169}" type="datetimeFigureOut">
              <a:rPr lang="en-US" smtClean="0"/>
              <a:t>2/18/2026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81EC347C-513B-4FE5-9121-4C0648CCE1D2}" type="slidenum">
              <a:rPr lang="en-US" smtClean="0"/>
              <a:t>‹#›</a:t>
            </a:fld>
            <a:endParaRPr lang="en-US"/>
          </a:p>
        </p:txBody>
      </p:sp>
    </p:spTree>
    <p:extLst>
      <p:ext uri="{BB962C8B-B14F-4D97-AF65-F5344CB8AC3E}">
        <p14:creationId xmlns:p14="http://schemas.microsoft.com/office/powerpoint/2010/main" val="1637953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84CACDA-BED2-42A3-9B47-74015A3D5169}" type="datetimeFigureOut">
              <a:rPr lang="en-US" smtClean="0"/>
              <a:t>2/18/2026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81EC347C-513B-4FE5-9121-4C0648CCE1D2}" type="slidenum">
              <a:rPr lang="en-US" smtClean="0"/>
              <a:t>‹#›</a:t>
            </a:fld>
            <a:endParaRPr lang="en-US"/>
          </a:p>
        </p:txBody>
      </p:sp>
    </p:spTree>
    <p:extLst>
      <p:ext uri="{BB962C8B-B14F-4D97-AF65-F5344CB8AC3E}">
        <p14:creationId xmlns:p14="http://schemas.microsoft.com/office/powerpoint/2010/main" val="25229814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B84CACDA-BED2-42A3-9B47-74015A3D5169}" type="datetimeFigureOut">
              <a:rPr lang="en-US" smtClean="0"/>
              <a:t>2/18/2026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81EC347C-513B-4FE5-9121-4C0648CCE1D2}" type="slidenum">
              <a:rPr lang="en-US" smtClean="0"/>
              <a:t>‹#›</a:t>
            </a:fld>
            <a:endParaRPr lang="en-US"/>
          </a:p>
        </p:txBody>
      </p:sp>
    </p:spTree>
    <p:extLst>
      <p:ext uri="{BB962C8B-B14F-4D97-AF65-F5344CB8AC3E}">
        <p14:creationId xmlns:p14="http://schemas.microsoft.com/office/powerpoint/2010/main" val="2843022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4CACDA-BED2-42A3-9B47-74015A3D5169}"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EC347C-513B-4FE5-9121-4C0648CCE1D2}" type="slidenum">
              <a:rPr lang="en-US" smtClean="0"/>
              <a:t>‹#›</a:t>
            </a:fld>
            <a:endParaRPr lang="en-US"/>
          </a:p>
        </p:txBody>
      </p:sp>
    </p:spTree>
    <p:extLst>
      <p:ext uri="{BB962C8B-B14F-4D97-AF65-F5344CB8AC3E}">
        <p14:creationId xmlns:p14="http://schemas.microsoft.com/office/powerpoint/2010/main" val="2931809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4CACDA-BED2-42A3-9B47-74015A3D5169}"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EC347C-513B-4FE5-9121-4C0648CCE1D2}" type="slidenum">
              <a:rPr lang="en-US" smtClean="0"/>
              <a:t>‹#›</a:t>
            </a:fld>
            <a:endParaRPr lang="en-US"/>
          </a:p>
        </p:txBody>
      </p:sp>
    </p:spTree>
    <p:extLst>
      <p:ext uri="{BB962C8B-B14F-4D97-AF65-F5344CB8AC3E}">
        <p14:creationId xmlns:p14="http://schemas.microsoft.com/office/powerpoint/2010/main" val="551329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84CACDA-BED2-42A3-9B47-74015A3D5169}"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EC347C-513B-4FE5-9121-4C0648CCE1D2}" type="slidenum">
              <a:rPr lang="en-US" smtClean="0"/>
              <a:t>‹#›</a:t>
            </a:fld>
            <a:endParaRPr lang="en-US"/>
          </a:p>
        </p:txBody>
      </p:sp>
    </p:spTree>
    <p:extLst>
      <p:ext uri="{BB962C8B-B14F-4D97-AF65-F5344CB8AC3E}">
        <p14:creationId xmlns:p14="http://schemas.microsoft.com/office/powerpoint/2010/main" val="32732113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84CACDA-BED2-42A3-9B47-74015A3D5169}"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EC347C-513B-4FE5-9121-4C0648CCE1D2}"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1741638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4CACDA-BED2-42A3-9B47-74015A3D5169}"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EC347C-513B-4FE5-9121-4C0648CCE1D2}" type="slidenum">
              <a:rPr lang="en-US" smtClean="0"/>
              <a:t>‹#›</a:t>
            </a:fld>
            <a:endParaRPr lang="en-US"/>
          </a:p>
        </p:txBody>
      </p:sp>
    </p:spTree>
    <p:extLst>
      <p:ext uri="{BB962C8B-B14F-4D97-AF65-F5344CB8AC3E}">
        <p14:creationId xmlns:p14="http://schemas.microsoft.com/office/powerpoint/2010/main" val="936711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84CACDA-BED2-42A3-9B47-74015A3D5169}" type="datetimeFigureOut">
              <a:rPr lang="en-US" smtClean="0"/>
              <a:t>2/18/2026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EC347C-513B-4FE5-9121-4C0648CCE1D2}" type="slidenum">
              <a:rPr lang="en-US" smtClean="0"/>
              <a:t>‹#›</a:t>
            </a:fld>
            <a:endParaRPr lang="en-US"/>
          </a:p>
        </p:txBody>
      </p:sp>
    </p:spTree>
    <p:extLst>
      <p:ext uri="{BB962C8B-B14F-4D97-AF65-F5344CB8AC3E}">
        <p14:creationId xmlns:p14="http://schemas.microsoft.com/office/powerpoint/2010/main" val="19353222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84CACDA-BED2-42A3-9B47-74015A3D5169}" type="datetimeFigureOut">
              <a:rPr lang="en-US" smtClean="0"/>
              <a:t>2/18/2026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EC347C-513B-4FE5-9121-4C0648CCE1D2}" type="slidenum">
              <a:rPr lang="en-US" smtClean="0"/>
              <a:t>‹#›</a:t>
            </a:fld>
            <a:endParaRPr lang="en-US"/>
          </a:p>
        </p:txBody>
      </p:sp>
    </p:spTree>
    <p:extLst>
      <p:ext uri="{BB962C8B-B14F-4D97-AF65-F5344CB8AC3E}">
        <p14:creationId xmlns:p14="http://schemas.microsoft.com/office/powerpoint/2010/main" val="30983373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4CACDA-BED2-42A3-9B47-74015A3D5169}"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EC347C-513B-4FE5-9121-4C0648CCE1D2}" type="slidenum">
              <a:rPr lang="en-US" smtClean="0"/>
              <a:t>‹#›</a:t>
            </a:fld>
            <a:endParaRPr lang="en-US"/>
          </a:p>
        </p:txBody>
      </p:sp>
    </p:spTree>
    <p:extLst>
      <p:ext uri="{BB962C8B-B14F-4D97-AF65-F5344CB8AC3E}">
        <p14:creationId xmlns:p14="http://schemas.microsoft.com/office/powerpoint/2010/main" val="20774726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4CACDA-BED2-42A3-9B47-74015A3D5169}"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EC347C-513B-4FE5-9121-4C0648CCE1D2}" type="slidenum">
              <a:rPr lang="en-US" smtClean="0"/>
              <a:t>‹#›</a:t>
            </a:fld>
            <a:endParaRPr lang="en-US"/>
          </a:p>
        </p:txBody>
      </p:sp>
    </p:spTree>
    <p:extLst>
      <p:ext uri="{BB962C8B-B14F-4D97-AF65-F5344CB8AC3E}">
        <p14:creationId xmlns:p14="http://schemas.microsoft.com/office/powerpoint/2010/main" val="517295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84CACDA-BED2-42A3-9B47-74015A3D5169}" type="datetimeFigureOut">
              <a:rPr lang="en-US" smtClean="0"/>
              <a:t>2/18/2026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81EC347C-513B-4FE5-9121-4C0648CCE1D2}" type="slidenum">
              <a:rPr lang="en-US" smtClean="0"/>
              <a:t>‹#›</a:t>
            </a:fld>
            <a:endParaRPr lang="en-US"/>
          </a:p>
        </p:txBody>
      </p:sp>
    </p:spTree>
    <p:extLst>
      <p:ext uri="{BB962C8B-B14F-4D97-AF65-F5344CB8AC3E}">
        <p14:creationId xmlns:p14="http://schemas.microsoft.com/office/powerpoint/2010/main" val="193740482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1EC8A-357F-6CF2-1917-724A4BD5F00B}"/>
              </a:ext>
            </a:extLst>
          </p:cNvPr>
          <p:cNvSpPr>
            <a:spLocks noGrp="1"/>
          </p:cNvSpPr>
          <p:nvPr>
            <p:ph type="ctrTitle"/>
          </p:nvPr>
        </p:nvSpPr>
        <p:spPr/>
        <p:txBody>
          <a:bodyPr/>
          <a:lstStyle/>
          <a:p>
            <a:r>
              <a:rPr lang="en-US" dirty="0"/>
              <a:t>HTML Styles</a:t>
            </a:r>
          </a:p>
        </p:txBody>
      </p:sp>
      <p:sp>
        <p:nvSpPr>
          <p:cNvPr id="3" name="Subtitle 2">
            <a:extLst>
              <a:ext uri="{FF2B5EF4-FFF2-40B4-BE49-F238E27FC236}">
                <a16:creationId xmlns:a16="http://schemas.microsoft.com/office/drawing/2014/main" id="{8E09E98B-F702-B922-B19E-0189597A7737}"/>
              </a:ext>
            </a:extLst>
          </p:cNvPr>
          <p:cNvSpPr>
            <a:spLocks noGrp="1"/>
          </p:cNvSpPr>
          <p:nvPr>
            <p:ph type="subTitle" idx="1"/>
          </p:nvPr>
        </p:nvSpPr>
        <p:spPr/>
        <p:txBody>
          <a:bodyPr/>
          <a:lstStyle/>
          <a:p>
            <a:r>
              <a:rPr lang="en-US" dirty="0"/>
              <a:t>Presented by: </a:t>
            </a:r>
            <a:r>
              <a:rPr lang="en-US" dirty="0" err="1"/>
              <a:t>MANal</a:t>
            </a:r>
            <a:r>
              <a:rPr lang="en-US" dirty="0"/>
              <a:t> Asghar</a:t>
            </a:r>
          </a:p>
        </p:txBody>
      </p:sp>
    </p:spTree>
    <p:extLst>
      <p:ext uri="{BB962C8B-B14F-4D97-AF65-F5344CB8AC3E}">
        <p14:creationId xmlns:p14="http://schemas.microsoft.com/office/powerpoint/2010/main" val="233123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73A19-97A8-8420-7695-81678F2AD898}"/>
              </a:ext>
            </a:extLst>
          </p:cNvPr>
          <p:cNvSpPr>
            <a:spLocks noGrp="1"/>
          </p:cNvSpPr>
          <p:nvPr>
            <p:ph type="title"/>
          </p:nvPr>
        </p:nvSpPr>
        <p:spPr/>
        <p:txBody>
          <a:bodyPr/>
          <a:lstStyle/>
          <a:p>
            <a:r>
              <a:rPr lang="en-US" dirty="0"/>
              <a:t>HTML Styles</a:t>
            </a:r>
          </a:p>
        </p:txBody>
      </p:sp>
      <p:sp>
        <p:nvSpPr>
          <p:cNvPr id="3" name="Content Placeholder 2">
            <a:extLst>
              <a:ext uri="{FF2B5EF4-FFF2-40B4-BE49-F238E27FC236}">
                <a16:creationId xmlns:a16="http://schemas.microsoft.com/office/drawing/2014/main" id="{7064816C-F33A-22CC-7433-5DA82D846E14}"/>
              </a:ext>
            </a:extLst>
          </p:cNvPr>
          <p:cNvSpPr>
            <a:spLocks noGrp="1"/>
          </p:cNvSpPr>
          <p:nvPr>
            <p:ph idx="1"/>
          </p:nvPr>
        </p:nvSpPr>
        <p:spPr/>
        <p:txBody>
          <a:bodyPr/>
          <a:lstStyle/>
          <a:p>
            <a:r>
              <a:rPr lang="en-US" dirty="0"/>
              <a:t>The HTML style attribute is used to add styles to an element, such as color, font, size, and more.</a:t>
            </a:r>
          </a:p>
          <a:p>
            <a:endParaRPr lang="en-US" dirty="0"/>
          </a:p>
        </p:txBody>
      </p:sp>
      <p:pic>
        <p:nvPicPr>
          <p:cNvPr id="5" name="Picture 4">
            <a:extLst>
              <a:ext uri="{FF2B5EF4-FFF2-40B4-BE49-F238E27FC236}">
                <a16:creationId xmlns:a16="http://schemas.microsoft.com/office/drawing/2014/main" id="{E21F2B2B-2D6A-ED24-C325-B9AD1DC160A0}"/>
              </a:ext>
            </a:extLst>
          </p:cNvPr>
          <p:cNvPicPr>
            <a:picLocks noChangeAspect="1"/>
          </p:cNvPicPr>
          <p:nvPr/>
        </p:nvPicPr>
        <p:blipFill>
          <a:blip r:embed="rId2"/>
          <a:stretch>
            <a:fillRect/>
          </a:stretch>
        </p:blipFill>
        <p:spPr>
          <a:xfrm>
            <a:off x="1103312" y="2924174"/>
            <a:ext cx="9972675" cy="3324225"/>
          </a:xfrm>
          <a:prstGeom prst="rect">
            <a:avLst/>
          </a:prstGeom>
        </p:spPr>
      </p:pic>
    </p:spTree>
    <p:extLst>
      <p:ext uri="{BB962C8B-B14F-4D97-AF65-F5344CB8AC3E}">
        <p14:creationId xmlns:p14="http://schemas.microsoft.com/office/powerpoint/2010/main" val="40638050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CE685-4BE9-D2BF-5BCA-7671496C95E3}"/>
              </a:ext>
            </a:extLst>
          </p:cNvPr>
          <p:cNvSpPr>
            <a:spLocks noGrp="1"/>
          </p:cNvSpPr>
          <p:nvPr>
            <p:ph type="title"/>
          </p:nvPr>
        </p:nvSpPr>
        <p:spPr/>
        <p:txBody>
          <a:bodyPr/>
          <a:lstStyle/>
          <a:p>
            <a:r>
              <a:rPr lang="en-US" dirty="0"/>
              <a:t>Background Color</a:t>
            </a:r>
          </a:p>
        </p:txBody>
      </p:sp>
      <p:sp>
        <p:nvSpPr>
          <p:cNvPr id="3" name="Content Placeholder 2">
            <a:extLst>
              <a:ext uri="{FF2B5EF4-FFF2-40B4-BE49-F238E27FC236}">
                <a16:creationId xmlns:a16="http://schemas.microsoft.com/office/drawing/2014/main" id="{E3E87EAF-9E11-9619-B1CE-5F1BB78BEF8F}"/>
              </a:ext>
            </a:extLst>
          </p:cNvPr>
          <p:cNvSpPr>
            <a:spLocks noGrp="1"/>
          </p:cNvSpPr>
          <p:nvPr>
            <p:ph idx="1"/>
          </p:nvPr>
        </p:nvSpPr>
        <p:spPr/>
        <p:txBody>
          <a:bodyPr/>
          <a:lstStyle/>
          <a:p>
            <a:r>
              <a:rPr lang="en-US" dirty="0"/>
              <a:t>The CSS background-color property defines the background color for an HTML element.</a:t>
            </a:r>
          </a:p>
        </p:txBody>
      </p:sp>
      <p:pic>
        <p:nvPicPr>
          <p:cNvPr id="5" name="Picture 4">
            <a:extLst>
              <a:ext uri="{FF2B5EF4-FFF2-40B4-BE49-F238E27FC236}">
                <a16:creationId xmlns:a16="http://schemas.microsoft.com/office/drawing/2014/main" id="{8FCB18A7-86DE-FBB5-D4C2-4CB61BB831EE}"/>
              </a:ext>
            </a:extLst>
          </p:cNvPr>
          <p:cNvPicPr>
            <a:picLocks noChangeAspect="1"/>
          </p:cNvPicPr>
          <p:nvPr/>
        </p:nvPicPr>
        <p:blipFill>
          <a:blip r:embed="rId2"/>
          <a:stretch>
            <a:fillRect/>
          </a:stretch>
        </p:blipFill>
        <p:spPr>
          <a:xfrm>
            <a:off x="1166507" y="2902883"/>
            <a:ext cx="4410075" cy="2495550"/>
          </a:xfrm>
          <a:prstGeom prst="rect">
            <a:avLst/>
          </a:prstGeom>
        </p:spPr>
      </p:pic>
      <p:pic>
        <p:nvPicPr>
          <p:cNvPr id="7" name="Picture 6">
            <a:extLst>
              <a:ext uri="{FF2B5EF4-FFF2-40B4-BE49-F238E27FC236}">
                <a16:creationId xmlns:a16="http://schemas.microsoft.com/office/drawing/2014/main" id="{F73ADC34-ADF0-0970-2B73-C3B580FD5FFD}"/>
              </a:ext>
            </a:extLst>
          </p:cNvPr>
          <p:cNvPicPr>
            <a:picLocks noChangeAspect="1"/>
          </p:cNvPicPr>
          <p:nvPr/>
        </p:nvPicPr>
        <p:blipFill>
          <a:blip r:embed="rId3"/>
          <a:stretch>
            <a:fillRect/>
          </a:stretch>
        </p:blipFill>
        <p:spPr>
          <a:xfrm>
            <a:off x="5760674" y="2902883"/>
            <a:ext cx="4546866" cy="2495550"/>
          </a:xfrm>
          <a:prstGeom prst="rect">
            <a:avLst/>
          </a:prstGeom>
        </p:spPr>
      </p:pic>
    </p:spTree>
    <p:extLst>
      <p:ext uri="{BB962C8B-B14F-4D97-AF65-F5344CB8AC3E}">
        <p14:creationId xmlns:p14="http://schemas.microsoft.com/office/powerpoint/2010/main" val="1013767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1A682-8654-97AA-33F2-07F6C74A8602}"/>
              </a:ext>
            </a:extLst>
          </p:cNvPr>
          <p:cNvSpPr>
            <a:spLocks noGrp="1"/>
          </p:cNvSpPr>
          <p:nvPr>
            <p:ph type="title"/>
          </p:nvPr>
        </p:nvSpPr>
        <p:spPr/>
        <p:txBody>
          <a:bodyPr/>
          <a:lstStyle/>
          <a:p>
            <a:r>
              <a:rPr lang="en-US" dirty="0"/>
              <a:t>HTML Colors</a:t>
            </a:r>
          </a:p>
        </p:txBody>
      </p:sp>
      <p:sp>
        <p:nvSpPr>
          <p:cNvPr id="3" name="Content Placeholder 2">
            <a:extLst>
              <a:ext uri="{FF2B5EF4-FFF2-40B4-BE49-F238E27FC236}">
                <a16:creationId xmlns:a16="http://schemas.microsoft.com/office/drawing/2014/main" id="{A7A5E3B5-4C41-58B7-144D-F672F50669B3}"/>
              </a:ext>
            </a:extLst>
          </p:cNvPr>
          <p:cNvSpPr>
            <a:spLocks noGrp="1"/>
          </p:cNvSpPr>
          <p:nvPr>
            <p:ph idx="1"/>
          </p:nvPr>
        </p:nvSpPr>
        <p:spPr>
          <a:xfrm>
            <a:off x="646111" y="1413940"/>
            <a:ext cx="8946541" cy="4195481"/>
          </a:xfrm>
        </p:spPr>
        <p:txBody>
          <a:bodyPr/>
          <a:lstStyle/>
          <a:p>
            <a:r>
              <a:rPr lang="en-US" dirty="0"/>
              <a:t>HTML colors are specified with predefined color names, or with RGB, HEX, HSL, RGBA, or HSLA values.</a:t>
            </a:r>
          </a:p>
        </p:txBody>
      </p:sp>
      <p:pic>
        <p:nvPicPr>
          <p:cNvPr id="5" name="Picture 4">
            <a:extLst>
              <a:ext uri="{FF2B5EF4-FFF2-40B4-BE49-F238E27FC236}">
                <a16:creationId xmlns:a16="http://schemas.microsoft.com/office/drawing/2014/main" id="{CBFA97D0-26EC-C8A3-B182-301448221326}"/>
              </a:ext>
            </a:extLst>
          </p:cNvPr>
          <p:cNvPicPr>
            <a:picLocks noChangeAspect="1"/>
          </p:cNvPicPr>
          <p:nvPr/>
        </p:nvPicPr>
        <p:blipFill>
          <a:blip r:embed="rId2"/>
          <a:stretch>
            <a:fillRect/>
          </a:stretch>
        </p:blipFill>
        <p:spPr>
          <a:xfrm>
            <a:off x="1471095" y="2433762"/>
            <a:ext cx="5491564" cy="4195481"/>
          </a:xfrm>
          <a:prstGeom prst="rect">
            <a:avLst/>
          </a:prstGeom>
        </p:spPr>
      </p:pic>
    </p:spTree>
    <p:extLst>
      <p:ext uri="{BB962C8B-B14F-4D97-AF65-F5344CB8AC3E}">
        <p14:creationId xmlns:p14="http://schemas.microsoft.com/office/powerpoint/2010/main" val="650578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9FA1E-73C6-8259-677E-33005C8DA70B}"/>
              </a:ext>
            </a:extLst>
          </p:cNvPr>
          <p:cNvSpPr>
            <a:spLocks noGrp="1"/>
          </p:cNvSpPr>
          <p:nvPr>
            <p:ph type="title"/>
          </p:nvPr>
        </p:nvSpPr>
        <p:spPr/>
        <p:txBody>
          <a:bodyPr/>
          <a:lstStyle/>
          <a:p>
            <a:r>
              <a:rPr lang="en-US" dirty="0"/>
              <a:t>HTML Colors</a:t>
            </a:r>
          </a:p>
        </p:txBody>
      </p:sp>
      <p:sp>
        <p:nvSpPr>
          <p:cNvPr id="3" name="Content Placeholder 2">
            <a:extLst>
              <a:ext uri="{FF2B5EF4-FFF2-40B4-BE49-F238E27FC236}">
                <a16:creationId xmlns:a16="http://schemas.microsoft.com/office/drawing/2014/main" id="{04374339-4F7D-158E-1DC6-E841983B9491}"/>
              </a:ext>
            </a:extLst>
          </p:cNvPr>
          <p:cNvSpPr>
            <a:spLocks noGrp="1"/>
          </p:cNvSpPr>
          <p:nvPr>
            <p:ph idx="1"/>
          </p:nvPr>
        </p:nvSpPr>
        <p:spPr>
          <a:xfrm>
            <a:off x="646111" y="1415828"/>
            <a:ext cx="8946541" cy="4195481"/>
          </a:xfrm>
        </p:spPr>
        <p:txBody>
          <a:bodyPr/>
          <a:lstStyle/>
          <a:p>
            <a:r>
              <a:rPr lang="en-US" dirty="0"/>
              <a:t>Text Color:</a:t>
            </a:r>
          </a:p>
          <a:p>
            <a:pPr marL="0" indent="0">
              <a:buNone/>
            </a:pPr>
            <a:endParaRPr lang="en-US" dirty="0"/>
          </a:p>
          <a:p>
            <a:pPr marL="0" indent="0">
              <a:buNone/>
            </a:pPr>
            <a:endParaRPr lang="en-US" dirty="0"/>
          </a:p>
          <a:p>
            <a:r>
              <a:rPr lang="en-US" dirty="0"/>
              <a:t>Background Color</a:t>
            </a:r>
          </a:p>
          <a:p>
            <a:endParaRPr lang="en-US" dirty="0"/>
          </a:p>
          <a:p>
            <a:endParaRPr lang="en-US" dirty="0"/>
          </a:p>
          <a:p>
            <a:endParaRPr lang="en-US" dirty="0"/>
          </a:p>
          <a:p>
            <a:r>
              <a:rPr lang="en-US" dirty="0"/>
              <a:t>Border Color</a:t>
            </a:r>
          </a:p>
          <a:p>
            <a:pPr marL="0" indent="0">
              <a:buNone/>
            </a:pPr>
            <a:endParaRPr lang="en-US" dirty="0"/>
          </a:p>
        </p:txBody>
      </p:sp>
      <p:pic>
        <p:nvPicPr>
          <p:cNvPr id="7" name="Picture 6">
            <a:extLst>
              <a:ext uri="{FF2B5EF4-FFF2-40B4-BE49-F238E27FC236}">
                <a16:creationId xmlns:a16="http://schemas.microsoft.com/office/drawing/2014/main" id="{653B9631-4E13-7168-C191-AD6CA54F6E7E}"/>
              </a:ext>
            </a:extLst>
          </p:cNvPr>
          <p:cNvPicPr>
            <a:picLocks noChangeAspect="1"/>
          </p:cNvPicPr>
          <p:nvPr/>
        </p:nvPicPr>
        <p:blipFill>
          <a:blip r:embed="rId2"/>
          <a:stretch>
            <a:fillRect/>
          </a:stretch>
        </p:blipFill>
        <p:spPr>
          <a:xfrm>
            <a:off x="967819" y="3216853"/>
            <a:ext cx="5748510" cy="1030851"/>
          </a:xfrm>
          <a:prstGeom prst="rect">
            <a:avLst/>
          </a:prstGeom>
        </p:spPr>
      </p:pic>
      <p:pic>
        <p:nvPicPr>
          <p:cNvPr id="9" name="Picture 8">
            <a:extLst>
              <a:ext uri="{FF2B5EF4-FFF2-40B4-BE49-F238E27FC236}">
                <a16:creationId xmlns:a16="http://schemas.microsoft.com/office/drawing/2014/main" id="{C82972F8-5D41-1B4A-E436-8A41D928F74F}"/>
              </a:ext>
            </a:extLst>
          </p:cNvPr>
          <p:cNvPicPr>
            <a:picLocks noChangeAspect="1"/>
          </p:cNvPicPr>
          <p:nvPr/>
        </p:nvPicPr>
        <p:blipFill>
          <a:blip r:embed="rId3"/>
          <a:stretch>
            <a:fillRect/>
          </a:stretch>
        </p:blipFill>
        <p:spPr>
          <a:xfrm>
            <a:off x="2500196" y="1381514"/>
            <a:ext cx="4343400" cy="1057275"/>
          </a:xfrm>
          <a:prstGeom prst="rect">
            <a:avLst/>
          </a:prstGeom>
        </p:spPr>
      </p:pic>
      <p:pic>
        <p:nvPicPr>
          <p:cNvPr id="11" name="Picture 10">
            <a:extLst>
              <a:ext uri="{FF2B5EF4-FFF2-40B4-BE49-F238E27FC236}">
                <a16:creationId xmlns:a16="http://schemas.microsoft.com/office/drawing/2014/main" id="{86FA07D5-D859-77CD-636D-C73C85852E24}"/>
              </a:ext>
            </a:extLst>
          </p:cNvPr>
          <p:cNvPicPr>
            <a:picLocks noChangeAspect="1"/>
          </p:cNvPicPr>
          <p:nvPr/>
        </p:nvPicPr>
        <p:blipFill>
          <a:blip r:embed="rId4"/>
          <a:stretch>
            <a:fillRect/>
          </a:stretch>
        </p:blipFill>
        <p:spPr>
          <a:xfrm>
            <a:off x="1251905" y="4926985"/>
            <a:ext cx="5937045" cy="1462388"/>
          </a:xfrm>
          <a:prstGeom prst="rect">
            <a:avLst/>
          </a:prstGeom>
        </p:spPr>
      </p:pic>
      <p:pic>
        <p:nvPicPr>
          <p:cNvPr id="13" name="Picture 12">
            <a:extLst>
              <a:ext uri="{FF2B5EF4-FFF2-40B4-BE49-F238E27FC236}">
                <a16:creationId xmlns:a16="http://schemas.microsoft.com/office/drawing/2014/main" id="{E5A2717A-2F5B-209F-87E6-8E744BE54BF1}"/>
              </a:ext>
            </a:extLst>
          </p:cNvPr>
          <p:cNvPicPr>
            <a:picLocks noChangeAspect="1"/>
          </p:cNvPicPr>
          <p:nvPr/>
        </p:nvPicPr>
        <p:blipFill>
          <a:blip r:embed="rId5"/>
          <a:stretch>
            <a:fillRect/>
          </a:stretch>
        </p:blipFill>
        <p:spPr>
          <a:xfrm>
            <a:off x="7297642" y="3099049"/>
            <a:ext cx="4905375" cy="1304925"/>
          </a:xfrm>
          <a:prstGeom prst="rect">
            <a:avLst/>
          </a:prstGeom>
        </p:spPr>
      </p:pic>
      <p:sp>
        <p:nvSpPr>
          <p:cNvPr id="15" name="TextBox 14">
            <a:extLst>
              <a:ext uri="{FF2B5EF4-FFF2-40B4-BE49-F238E27FC236}">
                <a16:creationId xmlns:a16="http://schemas.microsoft.com/office/drawing/2014/main" id="{58DE68D5-A4CB-5B0C-FE93-102AD5469409}"/>
              </a:ext>
            </a:extLst>
          </p:cNvPr>
          <p:cNvSpPr txBox="1"/>
          <p:nvPr/>
        </p:nvSpPr>
        <p:spPr>
          <a:xfrm>
            <a:off x="8281930" y="2628731"/>
            <a:ext cx="2250603" cy="369332"/>
          </a:xfrm>
          <a:prstGeom prst="rect">
            <a:avLst/>
          </a:prstGeom>
          <a:noFill/>
        </p:spPr>
        <p:txBody>
          <a:bodyPr wrap="square">
            <a:spAutoFit/>
          </a:bodyPr>
          <a:lstStyle/>
          <a:p>
            <a:r>
              <a:rPr lang="en-US" dirty="0"/>
              <a:t>Color Values</a:t>
            </a:r>
          </a:p>
        </p:txBody>
      </p:sp>
    </p:spTree>
    <p:extLst>
      <p:ext uri="{BB962C8B-B14F-4D97-AF65-F5344CB8AC3E}">
        <p14:creationId xmlns:p14="http://schemas.microsoft.com/office/powerpoint/2010/main" val="3263234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70B02-994F-C754-4FE1-5486A5AE6A30}"/>
              </a:ext>
            </a:extLst>
          </p:cNvPr>
          <p:cNvSpPr>
            <a:spLocks noGrp="1"/>
          </p:cNvSpPr>
          <p:nvPr>
            <p:ph type="title"/>
          </p:nvPr>
        </p:nvSpPr>
        <p:spPr/>
        <p:txBody>
          <a:bodyPr/>
          <a:lstStyle/>
          <a:p>
            <a:r>
              <a:rPr lang="en-US" dirty="0"/>
              <a:t>HTML Colors</a:t>
            </a:r>
          </a:p>
        </p:txBody>
      </p:sp>
      <p:sp>
        <p:nvSpPr>
          <p:cNvPr id="3" name="Content Placeholder 2">
            <a:extLst>
              <a:ext uri="{FF2B5EF4-FFF2-40B4-BE49-F238E27FC236}">
                <a16:creationId xmlns:a16="http://schemas.microsoft.com/office/drawing/2014/main" id="{78655B16-C460-904B-F59B-57AEA043D586}"/>
              </a:ext>
            </a:extLst>
          </p:cNvPr>
          <p:cNvSpPr>
            <a:spLocks noGrp="1"/>
          </p:cNvSpPr>
          <p:nvPr>
            <p:ph idx="1"/>
          </p:nvPr>
        </p:nvSpPr>
        <p:spPr>
          <a:xfrm>
            <a:off x="789870" y="1529563"/>
            <a:ext cx="5771063" cy="4562765"/>
          </a:xfrm>
        </p:spPr>
        <p:txBody>
          <a:bodyPr>
            <a:normAutofit fontScale="85000" lnSpcReduction="10000"/>
          </a:bodyPr>
          <a:lstStyle/>
          <a:p>
            <a:endParaRPr lang="en-US" dirty="0"/>
          </a:p>
          <a:p>
            <a:pPr marL="0" indent="0">
              <a:buNone/>
            </a:pPr>
            <a:endParaRPr lang="en-US" dirty="0"/>
          </a:p>
          <a:p>
            <a:r>
              <a:rPr lang="en-US" dirty="0"/>
              <a:t>RGB Color Values : </a:t>
            </a:r>
            <a:r>
              <a:rPr lang="en-US" dirty="0" err="1"/>
              <a:t>rgb</a:t>
            </a:r>
            <a:r>
              <a:rPr lang="en-US" dirty="0"/>
              <a:t>(red, green, blue)</a:t>
            </a:r>
          </a:p>
          <a:p>
            <a:endParaRPr lang="en-US" dirty="0"/>
          </a:p>
          <a:p>
            <a:endParaRPr lang="en-US" dirty="0"/>
          </a:p>
          <a:p>
            <a:pPr marL="0" indent="0">
              <a:buNone/>
            </a:pPr>
            <a:endParaRPr lang="en-US" dirty="0"/>
          </a:p>
          <a:p>
            <a:pPr marL="0" indent="0">
              <a:buNone/>
            </a:pPr>
            <a:endParaRPr lang="en-US" dirty="0"/>
          </a:p>
          <a:p>
            <a:pPr>
              <a:lnSpc>
                <a:spcPct val="210000"/>
              </a:lnSpc>
            </a:pPr>
            <a:r>
              <a:rPr lang="en-US" dirty="0"/>
              <a:t>RGBA Color Values: rgba(red, green, blue, alpha) The alpha parameter is a number between 0.0 (fully transparent) and 1.0 (not transparent at all):</a:t>
            </a:r>
          </a:p>
          <a:p>
            <a:endParaRPr lang="en-US" dirty="0"/>
          </a:p>
        </p:txBody>
      </p:sp>
      <p:pic>
        <p:nvPicPr>
          <p:cNvPr id="5" name="Picture 4">
            <a:extLst>
              <a:ext uri="{FF2B5EF4-FFF2-40B4-BE49-F238E27FC236}">
                <a16:creationId xmlns:a16="http://schemas.microsoft.com/office/drawing/2014/main" id="{66928AA8-5B5F-FE97-6AF0-D1590B4DECBF}"/>
              </a:ext>
            </a:extLst>
          </p:cNvPr>
          <p:cNvPicPr>
            <a:picLocks noChangeAspect="1"/>
          </p:cNvPicPr>
          <p:nvPr/>
        </p:nvPicPr>
        <p:blipFill>
          <a:blip r:embed="rId2"/>
          <a:stretch>
            <a:fillRect/>
          </a:stretch>
        </p:blipFill>
        <p:spPr>
          <a:xfrm>
            <a:off x="6560933" y="1629009"/>
            <a:ext cx="4331316" cy="2422253"/>
          </a:xfrm>
          <a:prstGeom prst="rect">
            <a:avLst/>
          </a:prstGeom>
        </p:spPr>
      </p:pic>
      <p:pic>
        <p:nvPicPr>
          <p:cNvPr id="11" name="Picture 10">
            <a:extLst>
              <a:ext uri="{FF2B5EF4-FFF2-40B4-BE49-F238E27FC236}">
                <a16:creationId xmlns:a16="http://schemas.microsoft.com/office/drawing/2014/main" id="{1D0A44E5-B787-BEC2-103D-D32149599EDE}"/>
              </a:ext>
            </a:extLst>
          </p:cNvPr>
          <p:cNvPicPr>
            <a:picLocks noChangeAspect="1"/>
          </p:cNvPicPr>
          <p:nvPr/>
        </p:nvPicPr>
        <p:blipFill>
          <a:blip r:embed="rId3"/>
          <a:stretch>
            <a:fillRect/>
          </a:stretch>
        </p:blipFill>
        <p:spPr>
          <a:xfrm>
            <a:off x="6742323" y="4570932"/>
            <a:ext cx="4857662" cy="1911617"/>
          </a:xfrm>
          <a:prstGeom prst="rect">
            <a:avLst/>
          </a:prstGeom>
        </p:spPr>
      </p:pic>
    </p:spTree>
    <p:extLst>
      <p:ext uri="{BB962C8B-B14F-4D97-AF65-F5344CB8AC3E}">
        <p14:creationId xmlns:p14="http://schemas.microsoft.com/office/powerpoint/2010/main" val="42850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766E8-5D6E-FEAB-5F12-33A86D5D6780}"/>
              </a:ext>
            </a:extLst>
          </p:cNvPr>
          <p:cNvSpPr>
            <a:spLocks noGrp="1"/>
          </p:cNvSpPr>
          <p:nvPr>
            <p:ph type="title"/>
          </p:nvPr>
        </p:nvSpPr>
        <p:spPr/>
        <p:txBody>
          <a:bodyPr/>
          <a:lstStyle/>
          <a:p>
            <a:r>
              <a:rPr lang="en-US" dirty="0"/>
              <a:t>HTML HEX Colors</a:t>
            </a:r>
          </a:p>
        </p:txBody>
      </p:sp>
      <p:sp>
        <p:nvSpPr>
          <p:cNvPr id="3" name="Content Placeholder 2">
            <a:extLst>
              <a:ext uri="{FF2B5EF4-FFF2-40B4-BE49-F238E27FC236}">
                <a16:creationId xmlns:a16="http://schemas.microsoft.com/office/drawing/2014/main" id="{8696C15A-8994-A6E4-8BB5-C2A3EABE15E4}"/>
              </a:ext>
            </a:extLst>
          </p:cNvPr>
          <p:cNvSpPr>
            <a:spLocks noGrp="1"/>
          </p:cNvSpPr>
          <p:nvPr>
            <p:ph idx="1"/>
          </p:nvPr>
        </p:nvSpPr>
        <p:spPr>
          <a:xfrm>
            <a:off x="646111" y="1446991"/>
            <a:ext cx="9533475" cy="2663102"/>
          </a:xfrm>
        </p:spPr>
        <p:txBody>
          <a:bodyPr>
            <a:normAutofit lnSpcReduction="10000"/>
          </a:bodyPr>
          <a:lstStyle/>
          <a:p>
            <a:r>
              <a:rPr lang="en-US" dirty="0"/>
              <a:t>#rrggbb</a:t>
            </a:r>
          </a:p>
          <a:p>
            <a:endParaRPr lang="en-US" dirty="0"/>
          </a:p>
          <a:p>
            <a:r>
              <a:rPr lang="en-US" dirty="0"/>
              <a:t>Where </a:t>
            </a:r>
            <a:r>
              <a:rPr lang="en-US" dirty="0" err="1"/>
              <a:t>rr</a:t>
            </a:r>
            <a:r>
              <a:rPr lang="en-US" dirty="0"/>
              <a:t> (red), gg (green) and bb (blue) are hexadecimal values between 00 and ff (same as decimal 0-255).</a:t>
            </a:r>
          </a:p>
          <a:p>
            <a:pPr marL="0" indent="0">
              <a:buNone/>
            </a:pPr>
            <a:endParaRPr lang="en-US" dirty="0"/>
          </a:p>
          <a:p>
            <a:r>
              <a:rPr lang="en-US" dirty="0"/>
              <a:t>For example, #ff0000 is displayed as red, because red is set to its highest value (ff), and the other two (green and blue) are set to 00.</a:t>
            </a:r>
          </a:p>
        </p:txBody>
      </p:sp>
      <p:pic>
        <p:nvPicPr>
          <p:cNvPr id="5" name="Picture 4">
            <a:extLst>
              <a:ext uri="{FF2B5EF4-FFF2-40B4-BE49-F238E27FC236}">
                <a16:creationId xmlns:a16="http://schemas.microsoft.com/office/drawing/2014/main" id="{761FCCFB-CD5B-8DA5-13DF-BE9BA3E564DB}"/>
              </a:ext>
            </a:extLst>
          </p:cNvPr>
          <p:cNvPicPr>
            <a:picLocks noChangeAspect="1"/>
          </p:cNvPicPr>
          <p:nvPr/>
        </p:nvPicPr>
        <p:blipFill>
          <a:blip r:embed="rId2"/>
          <a:stretch>
            <a:fillRect/>
          </a:stretch>
        </p:blipFill>
        <p:spPr>
          <a:xfrm>
            <a:off x="2780296" y="4037055"/>
            <a:ext cx="5136351" cy="2747908"/>
          </a:xfrm>
          <a:prstGeom prst="rect">
            <a:avLst/>
          </a:prstGeom>
        </p:spPr>
      </p:pic>
    </p:spTree>
    <p:extLst>
      <p:ext uri="{BB962C8B-B14F-4D97-AF65-F5344CB8AC3E}">
        <p14:creationId xmlns:p14="http://schemas.microsoft.com/office/powerpoint/2010/main" val="2394316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0B6EB-D6AB-8804-E054-B4330CADC4A1}"/>
              </a:ext>
            </a:extLst>
          </p:cNvPr>
          <p:cNvSpPr>
            <a:spLocks noGrp="1"/>
          </p:cNvSpPr>
          <p:nvPr>
            <p:ph type="title"/>
          </p:nvPr>
        </p:nvSpPr>
        <p:spPr>
          <a:xfrm>
            <a:off x="2616969" y="313800"/>
            <a:ext cx="9404723" cy="1400530"/>
          </a:xfrm>
        </p:spPr>
        <p:txBody>
          <a:bodyPr/>
          <a:lstStyle/>
          <a:p>
            <a:r>
              <a:rPr lang="en-US" b="1" dirty="0"/>
              <a:t>HTML Links</a:t>
            </a:r>
          </a:p>
        </p:txBody>
      </p:sp>
      <p:sp>
        <p:nvSpPr>
          <p:cNvPr id="3" name="Content Placeholder 2">
            <a:extLst>
              <a:ext uri="{FF2B5EF4-FFF2-40B4-BE49-F238E27FC236}">
                <a16:creationId xmlns:a16="http://schemas.microsoft.com/office/drawing/2014/main" id="{D67C2011-AB4D-D129-58B2-06853BE35D72}"/>
              </a:ext>
            </a:extLst>
          </p:cNvPr>
          <p:cNvSpPr>
            <a:spLocks noGrp="1"/>
          </p:cNvSpPr>
          <p:nvPr>
            <p:ph idx="1"/>
          </p:nvPr>
        </p:nvSpPr>
        <p:spPr>
          <a:xfrm>
            <a:off x="304588" y="1232850"/>
            <a:ext cx="8685176" cy="1318243"/>
          </a:xfrm>
        </p:spPr>
        <p:txBody>
          <a:bodyPr/>
          <a:lstStyle/>
          <a:p>
            <a:pPr marL="0" indent="0">
              <a:buNone/>
            </a:pPr>
            <a:r>
              <a:rPr lang="en-US" dirty="0"/>
              <a:t>	Hyperlinks: HTML links are hyperlinks. You can click on a link and 	jump to another document. When you move the mouse over a 	link, the mouse arrow will turn into a little hand.</a:t>
            </a:r>
          </a:p>
          <a:p>
            <a:endParaRPr lang="en-US" dirty="0"/>
          </a:p>
        </p:txBody>
      </p:sp>
      <p:pic>
        <p:nvPicPr>
          <p:cNvPr id="5" name="Picture 4">
            <a:extLst>
              <a:ext uri="{FF2B5EF4-FFF2-40B4-BE49-F238E27FC236}">
                <a16:creationId xmlns:a16="http://schemas.microsoft.com/office/drawing/2014/main" id="{41A99835-5957-EEF9-C5F2-A59B7EE3A8D3}"/>
              </a:ext>
            </a:extLst>
          </p:cNvPr>
          <p:cNvPicPr>
            <a:picLocks noChangeAspect="1"/>
          </p:cNvPicPr>
          <p:nvPr/>
        </p:nvPicPr>
        <p:blipFill>
          <a:blip r:embed="rId2"/>
          <a:srcRect r="8002"/>
          <a:stretch/>
        </p:blipFill>
        <p:spPr>
          <a:xfrm>
            <a:off x="6600922" y="1851014"/>
            <a:ext cx="5330558" cy="877907"/>
          </a:xfrm>
          <a:prstGeom prst="rect">
            <a:avLst/>
          </a:prstGeom>
        </p:spPr>
      </p:pic>
      <p:sp>
        <p:nvSpPr>
          <p:cNvPr id="6" name="Rectangle 1">
            <a:extLst>
              <a:ext uri="{FF2B5EF4-FFF2-40B4-BE49-F238E27FC236}">
                <a16:creationId xmlns:a16="http://schemas.microsoft.com/office/drawing/2014/main" id="{959C6510-F3F9-9AFD-5CA2-32A2BD774504}"/>
              </a:ext>
            </a:extLst>
          </p:cNvPr>
          <p:cNvSpPr>
            <a:spLocks noChangeArrowheads="1"/>
          </p:cNvSpPr>
          <p:nvPr/>
        </p:nvSpPr>
        <p:spPr bwMode="auto">
          <a:xfrm>
            <a:off x="0" y="13180"/>
            <a:ext cx="65" cy="4308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6176" rIns="0" bIns="76176"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07FA90EB-05EC-295E-9E44-7A9B31DACCDF}"/>
              </a:ext>
            </a:extLst>
          </p:cNvPr>
          <p:cNvSpPr txBox="1"/>
          <p:nvPr/>
        </p:nvSpPr>
        <p:spPr>
          <a:xfrm>
            <a:off x="705079" y="2247441"/>
            <a:ext cx="10234670" cy="3917676"/>
          </a:xfrm>
          <a:prstGeom prst="rect">
            <a:avLst/>
          </a:prstGeom>
          <a:noFill/>
        </p:spPr>
        <p:txBody>
          <a:bodyPr wrap="square">
            <a:spAutoFit/>
          </a:bodyPr>
          <a:lstStyle/>
          <a:p>
            <a:pPr>
              <a:lnSpc>
                <a:spcPct val="150000"/>
              </a:lnSpc>
            </a:pPr>
            <a:r>
              <a:rPr lang="en-US" sz="2400" b="1" u="sng" dirty="0"/>
              <a:t>HTML Links - The target Attribute</a:t>
            </a:r>
          </a:p>
          <a:p>
            <a:pPr>
              <a:lnSpc>
                <a:spcPct val="150000"/>
              </a:lnSpc>
            </a:pPr>
            <a:r>
              <a:rPr lang="en-US" dirty="0"/>
              <a:t>By default, the linked page will be displayed in the current browser window. To change this, you must specify another target for the link. The target attribute specifies where to open the linked document. The target attribute can have one of the following values:</a:t>
            </a:r>
          </a:p>
          <a:p>
            <a:pPr marL="285750" indent="-285750">
              <a:lnSpc>
                <a:spcPct val="150000"/>
              </a:lnSpc>
              <a:buFont typeface="Arial" panose="020B0604020202020204" pitchFamily="34" charset="0"/>
              <a:buChar char="•"/>
            </a:pPr>
            <a:r>
              <a:rPr lang="en-US" b="1" dirty="0"/>
              <a:t>_self </a:t>
            </a:r>
            <a:r>
              <a:rPr lang="en-US" dirty="0"/>
              <a:t>- Default. Opens the document in the same window/tab as it was clicked</a:t>
            </a:r>
          </a:p>
          <a:p>
            <a:pPr marL="285750" indent="-285750">
              <a:lnSpc>
                <a:spcPct val="150000"/>
              </a:lnSpc>
              <a:buFont typeface="Arial" panose="020B0604020202020204" pitchFamily="34" charset="0"/>
              <a:buChar char="•"/>
            </a:pPr>
            <a:r>
              <a:rPr lang="en-US" b="1" dirty="0"/>
              <a:t>_blank </a:t>
            </a:r>
            <a:r>
              <a:rPr lang="en-US" dirty="0"/>
              <a:t>- Opens the document in a new window or tab</a:t>
            </a:r>
          </a:p>
          <a:p>
            <a:pPr marL="285750" indent="-285750">
              <a:lnSpc>
                <a:spcPct val="150000"/>
              </a:lnSpc>
              <a:buFont typeface="Arial" panose="020B0604020202020204" pitchFamily="34" charset="0"/>
              <a:buChar char="•"/>
            </a:pPr>
            <a:r>
              <a:rPr lang="en-US" b="1" dirty="0"/>
              <a:t>_parent </a:t>
            </a:r>
            <a:r>
              <a:rPr lang="en-US" dirty="0"/>
              <a:t>- Opens the document in the parent frame</a:t>
            </a:r>
          </a:p>
          <a:p>
            <a:pPr marL="285750" indent="-285750">
              <a:lnSpc>
                <a:spcPct val="150000"/>
              </a:lnSpc>
              <a:buFont typeface="Arial" panose="020B0604020202020204" pitchFamily="34" charset="0"/>
              <a:buChar char="•"/>
            </a:pPr>
            <a:r>
              <a:rPr lang="en-US" b="1" dirty="0"/>
              <a:t>_top </a:t>
            </a:r>
            <a:r>
              <a:rPr lang="en-US" dirty="0"/>
              <a:t>- Opens the document in the full body of the window</a:t>
            </a:r>
          </a:p>
          <a:p>
            <a:pPr>
              <a:lnSpc>
                <a:spcPct val="150000"/>
              </a:lnSpc>
            </a:pPr>
            <a:endParaRPr lang="en-US" dirty="0"/>
          </a:p>
        </p:txBody>
      </p:sp>
      <p:pic>
        <p:nvPicPr>
          <p:cNvPr id="12" name="Picture 11">
            <a:extLst>
              <a:ext uri="{FF2B5EF4-FFF2-40B4-BE49-F238E27FC236}">
                <a16:creationId xmlns:a16="http://schemas.microsoft.com/office/drawing/2014/main" id="{6D075797-9C59-ACA0-58C3-EA7CC78B4A43}"/>
              </a:ext>
            </a:extLst>
          </p:cNvPr>
          <p:cNvPicPr>
            <a:picLocks noChangeAspect="1"/>
          </p:cNvPicPr>
          <p:nvPr/>
        </p:nvPicPr>
        <p:blipFill>
          <a:blip r:embed="rId3"/>
          <a:srcRect r="6140"/>
          <a:stretch/>
        </p:blipFill>
        <p:spPr>
          <a:xfrm>
            <a:off x="5520957" y="5717398"/>
            <a:ext cx="6245057" cy="895437"/>
          </a:xfrm>
          <a:prstGeom prst="rect">
            <a:avLst/>
          </a:prstGeom>
        </p:spPr>
      </p:pic>
    </p:spTree>
    <p:extLst>
      <p:ext uri="{BB962C8B-B14F-4D97-AF65-F5344CB8AC3E}">
        <p14:creationId xmlns:p14="http://schemas.microsoft.com/office/powerpoint/2010/main" val="40604162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D48B2-15FE-34A6-5B11-18AB1DA3D689}"/>
              </a:ext>
            </a:extLst>
          </p:cNvPr>
          <p:cNvSpPr>
            <a:spLocks noGrp="1"/>
          </p:cNvSpPr>
          <p:nvPr>
            <p:ph type="title"/>
          </p:nvPr>
        </p:nvSpPr>
        <p:spPr/>
        <p:txBody>
          <a:bodyPr/>
          <a:lstStyle/>
          <a:p>
            <a:r>
              <a:rPr lang="en-US" dirty="0"/>
              <a:t>Absolute URLs vs. Relative URLs</a:t>
            </a:r>
          </a:p>
        </p:txBody>
      </p:sp>
      <p:sp>
        <p:nvSpPr>
          <p:cNvPr id="3" name="Content Placeholder 2">
            <a:extLst>
              <a:ext uri="{FF2B5EF4-FFF2-40B4-BE49-F238E27FC236}">
                <a16:creationId xmlns:a16="http://schemas.microsoft.com/office/drawing/2014/main" id="{295B015F-0B4A-C0E8-83DF-AC6CE81E1103}"/>
              </a:ext>
            </a:extLst>
          </p:cNvPr>
          <p:cNvSpPr>
            <a:spLocks noGrp="1"/>
          </p:cNvSpPr>
          <p:nvPr>
            <p:ph idx="1"/>
          </p:nvPr>
        </p:nvSpPr>
        <p:spPr/>
        <p:txBody>
          <a:bodyPr/>
          <a:lstStyle/>
          <a:p>
            <a:r>
              <a:rPr lang="en-US" dirty="0"/>
              <a:t>Both examples above are using an absolute URL (a full web address) in the </a:t>
            </a:r>
            <a:r>
              <a:rPr lang="en-US" dirty="0" err="1"/>
              <a:t>href</a:t>
            </a:r>
            <a:r>
              <a:rPr lang="en-US" dirty="0"/>
              <a:t> attribute.</a:t>
            </a:r>
          </a:p>
          <a:p>
            <a:endParaRPr lang="en-US" dirty="0"/>
          </a:p>
          <a:p>
            <a:r>
              <a:rPr lang="en-US" dirty="0"/>
              <a:t>A local link (a link to a page within the same website) is specified with a relative URL (without the "https://www" part):</a:t>
            </a:r>
          </a:p>
          <a:p>
            <a:endParaRPr lang="en-US" dirty="0"/>
          </a:p>
        </p:txBody>
      </p:sp>
    </p:spTree>
    <p:extLst>
      <p:ext uri="{BB962C8B-B14F-4D97-AF65-F5344CB8AC3E}">
        <p14:creationId xmlns:p14="http://schemas.microsoft.com/office/powerpoint/2010/main" val="30110168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988E4-4C02-31D1-C77C-A36E5C974241}"/>
              </a:ext>
            </a:extLst>
          </p:cNvPr>
          <p:cNvSpPr>
            <a:spLocks noGrp="1"/>
          </p:cNvSpPr>
          <p:nvPr>
            <p:ph type="title"/>
          </p:nvPr>
        </p:nvSpPr>
        <p:spPr>
          <a:xfrm>
            <a:off x="834070" y="474751"/>
            <a:ext cx="7235592" cy="549817"/>
          </a:xfrm>
        </p:spPr>
        <p:txBody>
          <a:bodyPr/>
          <a:lstStyle/>
          <a:p>
            <a:r>
              <a:rPr lang="en-US" sz="2800" dirty="0"/>
              <a:t>Use an Image as a Link</a:t>
            </a:r>
          </a:p>
        </p:txBody>
      </p:sp>
      <p:pic>
        <p:nvPicPr>
          <p:cNvPr id="5" name="Content Placeholder 4">
            <a:extLst>
              <a:ext uri="{FF2B5EF4-FFF2-40B4-BE49-F238E27FC236}">
                <a16:creationId xmlns:a16="http://schemas.microsoft.com/office/drawing/2014/main" id="{020D92D0-E347-420D-C7AA-C0F175E81531}"/>
              </a:ext>
            </a:extLst>
          </p:cNvPr>
          <p:cNvPicPr>
            <a:picLocks noGrp="1" noChangeAspect="1"/>
          </p:cNvPicPr>
          <p:nvPr>
            <p:ph idx="1"/>
          </p:nvPr>
        </p:nvPicPr>
        <p:blipFill>
          <a:blip r:embed="rId2"/>
          <a:stretch>
            <a:fillRect/>
          </a:stretch>
        </p:blipFill>
        <p:spPr>
          <a:xfrm>
            <a:off x="834069" y="1150097"/>
            <a:ext cx="7604851" cy="1702250"/>
          </a:xfrm>
        </p:spPr>
      </p:pic>
      <p:sp>
        <p:nvSpPr>
          <p:cNvPr id="11" name="TextBox 10">
            <a:extLst>
              <a:ext uri="{FF2B5EF4-FFF2-40B4-BE49-F238E27FC236}">
                <a16:creationId xmlns:a16="http://schemas.microsoft.com/office/drawing/2014/main" id="{2D6DA782-3494-D8A0-CECA-BB56F1AFFC7D}"/>
              </a:ext>
            </a:extLst>
          </p:cNvPr>
          <p:cNvSpPr txBox="1"/>
          <p:nvPr/>
        </p:nvSpPr>
        <p:spPr>
          <a:xfrm>
            <a:off x="745935" y="3011703"/>
            <a:ext cx="6097836" cy="523220"/>
          </a:xfrm>
          <a:prstGeom prst="rect">
            <a:avLst/>
          </a:prstGeom>
          <a:noFill/>
        </p:spPr>
        <p:txBody>
          <a:bodyPr wrap="square">
            <a:spAutoFit/>
          </a:bodyPr>
          <a:lstStyle/>
          <a:p>
            <a:r>
              <a:rPr lang="en-US" sz="2800" dirty="0"/>
              <a:t>Link to an Email Address</a:t>
            </a:r>
          </a:p>
        </p:txBody>
      </p:sp>
      <p:pic>
        <p:nvPicPr>
          <p:cNvPr id="15" name="Picture 14">
            <a:extLst>
              <a:ext uri="{FF2B5EF4-FFF2-40B4-BE49-F238E27FC236}">
                <a16:creationId xmlns:a16="http://schemas.microsoft.com/office/drawing/2014/main" id="{34486D48-BF46-8787-87B8-3CEE8B32675A}"/>
              </a:ext>
            </a:extLst>
          </p:cNvPr>
          <p:cNvPicPr>
            <a:picLocks noChangeAspect="1"/>
          </p:cNvPicPr>
          <p:nvPr/>
        </p:nvPicPr>
        <p:blipFill>
          <a:blip r:embed="rId3"/>
          <a:stretch>
            <a:fillRect/>
          </a:stretch>
        </p:blipFill>
        <p:spPr>
          <a:xfrm>
            <a:off x="834069" y="3694279"/>
            <a:ext cx="7825189" cy="907421"/>
          </a:xfrm>
          <a:prstGeom prst="rect">
            <a:avLst/>
          </a:prstGeom>
        </p:spPr>
      </p:pic>
      <p:sp>
        <p:nvSpPr>
          <p:cNvPr id="19" name="TextBox 18">
            <a:extLst>
              <a:ext uri="{FF2B5EF4-FFF2-40B4-BE49-F238E27FC236}">
                <a16:creationId xmlns:a16="http://schemas.microsoft.com/office/drawing/2014/main" id="{4B473061-C81C-D764-42A3-8B9D25AD1303}"/>
              </a:ext>
            </a:extLst>
          </p:cNvPr>
          <p:cNvSpPr txBox="1"/>
          <p:nvPr/>
        </p:nvSpPr>
        <p:spPr>
          <a:xfrm>
            <a:off x="745935" y="4761056"/>
            <a:ext cx="6097836" cy="523220"/>
          </a:xfrm>
          <a:prstGeom prst="rect">
            <a:avLst/>
          </a:prstGeom>
          <a:noFill/>
        </p:spPr>
        <p:txBody>
          <a:bodyPr wrap="square">
            <a:spAutoFit/>
          </a:bodyPr>
          <a:lstStyle/>
          <a:p>
            <a:r>
              <a:rPr lang="en-US" sz="2800" dirty="0"/>
              <a:t>Button as a Link</a:t>
            </a:r>
          </a:p>
        </p:txBody>
      </p:sp>
      <p:pic>
        <p:nvPicPr>
          <p:cNvPr id="21" name="Picture 20">
            <a:extLst>
              <a:ext uri="{FF2B5EF4-FFF2-40B4-BE49-F238E27FC236}">
                <a16:creationId xmlns:a16="http://schemas.microsoft.com/office/drawing/2014/main" id="{CDABE1B2-C440-995F-9990-7590DFA03E2B}"/>
              </a:ext>
            </a:extLst>
          </p:cNvPr>
          <p:cNvPicPr>
            <a:picLocks noChangeAspect="1"/>
          </p:cNvPicPr>
          <p:nvPr/>
        </p:nvPicPr>
        <p:blipFill>
          <a:blip r:embed="rId4"/>
          <a:srcRect t="19761" b="20978"/>
          <a:stretch/>
        </p:blipFill>
        <p:spPr>
          <a:xfrm>
            <a:off x="834069" y="5443632"/>
            <a:ext cx="7825189" cy="1178805"/>
          </a:xfrm>
          <a:prstGeom prst="rect">
            <a:avLst/>
          </a:prstGeom>
        </p:spPr>
      </p:pic>
    </p:spTree>
    <p:extLst>
      <p:ext uri="{BB962C8B-B14F-4D97-AF65-F5344CB8AC3E}">
        <p14:creationId xmlns:p14="http://schemas.microsoft.com/office/powerpoint/2010/main" val="13249684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98D9A-27BD-7798-88B1-543DA05E326E}"/>
              </a:ext>
            </a:extLst>
          </p:cNvPr>
          <p:cNvSpPr>
            <a:spLocks noGrp="1"/>
          </p:cNvSpPr>
          <p:nvPr>
            <p:ph type="title"/>
          </p:nvPr>
        </p:nvSpPr>
        <p:spPr/>
        <p:txBody>
          <a:bodyPr/>
          <a:lstStyle/>
          <a:p>
            <a:r>
              <a:rPr lang="en-US" dirty="0"/>
              <a:t>Introduction to CSS:</a:t>
            </a:r>
          </a:p>
        </p:txBody>
      </p:sp>
      <p:sp>
        <p:nvSpPr>
          <p:cNvPr id="3" name="Content Placeholder 2">
            <a:extLst>
              <a:ext uri="{FF2B5EF4-FFF2-40B4-BE49-F238E27FC236}">
                <a16:creationId xmlns:a16="http://schemas.microsoft.com/office/drawing/2014/main" id="{B6540138-704D-8056-6FC6-41E59419A58F}"/>
              </a:ext>
            </a:extLst>
          </p:cNvPr>
          <p:cNvSpPr>
            <a:spLocks noGrp="1"/>
          </p:cNvSpPr>
          <p:nvPr>
            <p:ph idx="1"/>
          </p:nvPr>
        </p:nvSpPr>
        <p:spPr/>
        <p:txBody>
          <a:bodyPr/>
          <a:lstStyle/>
          <a:p>
            <a:r>
              <a:rPr lang="en-US" dirty="0"/>
              <a:t>CSS stands for Cascading Style Sheets.</a:t>
            </a:r>
          </a:p>
          <a:p>
            <a:endParaRPr lang="en-US" dirty="0"/>
          </a:p>
          <a:p>
            <a:r>
              <a:rPr lang="en-US" dirty="0"/>
              <a:t>Cascading Style Sheets (CSS) is used to format the layout of a webpage.</a:t>
            </a:r>
          </a:p>
          <a:p>
            <a:endParaRPr lang="en-US" dirty="0"/>
          </a:p>
          <a:p>
            <a:r>
              <a:rPr lang="en-US" dirty="0"/>
              <a:t>With CSS, you can control the color, font, the size of text, the spacing between elements, how elements are positioned and laid out, what background images or background colors are to be used, different displays for different devices and screen sizes, and much more</a:t>
            </a:r>
          </a:p>
        </p:txBody>
      </p:sp>
    </p:spTree>
    <p:extLst>
      <p:ext uri="{BB962C8B-B14F-4D97-AF65-F5344CB8AC3E}">
        <p14:creationId xmlns:p14="http://schemas.microsoft.com/office/powerpoint/2010/main" val="17013275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E800B-55DD-57C1-04E1-15F3BB51E101}"/>
              </a:ext>
            </a:extLst>
          </p:cNvPr>
          <p:cNvSpPr>
            <a:spLocks noGrp="1"/>
          </p:cNvSpPr>
          <p:nvPr>
            <p:ph type="title"/>
          </p:nvPr>
        </p:nvSpPr>
        <p:spPr/>
        <p:txBody>
          <a:bodyPr/>
          <a:lstStyle/>
          <a:p>
            <a:r>
              <a:rPr lang="en-US" dirty="0"/>
              <a:t>Types of CSS</a:t>
            </a:r>
          </a:p>
        </p:txBody>
      </p:sp>
      <p:sp>
        <p:nvSpPr>
          <p:cNvPr id="3" name="Content Placeholder 2">
            <a:extLst>
              <a:ext uri="{FF2B5EF4-FFF2-40B4-BE49-F238E27FC236}">
                <a16:creationId xmlns:a16="http://schemas.microsoft.com/office/drawing/2014/main" id="{C4A96B25-431D-ABCF-FDB1-110444708286}"/>
              </a:ext>
            </a:extLst>
          </p:cNvPr>
          <p:cNvSpPr>
            <a:spLocks noGrp="1"/>
          </p:cNvSpPr>
          <p:nvPr>
            <p:ph idx="1"/>
          </p:nvPr>
        </p:nvSpPr>
        <p:spPr>
          <a:xfrm>
            <a:off x="1103312" y="2052918"/>
            <a:ext cx="9858471" cy="4195481"/>
          </a:xfrm>
        </p:spPr>
        <p:txBody>
          <a:bodyPr>
            <a:normAutofit/>
          </a:bodyPr>
          <a:lstStyle/>
          <a:p>
            <a:pPr>
              <a:lnSpc>
                <a:spcPct val="150000"/>
              </a:lnSpc>
            </a:pPr>
            <a:r>
              <a:rPr lang="en-US" sz="1800" dirty="0"/>
              <a:t>There are three main types of CSS:</a:t>
            </a:r>
          </a:p>
          <a:p>
            <a:pPr defTabSz="914400" eaLnBrk="0" fontAlgn="base" hangingPunct="0">
              <a:lnSpc>
                <a:spcPct val="15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Inline CSS</a:t>
            </a:r>
            <a:r>
              <a:rPr kumimoji="0" lang="en-US" altLang="en-US" sz="1800" b="0" i="0" u="none" strike="noStrike" cap="none" normalizeH="0" baseline="0" dirty="0">
                <a:ln>
                  <a:noFill/>
                </a:ln>
                <a:solidFill>
                  <a:schemeClr val="tx1"/>
                </a:solidFill>
                <a:effectLst/>
                <a:latin typeface="Arial" panose="020B0604020202020204" pitchFamily="34" charset="0"/>
              </a:rPr>
              <a:t> – Style is applied directly to an HTML element using the </a:t>
            </a:r>
            <a:r>
              <a:rPr kumimoji="0" lang="en-US" altLang="en-US" sz="1800" b="0" i="0" u="none" strike="noStrike" cap="none" normalizeH="0" baseline="0" dirty="0">
                <a:ln>
                  <a:noFill/>
                </a:ln>
                <a:solidFill>
                  <a:schemeClr val="tx1"/>
                </a:solidFill>
                <a:effectLst/>
                <a:latin typeface="Arial Unicode MS"/>
              </a:rPr>
              <a:t>style</a:t>
            </a:r>
            <a:r>
              <a:rPr kumimoji="0" lang="en-US" altLang="en-US" sz="1800" b="0" i="0" u="none" strike="noStrike" cap="none" normalizeH="0" baseline="0" dirty="0">
                <a:ln>
                  <a:noFill/>
                </a:ln>
                <a:solidFill>
                  <a:schemeClr val="tx1"/>
                </a:solidFill>
                <a:effectLst/>
              </a:rPr>
              <a:t> attribute.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defTabSz="914400" eaLnBrk="0" fontAlgn="base" hangingPunct="0">
              <a:lnSpc>
                <a:spcPct val="15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Internal CSS</a:t>
            </a:r>
            <a:r>
              <a:rPr kumimoji="0" lang="en-US" altLang="en-US" sz="1800" b="0" i="0" u="none" strike="noStrike" cap="none" normalizeH="0" baseline="0" dirty="0">
                <a:ln>
                  <a:noFill/>
                </a:ln>
                <a:solidFill>
                  <a:schemeClr val="tx1"/>
                </a:solidFill>
                <a:effectLst/>
                <a:latin typeface="Arial" panose="020B0604020202020204" pitchFamily="34" charset="0"/>
              </a:rPr>
              <a:t> – Style is written inside a </a:t>
            </a:r>
            <a:r>
              <a:rPr kumimoji="0" lang="en-US" altLang="en-US" sz="1800" b="1" i="0" u="none" strike="noStrike" cap="none" normalizeH="0" baseline="0" dirty="0">
                <a:ln>
                  <a:noFill/>
                </a:ln>
                <a:solidFill>
                  <a:schemeClr val="tx1"/>
                </a:solidFill>
                <a:effectLst/>
                <a:latin typeface="Arial Unicode MS"/>
              </a:rPr>
              <a:t>&lt;style&gt;</a:t>
            </a:r>
            <a:r>
              <a:rPr kumimoji="0" lang="en-US" altLang="en-US" sz="1800" b="1" i="0" u="none" strike="noStrike" cap="none" normalizeH="0" baseline="0" dirty="0">
                <a:ln>
                  <a:noFill/>
                </a:ln>
                <a:solidFill>
                  <a:schemeClr val="tx1"/>
                </a:solidFill>
                <a:effectLst/>
              </a:rPr>
              <a:t> </a:t>
            </a:r>
            <a:r>
              <a:rPr kumimoji="0" lang="en-US" altLang="en-US" sz="1800" b="0" i="0" u="none" strike="noStrike" cap="none" normalizeH="0" baseline="0" dirty="0">
                <a:ln>
                  <a:noFill/>
                </a:ln>
                <a:solidFill>
                  <a:schemeClr val="tx1"/>
                </a:solidFill>
                <a:effectLst/>
              </a:rPr>
              <a:t>tag in the </a:t>
            </a:r>
            <a:r>
              <a:rPr kumimoji="0" lang="en-US" altLang="en-US" sz="1800" b="1" i="0" u="none" strike="noStrike" cap="none" normalizeH="0" baseline="0" dirty="0">
                <a:ln>
                  <a:noFill/>
                </a:ln>
                <a:solidFill>
                  <a:schemeClr val="tx1"/>
                </a:solidFill>
                <a:effectLst/>
                <a:latin typeface="Arial Unicode MS"/>
              </a:rPr>
              <a:t>&lt;head&gt;</a:t>
            </a:r>
            <a:r>
              <a:rPr kumimoji="0" lang="en-US" altLang="en-US" sz="1800" b="1" i="0" u="none" strike="noStrike" cap="none" normalizeH="0" baseline="0" dirty="0">
                <a:ln>
                  <a:noFill/>
                </a:ln>
                <a:solidFill>
                  <a:schemeClr val="tx1"/>
                </a:solidFill>
                <a:effectLst/>
              </a:rPr>
              <a:t> </a:t>
            </a:r>
            <a:r>
              <a:rPr kumimoji="0" lang="en-US" altLang="en-US" sz="1800" b="0" i="0" u="none" strike="noStrike" cap="none" normalizeH="0" baseline="0" dirty="0">
                <a:ln>
                  <a:noFill/>
                </a:ln>
                <a:solidFill>
                  <a:schemeClr val="tx1"/>
                </a:solidFill>
                <a:effectLst/>
              </a:rPr>
              <a:t>section of the HTML document.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defTabSz="914400" eaLnBrk="0" fontAlgn="base" hangingPunct="0">
              <a:lnSpc>
                <a:spcPct val="15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External CSS</a:t>
            </a:r>
            <a:r>
              <a:rPr kumimoji="0" lang="en-US" altLang="en-US" sz="1800" b="0" i="0" u="none" strike="noStrike" cap="none" normalizeH="0" baseline="0" dirty="0">
                <a:ln>
                  <a:noFill/>
                </a:ln>
                <a:solidFill>
                  <a:schemeClr val="tx1"/>
                </a:solidFill>
                <a:effectLst/>
                <a:latin typeface="Arial" panose="020B0604020202020204" pitchFamily="34" charset="0"/>
              </a:rPr>
              <a:t> – Style is written in a separate </a:t>
            </a:r>
            <a:r>
              <a:rPr kumimoji="0" lang="en-US" altLang="en-US" sz="1800" b="0" i="0" u="none" strike="noStrike" cap="none" normalizeH="0" baseline="0" dirty="0">
                <a:ln>
                  <a:noFill/>
                </a:ln>
                <a:solidFill>
                  <a:schemeClr val="tx1"/>
                </a:solidFill>
                <a:effectLst/>
                <a:latin typeface="Arial Unicode MS"/>
              </a:rPr>
              <a:t>.</a:t>
            </a:r>
            <a:r>
              <a:rPr kumimoji="0" lang="en-US" altLang="en-US" sz="1800" b="0" i="0" u="none" strike="noStrike" cap="none" normalizeH="0" baseline="0" dirty="0" err="1">
                <a:ln>
                  <a:noFill/>
                </a:ln>
                <a:solidFill>
                  <a:schemeClr val="tx1"/>
                </a:solidFill>
                <a:effectLst/>
                <a:latin typeface="Arial Unicode MS"/>
              </a:rPr>
              <a:t>css</a:t>
            </a:r>
            <a:r>
              <a:rPr kumimoji="0" lang="en-US" altLang="en-US" sz="1800" b="0" i="0" u="none" strike="noStrike" cap="none" normalizeH="0" baseline="0" dirty="0">
                <a:ln>
                  <a:noFill/>
                </a:ln>
                <a:solidFill>
                  <a:schemeClr val="tx1"/>
                </a:solidFill>
                <a:effectLst/>
              </a:rPr>
              <a:t> file and linked to the HTML document using a </a:t>
            </a:r>
            <a:r>
              <a:rPr kumimoji="0" lang="en-US" altLang="en-US" sz="1800" b="1" i="0" u="none" strike="noStrike" cap="none" normalizeH="0" baseline="0" dirty="0">
                <a:ln>
                  <a:noFill/>
                </a:ln>
                <a:solidFill>
                  <a:schemeClr val="tx1"/>
                </a:solidFill>
                <a:effectLst/>
                <a:latin typeface="Arial Unicode MS"/>
              </a:rPr>
              <a:t>&lt;link&gt;</a:t>
            </a:r>
            <a:r>
              <a:rPr kumimoji="0" lang="en-US" altLang="en-US" sz="1800" b="1" i="0" u="none" strike="noStrike" cap="none" normalizeH="0" baseline="0" dirty="0">
                <a:ln>
                  <a:noFill/>
                </a:ln>
                <a:solidFill>
                  <a:schemeClr val="tx1"/>
                </a:solidFill>
                <a:effectLst/>
              </a:rPr>
              <a:t> </a:t>
            </a:r>
            <a:r>
              <a:rPr kumimoji="0" lang="en-US" altLang="en-US" sz="1800" b="0" i="0" u="none" strike="noStrike" cap="none" normalizeH="0" baseline="0" dirty="0">
                <a:ln>
                  <a:noFill/>
                </a:ln>
                <a:solidFill>
                  <a:schemeClr val="tx1"/>
                </a:solidFill>
                <a:effectLst/>
              </a:rPr>
              <a:t>tag</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269926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7FEE2-D417-730D-2145-ADCBAC43E0C2}"/>
              </a:ext>
            </a:extLst>
          </p:cNvPr>
          <p:cNvSpPr>
            <a:spLocks noGrp="1"/>
          </p:cNvSpPr>
          <p:nvPr>
            <p:ph type="title"/>
          </p:nvPr>
        </p:nvSpPr>
        <p:spPr/>
        <p:txBody>
          <a:bodyPr/>
          <a:lstStyle/>
          <a:p>
            <a:r>
              <a:rPr lang="en-US" dirty="0"/>
              <a:t>Inline CSS</a:t>
            </a:r>
          </a:p>
        </p:txBody>
      </p:sp>
      <p:sp>
        <p:nvSpPr>
          <p:cNvPr id="3" name="Content Placeholder 2">
            <a:extLst>
              <a:ext uri="{FF2B5EF4-FFF2-40B4-BE49-F238E27FC236}">
                <a16:creationId xmlns:a16="http://schemas.microsoft.com/office/drawing/2014/main" id="{1C96616D-09CD-0978-872C-9DAEDEF06BD5}"/>
              </a:ext>
            </a:extLst>
          </p:cNvPr>
          <p:cNvSpPr>
            <a:spLocks noGrp="1"/>
          </p:cNvSpPr>
          <p:nvPr>
            <p:ph idx="1"/>
          </p:nvPr>
        </p:nvSpPr>
        <p:spPr>
          <a:xfrm>
            <a:off x="875201" y="1446991"/>
            <a:ext cx="9712009" cy="4195481"/>
          </a:xfrm>
        </p:spPr>
        <p:txBody>
          <a:bodyPr/>
          <a:lstStyle/>
          <a:p>
            <a:r>
              <a:rPr lang="en-US" dirty="0"/>
              <a:t>An inline CSS is used to apply a unique style to a single HTML element.</a:t>
            </a:r>
          </a:p>
          <a:p>
            <a:endParaRPr lang="en-US" dirty="0"/>
          </a:p>
          <a:p>
            <a:r>
              <a:rPr lang="en-US" dirty="0"/>
              <a:t>An inline CSS uses the style attribute of an HTML element.</a:t>
            </a:r>
          </a:p>
          <a:p>
            <a:endParaRPr lang="en-US" dirty="0"/>
          </a:p>
          <a:p>
            <a:r>
              <a:rPr lang="en-US" dirty="0"/>
              <a:t>The following example sets the text color of the &lt;h1&gt; element to blue, and the text color of the &lt;p&gt; element to red: and change background color using inline CSS</a:t>
            </a:r>
          </a:p>
        </p:txBody>
      </p:sp>
      <p:pic>
        <p:nvPicPr>
          <p:cNvPr id="7" name="Picture 6">
            <a:extLst>
              <a:ext uri="{FF2B5EF4-FFF2-40B4-BE49-F238E27FC236}">
                <a16:creationId xmlns:a16="http://schemas.microsoft.com/office/drawing/2014/main" id="{3ABE499E-5409-F196-332F-61DC126C696A}"/>
              </a:ext>
            </a:extLst>
          </p:cNvPr>
          <p:cNvPicPr>
            <a:picLocks noChangeAspect="1"/>
          </p:cNvPicPr>
          <p:nvPr/>
        </p:nvPicPr>
        <p:blipFill>
          <a:blip r:embed="rId2"/>
          <a:stretch>
            <a:fillRect/>
          </a:stretch>
        </p:blipFill>
        <p:spPr>
          <a:xfrm>
            <a:off x="3308789" y="4189163"/>
            <a:ext cx="6334762" cy="2046384"/>
          </a:xfrm>
          <a:prstGeom prst="rect">
            <a:avLst/>
          </a:prstGeom>
        </p:spPr>
      </p:pic>
    </p:spTree>
    <p:extLst>
      <p:ext uri="{BB962C8B-B14F-4D97-AF65-F5344CB8AC3E}">
        <p14:creationId xmlns:p14="http://schemas.microsoft.com/office/powerpoint/2010/main" val="3781253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758D2-8F3C-A571-66F5-75153468D4DC}"/>
              </a:ext>
            </a:extLst>
          </p:cNvPr>
          <p:cNvSpPr>
            <a:spLocks noGrp="1"/>
          </p:cNvSpPr>
          <p:nvPr>
            <p:ph type="title"/>
          </p:nvPr>
        </p:nvSpPr>
        <p:spPr/>
        <p:txBody>
          <a:bodyPr/>
          <a:lstStyle/>
          <a:p>
            <a:r>
              <a:rPr lang="en-US" dirty="0"/>
              <a:t>Internal CSS</a:t>
            </a:r>
          </a:p>
        </p:txBody>
      </p:sp>
      <p:sp>
        <p:nvSpPr>
          <p:cNvPr id="3" name="Content Placeholder 2">
            <a:extLst>
              <a:ext uri="{FF2B5EF4-FFF2-40B4-BE49-F238E27FC236}">
                <a16:creationId xmlns:a16="http://schemas.microsoft.com/office/drawing/2014/main" id="{2A6F92FB-0869-B8A2-5F41-79D2A9B2AAF0}"/>
              </a:ext>
            </a:extLst>
          </p:cNvPr>
          <p:cNvSpPr>
            <a:spLocks noGrp="1"/>
          </p:cNvSpPr>
          <p:nvPr>
            <p:ph idx="1"/>
          </p:nvPr>
        </p:nvSpPr>
        <p:spPr>
          <a:xfrm>
            <a:off x="646112" y="1331259"/>
            <a:ext cx="11152953" cy="4195481"/>
          </a:xfrm>
        </p:spPr>
        <p:txBody>
          <a:bodyPr/>
          <a:lstStyle/>
          <a:p>
            <a:r>
              <a:rPr lang="en-US" dirty="0"/>
              <a:t>An internal CSS is used to define a style for a single HTML page.</a:t>
            </a:r>
          </a:p>
          <a:p>
            <a:endParaRPr lang="en-US" dirty="0"/>
          </a:p>
          <a:p>
            <a:r>
              <a:rPr lang="en-US" dirty="0"/>
              <a:t>An internal CSS is defined in the &lt;head&gt; section of an HTML page, within a &lt;style&gt; element.</a:t>
            </a:r>
          </a:p>
          <a:p>
            <a:r>
              <a:rPr lang="en-US" dirty="0"/>
              <a:t>The following example sets the text color of ALL the &lt;h1&gt; elements (on that page) to blue, and the text color of ALL the &lt;p&gt; elements to red. In addition, the page will be displayed with a "</a:t>
            </a:r>
            <a:r>
              <a:rPr lang="en-US" dirty="0" err="1"/>
              <a:t>powderblue</a:t>
            </a:r>
            <a:r>
              <a:rPr lang="en-US" dirty="0"/>
              <a:t>" background color: </a:t>
            </a:r>
          </a:p>
        </p:txBody>
      </p:sp>
      <p:pic>
        <p:nvPicPr>
          <p:cNvPr id="5" name="Picture 4">
            <a:extLst>
              <a:ext uri="{FF2B5EF4-FFF2-40B4-BE49-F238E27FC236}">
                <a16:creationId xmlns:a16="http://schemas.microsoft.com/office/drawing/2014/main" id="{CC426983-3073-52E2-0A53-0D78580A4AF4}"/>
              </a:ext>
            </a:extLst>
          </p:cNvPr>
          <p:cNvPicPr>
            <a:picLocks noChangeAspect="1"/>
          </p:cNvPicPr>
          <p:nvPr/>
        </p:nvPicPr>
        <p:blipFill>
          <a:blip r:embed="rId2"/>
          <a:stretch>
            <a:fillRect/>
          </a:stretch>
        </p:blipFill>
        <p:spPr>
          <a:xfrm>
            <a:off x="2594696" y="4030038"/>
            <a:ext cx="7002607" cy="2530693"/>
          </a:xfrm>
          <a:prstGeom prst="rect">
            <a:avLst/>
          </a:prstGeom>
        </p:spPr>
      </p:pic>
    </p:spTree>
    <p:extLst>
      <p:ext uri="{BB962C8B-B14F-4D97-AF65-F5344CB8AC3E}">
        <p14:creationId xmlns:p14="http://schemas.microsoft.com/office/powerpoint/2010/main" val="38812302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316FA-B40C-C51C-CA62-CFCD4A3BF652}"/>
              </a:ext>
            </a:extLst>
          </p:cNvPr>
          <p:cNvSpPr>
            <a:spLocks noGrp="1"/>
          </p:cNvSpPr>
          <p:nvPr>
            <p:ph type="title"/>
          </p:nvPr>
        </p:nvSpPr>
        <p:spPr/>
        <p:txBody>
          <a:bodyPr/>
          <a:lstStyle/>
          <a:p>
            <a:r>
              <a:rPr lang="en-US" dirty="0"/>
              <a:t>External CSS</a:t>
            </a:r>
          </a:p>
        </p:txBody>
      </p:sp>
      <p:sp>
        <p:nvSpPr>
          <p:cNvPr id="3" name="Content Placeholder 2">
            <a:extLst>
              <a:ext uri="{FF2B5EF4-FFF2-40B4-BE49-F238E27FC236}">
                <a16:creationId xmlns:a16="http://schemas.microsoft.com/office/drawing/2014/main" id="{BEF059E3-CE3B-1A4F-D9C3-616F1F3CC693}"/>
              </a:ext>
            </a:extLst>
          </p:cNvPr>
          <p:cNvSpPr>
            <a:spLocks noGrp="1"/>
          </p:cNvSpPr>
          <p:nvPr>
            <p:ph idx="1"/>
          </p:nvPr>
        </p:nvSpPr>
        <p:spPr>
          <a:xfrm>
            <a:off x="875201" y="1331259"/>
            <a:ext cx="8946541" cy="4195481"/>
          </a:xfrm>
        </p:spPr>
        <p:txBody>
          <a:bodyPr/>
          <a:lstStyle/>
          <a:p>
            <a:r>
              <a:rPr lang="en-US" dirty="0"/>
              <a:t>An external style sheet is used to define the style for many HTML pages.</a:t>
            </a:r>
          </a:p>
          <a:p>
            <a:r>
              <a:rPr lang="en-US" dirty="0"/>
              <a:t>To use an external style sheet, add a link to it in the &lt;head&gt; section of each HTML page:</a:t>
            </a:r>
          </a:p>
        </p:txBody>
      </p:sp>
      <p:pic>
        <p:nvPicPr>
          <p:cNvPr id="5" name="Picture 4">
            <a:extLst>
              <a:ext uri="{FF2B5EF4-FFF2-40B4-BE49-F238E27FC236}">
                <a16:creationId xmlns:a16="http://schemas.microsoft.com/office/drawing/2014/main" id="{43E9460D-69FF-F6CA-125C-51D544084A1A}"/>
              </a:ext>
            </a:extLst>
          </p:cNvPr>
          <p:cNvPicPr>
            <a:picLocks noChangeAspect="1"/>
          </p:cNvPicPr>
          <p:nvPr/>
        </p:nvPicPr>
        <p:blipFill>
          <a:blip r:embed="rId2"/>
          <a:srcRect r="7333" b="15338"/>
          <a:stretch/>
        </p:blipFill>
        <p:spPr>
          <a:xfrm>
            <a:off x="3979137" y="2659250"/>
            <a:ext cx="6310711" cy="769749"/>
          </a:xfrm>
          <a:prstGeom prst="rect">
            <a:avLst/>
          </a:prstGeom>
        </p:spPr>
      </p:pic>
      <p:pic>
        <p:nvPicPr>
          <p:cNvPr id="7" name="Picture 6">
            <a:extLst>
              <a:ext uri="{FF2B5EF4-FFF2-40B4-BE49-F238E27FC236}">
                <a16:creationId xmlns:a16="http://schemas.microsoft.com/office/drawing/2014/main" id="{40BFC1FF-47CB-5FCD-EC13-F7526BD00A5B}"/>
              </a:ext>
            </a:extLst>
          </p:cNvPr>
          <p:cNvPicPr>
            <a:picLocks noChangeAspect="1"/>
          </p:cNvPicPr>
          <p:nvPr/>
        </p:nvPicPr>
        <p:blipFill>
          <a:blip r:embed="rId3"/>
          <a:srcRect r="13239" b="11095"/>
          <a:stretch/>
        </p:blipFill>
        <p:spPr>
          <a:xfrm>
            <a:off x="3979137" y="3653839"/>
            <a:ext cx="3984319" cy="2442971"/>
          </a:xfrm>
          <a:prstGeom prst="rect">
            <a:avLst/>
          </a:prstGeom>
        </p:spPr>
      </p:pic>
    </p:spTree>
    <p:extLst>
      <p:ext uri="{BB962C8B-B14F-4D97-AF65-F5344CB8AC3E}">
        <p14:creationId xmlns:p14="http://schemas.microsoft.com/office/powerpoint/2010/main" val="1848921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9E21F-40AE-614E-4733-277CAA20ACFE}"/>
              </a:ext>
            </a:extLst>
          </p:cNvPr>
          <p:cNvSpPr>
            <a:spLocks noGrp="1"/>
          </p:cNvSpPr>
          <p:nvPr>
            <p:ph type="title"/>
          </p:nvPr>
        </p:nvSpPr>
        <p:spPr>
          <a:xfrm>
            <a:off x="646111" y="452718"/>
            <a:ext cx="9404723" cy="880323"/>
          </a:xfrm>
        </p:spPr>
        <p:txBody>
          <a:bodyPr/>
          <a:lstStyle/>
          <a:p>
            <a:r>
              <a:rPr lang="en-US" dirty="0"/>
              <a:t>CSS Colors, Fonts and Sizes</a:t>
            </a:r>
          </a:p>
        </p:txBody>
      </p:sp>
      <p:sp>
        <p:nvSpPr>
          <p:cNvPr id="3" name="Content Placeholder 2">
            <a:extLst>
              <a:ext uri="{FF2B5EF4-FFF2-40B4-BE49-F238E27FC236}">
                <a16:creationId xmlns:a16="http://schemas.microsoft.com/office/drawing/2014/main" id="{B4E43101-6ADE-B590-921E-02D7C438D156}"/>
              </a:ext>
            </a:extLst>
          </p:cNvPr>
          <p:cNvSpPr>
            <a:spLocks noGrp="1"/>
          </p:cNvSpPr>
          <p:nvPr>
            <p:ph idx="1"/>
          </p:nvPr>
        </p:nvSpPr>
        <p:spPr>
          <a:xfrm>
            <a:off x="918156" y="1200839"/>
            <a:ext cx="6620220" cy="4915358"/>
          </a:xfrm>
        </p:spPr>
        <p:txBody>
          <a:bodyPr/>
          <a:lstStyle/>
          <a:p>
            <a:r>
              <a:rPr lang="en-US" dirty="0"/>
              <a:t>We will demonstrate some commonly used CSS properties. You will learn more about them later.</a:t>
            </a:r>
          </a:p>
          <a:p>
            <a:endParaRPr lang="en-US" dirty="0"/>
          </a:p>
          <a:p>
            <a:r>
              <a:rPr lang="en-US" dirty="0"/>
              <a:t>The CSS color property defines the text color to be used.</a:t>
            </a:r>
          </a:p>
          <a:p>
            <a:r>
              <a:rPr lang="en-US" dirty="0"/>
              <a:t>The CSS font-family property defines the font to be used.</a:t>
            </a:r>
          </a:p>
          <a:p>
            <a:r>
              <a:rPr lang="en-US" dirty="0"/>
              <a:t>The CSS font-size property defines the text size to be used.</a:t>
            </a:r>
          </a:p>
        </p:txBody>
      </p:sp>
      <p:pic>
        <p:nvPicPr>
          <p:cNvPr id="5" name="Picture 4">
            <a:extLst>
              <a:ext uri="{FF2B5EF4-FFF2-40B4-BE49-F238E27FC236}">
                <a16:creationId xmlns:a16="http://schemas.microsoft.com/office/drawing/2014/main" id="{BED92484-BF3D-6DE6-12C4-F7C520F441A8}"/>
              </a:ext>
            </a:extLst>
          </p:cNvPr>
          <p:cNvPicPr>
            <a:picLocks noChangeAspect="1"/>
          </p:cNvPicPr>
          <p:nvPr/>
        </p:nvPicPr>
        <p:blipFill>
          <a:blip r:embed="rId2"/>
          <a:stretch>
            <a:fillRect/>
          </a:stretch>
        </p:blipFill>
        <p:spPr>
          <a:xfrm>
            <a:off x="7538376" y="1613712"/>
            <a:ext cx="4653624" cy="3630575"/>
          </a:xfrm>
          <a:prstGeom prst="rect">
            <a:avLst/>
          </a:prstGeom>
        </p:spPr>
      </p:pic>
    </p:spTree>
    <p:extLst>
      <p:ext uri="{BB962C8B-B14F-4D97-AF65-F5344CB8AC3E}">
        <p14:creationId xmlns:p14="http://schemas.microsoft.com/office/powerpoint/2010/main" val="747650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B0D3-B43B-05F9-2679-3AB50308473B}"/>
              </a:ext>
            </a:extLst>
          </p:cNvPr>
          <p:cNvSpPr>
            <a:spLocks noGrp="1"/>
          </p:cNvSpPr>
          <p:nvPr>
            <p:ph type="title"/>
          </p:nvPr>
        </p:nvSpPr>
        <p:spPr/>
        <p:txBody>
          <a:bodyPr/>
          <a:lstStyle/>
          <a:p>
            <a:r>
              <a:rPr lang="en-US" sz="2800" dirty="0"/>
              <a:t>CSS Padding</a:t>
            </a:r>
          </a:p>
        </p:txBody>
      </p:sp>
      <p:sp>
        <p:nvSpPr>
          <p:cNvPr id="3" name="Content Placeholder 2">
            <a:extLst>
              <a:ext uri="{FF2B5EF4-FFF2-40B4-BE49-F238E27FC236}">
                <a16:creationId xmlns:a16="http://schemas.microsoft.com/office/drawing/2014/main" id="{CBE1286F-6ADB-7815-68B9-D43663EFD06F}"/>
              </a:ext>
            </a:extLst>
          </p:cNvPr>
          <p:cNvSpPr>
            <a:spLocks noGrp="1"/>
          </p:cNvSpPr>
          <p:nvPr>
            <p:ph idx="1"/>
          </p:nvPr>
        </p:nvSpPr>
        <p:spPr>
          <a:xfrm>
            <a:off x="650005" y="1061046"/>
            <a:ext cx="10602111" cy="612314"/>
          </a:xfrm>
        </p:spPr>
        <p:txBody>
          <a:bodyPr>
            <a:normAutofit fontScale="92500"/>
          </a:bodyPr>
          <a:lstStyle/>
          <a:p>
            <a:pPr marL="0" indent="0">
              <a:buNone/>
            </a:pPr>
            <a:r>
              <a:rPr lang="en-US" dirty="0"/>
              <a:t>The CSS padding property defines a padding (space) between the text and the border.</a:t>
            </a:r>
          </a:p>
        </p:txBody>
      </p:sp>
      <p:pic>
        <p:nvPicPr>
          <p:cNvPr id="5" name="Picture 4">
            <a:extLst>
              <a:ext uri="{FF2B5EF4-FFF2-40B4-BE49-F238E27FC236}">
                <a16:creationId xmlns:a16="http://schemas.microsoft.com/office/drawing/2014/main" id="{1FDDAD18-B29C-0113-3695-5CBBBB2C09E8}"/>
              </a:ext>
            </a:extLst>
          </p:cNvPr>
          <p:cNvPicPr>
            <a:picLocks noChangeAspect="1"/>
          </p:cNvPicPr>
          <p:nvPr/>
        </p:nvPicPr>
        <p:blipFill>
          <a:blip r:embed="rId2"/>
          <a:srcRect r="11765" b="13875"/>
          <a:stretch/>
        </p:blipFill>
        <p:spPr>
          <a:xfrm>
            <a:off x="2612146" y="1673360"/>
            <a:ext cx="4504752" cy="1310074"/>
          </a:xfrm>
          <a:prstGeom prst="rect">
            <a:avLst/>
          </a:prstGeom>
        </p:spPr>
      </p:pic>
      <p:sp>
        <p:nvSpPr>
          <p:cNvPr id="9" name="TextBox 8">
            <a:extLst>
              <a:ext uri="{FF2B5EF4-FFF2-40B4-BE49-F238E27FC236}">
                <a16:creationId xmlns:a16="http://schemas.microsoft.com/office/drawing/2014/main" id="{4E5AEF27-EA10-2455-7724-E3236FA45FC4}"/>
              </a:ext>
            </a:extLst>
          </p:cNvPr>
          <p:cNvSpPr txBox="1"/>
          <p:nvPr/>
        </p:nvSpPr>
        <p:spPr>
          <a:xfrm>
            <a:off x="646111" y="3084817"/>
            <a:ext cx="6097836" cy="523220"/>
          </a:xfrm>
          <a:prstGeom prst="rect">
            <a:avLst/>
          </a:prstGeom>
          <a:noFill/>
        </p:spPr>
        <p:txBody>
          <a:bodyPr wrap="square">
            <a:spAutoFit/>
          </a:bodyPr>
          <a:lstStyle/>
          <a:p>
            <a:r>
              <a:rPr lang="en-US" sz="2800" dirty="0"/>
              <a:t>CSS Margin</a:t>
            </a:r>
          </a:p>
        </p:txBody>
      </p:sp>
      <p:sp>
        <p:nvSpPr>
          <p:cNvPr id="11" name="TextBox 10">
            <a:extLst>
              <a:ext uri="{FF2B5EF4-FFF2-40B4-BE49-F238E27FC236}">
                <a16:creationId xmlns:a16="http://schemas.microsoft.com/office/drawing/2014/main" id="{9D14961B-FF04-0DDC-F6F4-90F3D6040EEA}"/>
              </a:ext>
            </a:extLst>
          </p:cNvPr>
          <p:cNvSpPr txBox="1"/>
          <p:nvPr/>
        </p:nvSpPr>
        <p:spPr>
          <a:xfrm>
            <a:off x="646111" y="3709420"/>
            <a:ext cx="9404722" cy="369332"/>
          </a:xfrm>
          <a:prstGeom prst="rect">
            <a:avLst/>
          </a:prstGeom>
          <a:noFill/>
        </p:spPr>
        <p:txBody>
          <a:bodyPr wrap="square">
            <a:spAutoFit/>
          </a:bodyPr>
          <a:lstStyle/>
          <a:p>
            <a:r>
              <a:rPr lang="en-US" dirty="0"/>
              <a:t>The CSS margin property defines a margin (space) outside the border.</a:t>
            </a:r>
          </a:p>
        </p:txBody>
      </p:sp>
      <p:pic>
        <p:nvPicPr>
          <p:cNvPr id="13" name="Picture 12">
            <a:extLst>
              <a:ext uri="{FF2B5EF4-FFF2-40B4-BE49-F238E27FC236}">
                <a16:creationId xmlns:a16="http://schemas.microsoft.com/office/drawing/2014/main" id="{2A957818-6B78-98BE-4943-B95674238BE8}"/>
              </a:ext>
            </a:extLst>
          </p:cNvPr>
          <p:cNvPicPr>
            <a:picLocks noChangeAspect="1"/>
          </p:cNvPicPr>
          <p:nvPr/>
        </p:nvPicPr>
        <p:blipFill>
          <a:blip r:embed="rId3"/>
          <a:srcRect r="7931" b="18761"/>
          <a:stretch/>
        </p:blipFill>
        <p:spPr>
          <a:xfrm>
            <a:off x="6828844" y="4078752"/>
            <a:ext cx="3786130" cy="1210593"/>
          </a:xfrm>
          <a:prstGeom prst="rect">
            <a:avLst/>
          </a:prstGeom>
        </p:spPr>
      </p:pic>
    </p:spTree>
    <p:extLst>
      <p:ext uri="{BB962C8B-B14F-4D97-AF65-F5344CB8AC3E}">
        <p14:creationId xmlns:p14="http://schemas.microsoft.com/office/powerpoint/2010/main" val="8969562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AD1CE-7382-B1AE-8D7E-AF18E68D4C5F}"/>
              </a:ext>
            </a:extLst>
          </p:cNvPr>
          <p:cNvSpPr>
            <a:spLocks noGrp="1"/>
          </p:cNvSpPr>
          <p:nvPr>
            <p:ph type="title"/>
          </p:nvPr>
        </p:nvSpPr>
        <p:spPr/>
        <p:txBody>
          <a:bodyPr/>
          <a:lstStyle/>
          <a:p>
            <a:r>
              <a:rPr lang="en-US" dirty="0"/>
              <a:t>HTML class Attribute</a:t>
            </a:r>
          </a:p>
        </p:txBody>
      </p:sp>
      <p:sp>
        <p:nvSpPr>
          <p:cNvPr id="3" name="Content Placeholder 2">
            <a:extLst>
              <a:ext uri="{FF2B5EF4-FFF2-40B4-BE49-F238E27FC236}">
                <a16:creationId xmlns:a16="http://schemas.microsoft.com/office/drawing/2014/main" id="{40AE4F94-A2F1-4A5A-5FDE-E40AECA116F5}"/>
              </a:ext>
            </a:extLst>
          </p:cNvPr>
          <p:cNvSpPr>
            <a:spLocks noGrp="1"/>
          </p:cNvSpPr>
          <p:nvPr>
            <p:ph idx="1"/>
          </p:nvPr>
        </p:nvSpPr>
        <p:spPr>
          <a:xfrm>
            <a:off x="739756" y="1535125"/>
            <a:ext cx="4361053" cy="4195481"/>
          </a:xfrm>
        </p:spPr>
        <p:txBody>
          <a:bodyPr/>
          <a:lstStyle/>
          <a:p>
            <a:r>
              <a:rPr lang="en-US" dirty="0"/>
              <a:t>The HTML class attribute is used to specify a class for an HTML element.</a:t>
            </a:r>
          </a:p>
          <a:p>
            <a:endParaRPr lang="en-US" dirty="0"/>
          </a:p>
          <a:p>
            <a:r>
              <a:rPr lang="en-US" dirty="0"/>
              <a:t>Multiple HTML elements can share the same class.</a:t>
            </a:r>
          </a:p>
        </p:txBody>
      </p:sp>
      <p:pic>
        <p:nvPicPr>
          <p:cNvPr id="5" name="Picture 4">
            <a:extLst>
              <a:ext uri="{FF2B5EF4-FFF2-40B4-BE49-F238E27FC236}">
                <a16:creationId xmlns:a16="http://schemas.microsoft.com/office/drawing/2014/main" id="{96420E3F-A40D-FE41-D2C6-AF7EEBC5F863}"/>
              </a:ext>
            </a:extLst>
          </p:cNvPr>
          <p:cNvPicPr>
            <a:picLocks noChangeAspect="1"/>
          </p:cNvPicPr>
          <p:nvPr/>
        </p:nvPicPr>
        <p:blipFill>
          <a:blip r:embed="rId2"/>
          <a:srcRect r="13803" b="2543"/>
          <a:stretch/>
        </p:blipFill>
        <p:spPr>
          <a:xfrm>
            <a:off x="5188945" y="1449869"/>
            <a:ext cx="6742323" cy="5378176"/>
          </a:xfrm>
          <a:prstGeom prst="rect">
            <a:avLst/>
          </a:prstGeom>
        </p:spPr>
      </p:pic>
    </p:spTree>
    <p:extLst>
      <p:ext uri="{BB962C8B-B14F-4D97-AF65-F5344CB8AC3E}">
        <p14:creationId xmlns:p14="http://schemas.microsoft.com/office/powerpoint/2010/main" val="27575782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2F6AB-5CFF-F8F3-86BC-9FAF862AEBB8}"/>
              </a:ext>
            </a:extLst>
          </p:cNvPr>
          <p:cNvSpPr>
            <a:spLocks noGrp="1"/>
          </p:cNvSpPr>
          <p:nvPr>
            <p:ph type="title"/>
          </p:nvPr>
        </p:nvSpPr>
        <p:spPr>
          <a:xfrm>
            <a:off x="646111" y="452717"/>
            <a:ext cx="10282622" cy="1772689"/>
          </a:xfrm>
        </p:spPr>
        <p:txBody>
          <a:bodyPr/>
          <a:lstStyle/>
          <a:p>
            <a:r>
              <a:rPr lang="en-US" dirty="0"/>
              <a:t>Task: </a:t>
            </a:r>
            <a:r>
              <a:rPr lang="en-US" sz="2400" dirty="0"/>
              <a:t>Create an HTML page with at least three headings, and use a CSS class to give all headings a colored background and white text.</a:t>
            </a:r>
            <a:endParaRPr lang="en-US" sz="1400" dirty="0"/>
          </a:p>
        </p:txBody>
      </p:sp>
      <p:pic>
        <p:nvPicPr>
          <p:cNvPr id="5" name="Content Placeholder 4">
            <a:extLst>
              <a:ext uri="{FF2B5EF4-FFF2-40B4-BE49-F238E27FC236}">
                <a16:creationId xmlns:a16="http://schemas.microsoft.com/office/drawing/2014/main" id="{280A877B-D672-5299-8A3A-5B439FAA642F}"/>
              </a:ext>
            </a:extLst>
          </p:cNvPr>
          <p:cNvPicPr>
            <a:picLocks noGrp="1" noChangeAspect="1"/>
          </p:cNvPicPr>
          <p:nvPr>
            <p:ph idx="1"/>
          </p:nvPr>
        </p:nvPicPr>
        <p:blipFill>
          <a:blip r:embed="rId2"/>
          <a:stretch>
            <a:fillRect/>
          </a:stretch>
        </p:blipFill>
        <p:spPr>
          <a:xfrm>
            <a:off x="2489581" y="1581537"/>
            <a:ext cx="6125609" cy="4823746"/>
          </a:xfrm>
        </p:spPr>
      </p:pic>
    </p:spTree>
    <p:extLst>
      <p:ext uri="{BB962C8B-B14F-4D97-AF65-F5344CB8AC3E}">
        <p14:creationId xmlns:p14="http://schemas.microsoft.com/office/powerpoint/2010/main" val="15935826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22606-0013-5B1D-69F9-C38C4D74EEFA}"/>
              </a:ext>
            </a:extLst>
          </p:cNvPr>
          <p:cNvSpPr>
            <a:spLocks noGrp="1"/>
          </p:cNvSpPr>
          <p:nvPr>
            <p:ph type="title"/>
          </p:nvPr>
        </p:nvSpPr>
        <p:spPr/>
        <p:txBody>
          <a:bodyPr/>
          <a:lstStyle/>
          <a:p>
            <a:r>
              <a:rPr lang="en-US" dirty="0"/>
              <a:t>HTML id Attribute</a:t>
            </a:r>
          </a:p>
        </p:txBody>
      </p:sp>
      <p:sp>
        <p:nvSpPr>
          <p:cNvPr id="3" name="Content Placeholder 2">
            <a:extLst>
              <a:ext uri="{FF2B5EF4-FFF2-40B4-BE49-F238E27FC236}">
                <a16:creationId xmlns:a16="http://schemas.microsoft.com/office/drawing/2014/main" id="{53989070-5C65-3260-EF75-6646B61A8C90}"/>
              </a:ext>
            </a:extLst>
          </p:cNvPr>
          <p:cNvSpPr>
            <a:spLocks noGrp="1"/>
          </p:cNvSpPr>
          <p:nvPr>
            <p:ph idx="1"/>
          </p:nvPr>
        </p:nvSpPr>
        <p:spPr>
          <a:xfrm>
            <a:off x="646111" y="1274128"/>
            <a:ext cx="8201249" cy="5213739"/>
          </a:xfrm>
        </p:spPr>
        <p:txBody>
          <a:bodyPr>
            <a:normAutofit lnSpcReduction="10000"/>
          </a:bodyPr>
          <a:lstStyle/>
          <a:p>
            <a:r>
              <a:rPr lang="en-US" dirty="0"/>
              <a:t>The id attribute specifies a unique id for an HTML element. The value of the id attribute must be unique within the HTML document.</a:t>
            </a:r>
          </a:p>
          <a:p>
            <a:endParaRPr lang="en-US" dirty="0"/>
          </a:p>
          <a:p>
            <a:r>
              <a:rPr lang="en-US" dirty="0"/>
              <a:t>The id attribute is used to point to a specific style declaration in a style sheet. It is also used by JavaScript to access and manipulate the element with the specific id.</a:t>
            </a:r>
          </a:p>
          <a:p>
            <a:endParaRPr lang="en-US" dirty="0"/>
          </a:p>
          <a:p>
            <a:r>
              <a:rPr lang="en-US" dirty="0"/>
              <a:t>The syntax for id is: write a hash character (#), followed by an id name. Then, define the CSS properties within curly braces {}.</a:t>
            </a:r>
          </a:p>
          <a:p>
            <a:endParaRPr lang="en-US" dirty="0"/>
          </a:p>
          <a:p>
            <a:r>
              <a:rPr lang="en-US" dirty="0"/>
              <a:t>In the following example we have an &lt;h1&gt; element that points to the id name "</a:t>
            </a:r>
            <a:r>
              <a:rPr lang="en-US" dirty="0" err="1"/>
              <a:t>myHeader</a:t>
            </a:r>
            <a:r>
              <a:rPr lang="en-US" dirty="0"/>
              <a:t>". This &lt;h1&gt; element will be styled according to the #myHeader style definition in the head section:</a:t>
            </a:r>
          </a:p>
        </p:txBody>
      </p:sp>
      <p:pic>
        <p:nvPicPr>
          <p:cNvPr id="5" name="Picture 4">
            <a:extLst>
              <a:ext uri="{FF2B5EF4-FFF2-40B4-BE49-F238E27FC236}">
                <a16:creationId xmlns:a16="http://schemas.microsoft.com/office/drawing/2014/main" id="{7F6206BB-7A8A-B6C5-5BE3-0363B63B3B7B}"/>
              </a:ext>
            </a:extLst>
          </p:cNvPr>
          <p:cNvPicPr>
            <a:picLocks noChangeAspect="1"/>
          </p:cNvPicPr>
          <p:nvPr/>
        </p:nvPicPr>
        <p:blipFill>
          <a:blip r:embed="rId2"/>
          <a:srcRect t="4154" r="25501" b="4618"/>
          <a:stretch/>
        </p:blipFill>
        <p:spPr>
          <a:xfrm>
            <a:off x="8681291" y="1581533"/>
            <a:ext cx="3543760" cy="4642998"/>
          </a:xfrm>
          <a:prstGeom prst="rect">
            <a:avLst/>
          </a:prstGeom>
        </p:spPr>
      </p:pic>
    </p:spTree>
    <p:extLst>
      <p:ext uri="{BB962C8B-B14F-4D97-AF65-F5344CB8AC3E}">
        <p14:creationId xmlns:p14="http://schemas.microsoft.com/office/powerpoint/2010/main" val="352546309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229</TotalTime>
  <Words>1050</Words>
  <Application>Microsoft Office PowerPoint</Application>
  <PresentationFormat>Widescreen</PresentationFormat>
  <Paragraphs>96</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Arial Unicode MS</vt:lpstr>
      <vt:lpstr>Century Gothic</vt:lpstr>
      <vt:lpstr>Wingdings 3</vt:lpstr>
      <vt:lpstr>Ion</vt:lpstr>
      <vt:lpstr>HTML Styles</vt:lpstr>
      <vt:lpstr>HTML Styles</vt:lpstr>
      <vt:lpstr>Background Color</vt:lpstr>
      <vt:lpstr>HTML Colors</vt:lpstr>
      <vt:lpstr>HTML Colors</vt:lpstr>
      <vt:lpstr>HTML Colors</vt:lpstr>
      <vt:lpstr>HTML HEX Colors</vt:lpstr>
      <vt:lpstr>HTML Links</vt:lpstr>
      <vt:lpstr>Absolute URLs vs. Relative URLs</vt:lpstr>
      <vt:lpstr>Use an Image as a Link</vt:lpstr>
      <vt:lpstr>Introduction to CSS:</vt:lpstr>
      <vt:lpstr>Types of CSS</vt:lpstr>
      <vt:lpstr>Inline CSS</vt:lpstr>
      <vt:lpstr>Internal CSS</vt:lpstr>
      <vt:lpstr>External CSS</vt:lpstr>
      <vt:lpstr>CSS Colors, Fonts and Sizes</vt:lpstr>
      <vt:lpstr>CSS Padding</vt:lpstr>
      <vt:lpstr>HTML class Attribute</vt:lpstr>
      <vt:lpstr>Task: Create an HTML page with at least three headings, and use a CSS class to give all headings a colored background and white text.</vt:lpstr>
      <vt:lpstr>HTML id Attribute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Manal Atif</dc:creator>
  <cp:lastModifiedBy>Manal Atif</cp:lastModifiedBy>
  <cp:revision>35</cp:revision>
  <dcterms:created xsi:type="dcterms:W3CDTF">2026-02-17T15:27:42Z</dcterms:created>
  <dcterms:modified xsi:type="dcterms:W3CDTF">2026-02-18T11:13:08Z</dcterms:modified>
</cp:coreProperties>
</file>