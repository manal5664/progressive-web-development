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9" r:id="rId3"/>
    <p:sldId id="256" r:id="rId4"/>
    <p:sldId id="270" r:id="rId5"/>
    <p:sldId id="268" r:id="rId6"/>
    <p:sldId id="271" r:id="rId7"/>
    <p:sldId id="272" r:id="rId8"/>
    <p:sldId id="273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7" d="100"/>
          <a:sy n="87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54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37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5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5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3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21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15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0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27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97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7214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29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3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49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211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56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BC75CD5-D186-4538-9B74-D38DC39520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14AFE-AFC9-4AF4-A4F1-4195D48A5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22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8F916-6A3A-F43C-1BFA-12DC27EF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Bookmarks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F1194-E5C4-159D-2DA2-15BBD12E7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31260"/>
            <a:ext cx="8949581" cy="3857686"/>
          </a:xfrm>
        </p:spPr>
        <p:txBody>
          <a:bodyPr/>
          <a:lstStyle/>
          <a:p>
            <a:r>
              <a:rPr lang="en-US" dirty="0"/>
              <a:t>Bookmarks can be useful if a web page is very long.</a:t>
            </a:r>
          </a:p>
          <a:p>
            <a:r>
              <a:rPr lang="en-US" dirty="0"/>
              <a:t>To create a bookmark - first create the bookmark, then add a link to it.</a:t>
            </a:r>
          </a:p>
          <a:p>
            <a:r>
              <a:rPr lang="en-US" dirty="0"/>
              <a:t>When the link is clicked, the page will scroll down or up to the location with the bookmark.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01BDE-275B-D19D-8A88-EDC953A4E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580" y="3260102"/>
            <a:ext cx="8904254" cy="335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35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7DB5-2FD1-FF10-5ECE-3FBFD0AA4B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Practical Task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9F291-77A1-AE87-2725-A5D76FC14C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bookmark</a:t>
            </a:r>
          </a:p>
        </p:txBody>
      </p:sp>
    </p:spTree>
    <p:extLst>
      <p:ext uri="{BB962C8B-B14F-4D97-AF65-F5344CB8AC3E}">
        <p14:creationId xmlns:p14="http://schemas.microsoft.com/office/powerpoint/2010/main" val="344913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5A3708-F32E-B802-0758-345D3A981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3117" cy="47526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C249A3-384C-E2C1-7796-EA11F4076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006" y="1"/>
            <a:ext cx="6060240" cy="47526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543CD8-EA1A-368A-0553-89090F5D7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888567"/>
            <a:ext cx="5483117" cy="18757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00A436-74B5-1A1C-3FBB-D37D6C540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006" y="4888567"/>
            <a:ext cx="6060241" cy="187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593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337D-613D-5637-4B2F-74265A1484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Tables in 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CE9C0-2549-64B8-AEDC-A9FE88834827}"/>
              </a:ext>
            </a:extLst>
          </p:cNvPr>
          <p:cNvSpPr txBox="1"/>
          <p:nvPr/>
        </p:nvSpPr>
        <p:spPr>
          <a:xfrm>
            <a:off x="1286219" y="4777381"/>
            <a:ext cx="609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HTML tables allow web developers to arrange data into rows and columns.</a:t>
            </a:r>
          </a:p>
        </p:txBody>
      </p:sp>
    </p:spTree>
    <p:extLst>
      <p:ext uri="{BB962C8B-B14F-4D97-AF65-F5344CB8AC3E}">
        <p14:creationId xmlns:p14="http://schemas.microsoft.com/office/powerpoint/2010/main" val="70528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00F3-391E-CF76-056A-B4972FBC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an HTML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95658-75D8-294F-59C1-A966F31C9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212549"/>
            <a:ext cx="8946541" cy="4195481"/>
          </a:xfrm>
        </p:spPr>
        <p:txBody>
          <a:bodyPr/>
          <a:lstStyle/>
          <a:p>
            <a:r>
              <a:rPr lang="en-US" dirty="0"/>
              <a:t>A table in HTML consists of table cells inside rows and columns.</a:t>
            </a:r>
          </a:p>
          <a:p>
            <a:r>
              <a:rPr lang="en-US" dirty="0"/>
              <a:t>Table </a:t>
            </a:r>
            <a:r>
              <a:rPr lang="en-US" dirty="0" err="1"/>
              <a:t>Cells:Each</a:t>
            </a:r>
            <a:r>
              <a:rPr lang="en-US" dirty="0"/>
              <a:t> table cell is defined by a &lt;td&gt; and a &lt;/td&gt; tag. </a:t>
            </a:r>
          </a:p>
          <a:p>
            <a:r>
              <a:rPr lang="en-US" dirty="0"/>
              <a:t>td stands for table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C5C00F-E947-C546-6BDE-2E61BEBF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66" y="2613079"/>
            <a:ext cx="3995357" cy="26526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0B6AEB-7F45-8C9E-A694-30A7825EC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381" y="3112550"/>
            <a:ext cx="5833293" cy="10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192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7972-7EBF-1E98-78F2-D62F20F4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20A40-40A6-F17D-CF74-C5435A507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31259"/>
            <a:ext cx="8946541" cy="4195481"/>
          </a:xfrm>
        </p:spPr>
        <p:txBody>
          <a:bodyPr/>
          <a:lstStyle/>
          <a:p>
            <a:r>
              <a:rPr lang="en-US" dirty="0"/>
              <a:t>Each table row starts with a &lt;tr&gt; and ends with a &lt;/tr&gt; tag.</a:t>
            </a:r>
          </a:p>
          <a:p>
            <a:endParaRPr lang="en-US" dirty="0"/>
          </a:p>
          <a:p>
            <a:r>
              <a:rPr lang="en-US" dirty="0"/>
              <a:t>tr stands for table row.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734B7-ABAA-42CA-03AD-0230B8EF9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667" y="1838464"/>
            <a:ext cx="4054839" cy="31810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81B57F-D4C7-774A-8E15-F49E4FABE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637" y="5268140"/>
            <a:ext cx="58007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80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BFF1-2216-F952-6702-C5C86B33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Headers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3A2C8-47B2-99EB-ADCD-3E6DEAA5F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726" y="1288974"/>
            <a:ext cx="9146470" cy="4860274"/>
          </a:xfrm>
        </p:spPr>
        <p:txBody>
          <a:bodyPr/>
          <a:lstStyle/>
          <a:p>
            <a:r>
              <a:rPr lang="en-US" dirty="0"/>
              <a:t>Sometimes you want your cells to be table header cells. In those cases use the &lt;</a:t>
            </a:r>
            <a:r>
              <a:rPr lang="en-US" dirty="0" err="1"/>
              <a:t>th</a:t>
            </a:r>
            <a:r>
              <a:rPr lang="en-US" dirty="0"/>
              <a:t>&gt; tag instead of the &lt;td&gt; tag.</a:t>
            </a:r>
          </a:p>
          <a:p>
            <a:r>
              <a:rPr lang="en-US" dirty="0" err="1"/>
              <a:t>th</a:t>
            </a:r>
            <a:r>
              <a:rPr lang="en-US" dirty="0"/>
              <a:t> stands for table header.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56D417-FC00-A0E4-D855-E747BDE9D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06" y="1969798"/>
            <a:ext cx="5898099" cy="486027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12A71B-5805-48F8-8A9E-0F6EED4DA4EA}"/>
              </a:ext>
            </a:extLst>
          </p:cNvPr>
          <p:cNvSpPr/>
          <p:nvPr/>
        </p:nvSpPr>
        <p:spPr>
          <a:xfrm>
            <a:off x="4891489" y="2467778"/>
            <a:ext cx="2677099" cy="96122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2D3058-A937-B3A2-BD81-2F5D4FE1B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86" y="2571315"/>
            <a:ext cx="3598642" cy="182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37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62104-7087-241F-011F-EED842647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Table Tags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02152-1428-C7D6-B589-D8DACA50B1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67"/>
          <a:stretch/>
        </p:blipFill>
        <p:spPr>
          <a:xfrm>
            <a:off x="1125345" y="1394890"/>
            <a:ext cx="8188944" cy="518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573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EE4E7-66D1-3C02-8688-0B93EF7A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59137"/>
          </a:xfrm>
        </p:spPr>
        <p:txBody>
          <a:bodyPr/>
          <a:lstStyle/>
          <a:p>
            <a:r>
              <a:rPr lang="en-US" dirty="0"/>
              <a:t>HTML Table Borders</a:t>
            </a:r>
            <a:br>
              <a:rPr lang="en-US" dirty="0"/>
            </a:br>
            <a:r>
              <a:rPr lang="en-US" sz="2000" dirty="0"/>
              <a:t>HTML tables can have borders of different styles and shapes.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D12F-E1E3-313A-49B8-85E285089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612243"/>
            <a:ext cx="5590417" cy="4876692"/>
          </a:xfrm>
        </p:spPr>
        <p:txBody>
          <a:bodyPr>
            <a:normAutofit/>
          </a:bodyPr>
          <a:lstStyle/>
          <a:p>
            <a:r>
              <a:rPr lang="en-US" b="1" dirty="0"/>
              <a:t>How To Add a Border</a:t>
            </a:r>
          </a:p>
          <a:p>
            <a:r>
              <a:rPr lang="en-US" dirty="0"/>
              <a:t>To add a border, use the CSS border property on table, </a:t>
            </a:r>
            <a:r>
              <a:rPr lang="en-US" dirty="0" err="1"/>
              <a:t>th</a:t>
            </a:r>
            <a:r>
              <a:rPr lang="en-US" dirty="0"/>
              <a:t>, and td elements:</a:t>
            </a:r>
          </a:p>
          <a:p>
            <a:r>
              <a:rPr lang="en-US" b="1" dirty="0"/>
              <a:t>Collapsed Table Borders</a:t>
            </a:r>
          </a:p>
          <a:p>
            <a:r>
              <a:rPr lang="en-US" dirty="0"/>
              <a:t>To avoid having double borders like in the example above, set the CSS border-collapse property to collapse.</a:t>
            </a:r>
          </a:p>
          <a:p>
            <a:r>
              <a:rPr lang="en-US" b="1" dirty="0"/>
              <a:t>Style Table Borders</a:t>
            </a:r>
          </a:p>
          <a:p>
            <a:r>
              <a:rPr lang="en-US" dirty="0"/>
              <a:t>If you set a background color of each cell, and give the border a white color (the same as the document background), you get the impression of an invisible border: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97846A-AADE-A03F-EB88-A9534C966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104" y="1612243"/>
            <a:ext cx="3354636" cy="13744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9E4D4E-30BA-C9A3-5ECD-2E4B5C975C16}"/>
              </a:ext>
            </a:extLst>
          </p:cNvPr>
          <p:cNvSpPr txBox="1"/>
          <p:nvPr/>
        </p:nvSpPr>
        <p:spPr>
          <a:xfrm>
            <a:off x="868954" y="3084977"/>
            <a:ext cx="6535757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7D8E67-54A3-0B86-FD16-6B7333840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582" y="3238320"/>
            <a:ext cx="3503826" cy="12752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F468E0-320B-703C-DDF8-BDFEA324C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132" y="4788556"/>
            <a:ext cx="4152213" cy="136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0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C3E5E-CEDF-0A62-EEB0-9E260C6F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44206"/>
            <a:ext cx="9404723" cy="1400530"/>
          </a:xfrm>
        </p:spPr>
        <p:txBody>
          <a:bodyPr/>
          <a:lstStyle/>
          <a:p>
            <a:r>
              <a:rPr lang="en-US" dirty="0"/>
              <a:t>HTML Table Sizes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69A4B-7C17-2FEB-F68E-0723E0EB0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33804"/>
            <a:ext cx="11406342" cy="5267845"/>
          </a:xfrm>
        </p:spPr>
        <p:txBody>
          <a:bodyPr/>
          <a:lstStyle/>
          <a:p>
            <a:r>
              <a:rPr lang="en-US" dirty="0"/>
              <a:t>HTML tables can have different sizes for each column, row or the entire table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HTML Table Width</a:t>
            </a:r>
          </a:p>
          <a:p>
            <a:r>
              <a:rPr lang="en-US" dirty="0"/>
              <a:t>To set the width of a table, add the style attribute to the &lt;table&gt; element.</a:t>
            </a:r>
          </a:p>
          <a:p>
            <a:pPr marL="0" indent="0">
              <a:buNone/>
            </a:pPr>
            <a:r>
              <a:rPr lang="en-US" dirty="0"/>
              <a:t>	&lt;table style="width:100%“&gt;</a:t>
            </a:r>
          </a:p>
          <a:p>
            <a:r>
              <a:rPr lang="en-US" b="1" dirty="0"/>
              <a:t>HTML Table Column Width</a:t>
            </a:r>
          </a:p>
          <a:p>
            <a:pPr marL="0" indent="0">
              <a:buNone/>
            </a:pPr>
            <a:r>
              <a:rPr lang="en-US" dirty="0"/>
              <a:t>To set the size of a specific column, add the style attribute on a &lt;</a:t>
            </a:r>
            <a:r>
              <a:rPr lang="en-US" dirty="0" err="1"/>
              <a:t>th</a:t>
            </a:r>
            <a:r>
              <a:rPr lang="en-US" dirty="0"/>
              <a:t>&gt; or &lt;td&gt; element</a:t>
            </a:r>
          </a:p>
          <a:p>
            <a:pPr marL="0" indent="0">
              <a:buNone/>
            </a:pPr>
            <a:r>
              <a:rPr lang="en-US" dirty="0"/>
              <a:t>	&lt;</a:t>
            </a:r>
            <a:r>
              <a:rPr lang="en-US" dirty="0" err="1"/>
              <a:t>th</a:t>
            </a:r>
            <a:r>
              <a:rPr lang="en-US" dirty="0"/>
              <a:t> style="width:70%"&gt;</a:t>
            </a:r>
            <a:r>
              <a:rPr lang="en-US" dirty="0" err="1"/>
              <a:t>Firstname</a:t>
            </a:r>
            <a:r>
              <a:rPr lang="en-US" dirty="0"/>
              <a:t>&lt;/</a:t>
            </a:r>
            <a:r>
              <a:rPr lang="en-US" dirty="0" err="1"/>
              <a:t>th</a:t>
            </a:r>
            <a:r>
              <a:rPr lang="en-US" dirty="0"/>
              <a:t>&gt;</a:t>
            </a:r>
          </a:p>
          <a:p>
            <a:r>
              <a:rPr lang="en-US" b="1" dirty="0"/>
              <a:t>HTML Table Row Height</a:t>
            </a:r>
          </a:p>
          <a:p>
            <a:pPr marL="0" indent="0">
              <a:buNone/>
            </a:pPr>
            <a:r>
              <a:rPr lang="en-US" dirty="0"/>
              <a:t>	&lt;tr style="height:200px"&gt;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77742-5F87-855B-0771-0D008F16D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042" y="1544736"/>
            <a:ext cx="8084814" cy="108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22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975A-83DF-978F-7ECE-5C0B01418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Table Padding &amp; Spacing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A5081-E8F1-226B-6D9B-21843A17B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79" y="1232107"/>
            <a:ext cx="8946541" cy="4195481"/>
          </a:xfrm>
        </p:spPr>
        <p:txBody>
          <a:bodyPr/>
          <a:lstStyle/>
          <a:p>
            <a:r>
              <a:rPr lang="en-US" dirty="0"/>
              <a:t>HTML tables can adjust the padding inside the cells, and also the space between the cells.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C5C1A-B5BE-3FC5-4A51-1BCF5602DD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48" r="3542" b="4825"/>
          <a:stretch/>
        </p:blipFill>
        <p:spPr>
          <a:xfrm>
            <a:off x="6967190" y="1652529"/>
            <a:ext cx="4199722" cy="4752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E37D20-110E-306B-05A7-8218E9762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88" y="1962774"/>
            <a:ext cx="3785265" cy="18787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C85E83-3A43-E0DB-8F85-4C7A7B528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88" y="4037719"/>
            <a:ext cx="4538355" cy="18787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1E52A71-4E33-F932-C437-616E158F1B53}"/>
              </a:ext>
            </a:extLst>
          </p:cNvPr>
          <p:cNvSpPr/>
          <p:nvPr/>
        </p:nvSpPr>
        <p:spPr>
          <a:xfrm>
            <a:off x="1277957" y="5281279"/>
            <a:ext cx="3316077" cy="34461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78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4DE93-36EA-BDD2-3149-35FB882B8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Table Colspan &amp; </a:t>
            </a:r>
            <a:r>
              <a:rPr lang="en-US" dirty="0" err="1"/>
              <a:t>Rowspan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152C1-D069-90F3-CB49-873B2C090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55" y="1331259"/>
            <a:ext cx="5640945" cy="4195481"/>
          </a:xfrm>
        </p:spPr>
        <p:txBody>
          <a:bodyPr/>
          <a:lstStyle/>
          <a:p>
            <a:r>
              <a:rPr lang="en-US" dirty="0"/>
              <a:t>Colspan</a:t>
            </a:r>
          </a:p>
          <a:p>
            <a:r>
              <a:rPr lang="en-US" dirty="0"/>
              <a:t>To make a cell span over multiple columns, use the colspan attribute: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&lt;</a:t>
            </a:r>
            <a:r>
              <a:rPr lang="en-US" dirty="0" err="1"/>
              <a:t>th</a:t>
            </a:r>
            <a:r>
              <a:rPr lang="en-US" dirty="0"/>
              <a:t> colspan="2"&gt;Name&lt;/</a:t>
            </a:r>
            <a:r>
              <a:rPr lang="en-US" dirty="0" err="1"/>
              <a:t>th</a:t>
            </a:r>
            <a:r>
              <a:rPr lang="en-US" dirty="0"/>
              <a:t>&gt;</a:t>
            </a:r>
          </a:p>
          <a:p>
            <a:r>
              <a:rPr lang="en-US" dirty="0" err="1"/>
              <a:t>Rowspan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CA710-67AF-F5B4-7D48-AFF0E3115D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737"/>
          <a:stretch/>
        </p:blipFill>
        <p:spPr>
          <a:xfrm>
            <a:off x="5631176" y="1292609"/>
            <a:ext cx="3181744" cy="21337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DECC44-8C2C-EDC4-EB5A-BC0846C5E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407" y="4266266"/>
            <a:ext cx="6253878" cy="188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510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A6F58-0F0E-1763-EDAA-DF06CC179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Block-level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431FF-B042-7137-5215-E10A15F01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31259"/>
            <a:ext cx="10624144" cy="5074023"/>
          </a:xfrm>
        </p:spPr>
        <p:txBody>
          <a:bodyPr>
            <a:normAutofit/>
          </a:bodyPr>
          <a:lstStyle/>
          <a:p>
            <a:r>
              <a:rPr lang="en-US" dirty="0"/>
              <a:t>A block-level element always starts on a new line, and the browsers automatically add some space (a margin) before and after the element.</a:t>
            </a:r>
          </a:p>
          <a:p>
            <a:endParaRPr lang="en-US" dirty="0"/>
          </a:p>
          <a:p>
            <a:r>
              <a:rPr lang="en-US" dirty="0"/>
              <a:t>A block-level element always takes up the full width available (stretches out to the left and right as far as it can).</a:t>
            </a:r>
          </a:p>
          <a:p>
            <a:endParaRPr lang="en-US" dirty="0"/>
          </a:p>
          <a:p>
            <a:r>
              <a:rPr lang="en-US" dirty="0"/>
              <a:t>Two commonly used block elements are: &lt;p&gt; and &lt;div&gt;.</a:t>
            </a:r>
          </a:p>
          <a:p>
            <a:endParaRPr lang="en-US" dirty="0"/>
          </a:p>
          <a:p>
            <a:r>
              <a:rPr lang="en-US" dirty="0"/>
              <a:t>The &lt;p&gt; element defines a paragraph in an HTML document.</a:t>
            </a:r>
          </a:p>
          <a:p>
            <a:endParaRPr lang="en-US" dirty="0"/>
          </a:p>
          <a:p>
            <a:r>
              <a:rPr lang="en-US" dirty="0"/>
              <a:t>The &lt;div&gt; element defines a division or a section in an HTML document.</a:t>
            </a:r>
          </a:p>
        </p:txBody>
      </p:sp>
    </p:spTree>
    <p:extLst>
      <p:ext uri="{BB962C8B-B14F-4D97-AF65-F5344CB8AC3E}">
        <p14:creationId xmlns:p14="http://schemas.microsoft.com/office/powerpoint/2010/main" val="2184881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7422-96E3-C502-5B59-B2451223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894" y="370837"/>
            <a:ext cx="9070333" cy="825239"/>
          </a:xfrm>
        </p:spPr>
        <p:txBody>
          <a:bodyPr/>
          <a:lstStyle/>
          <a:p>
            <a:r>
              <a:rPr lang="en-US" dirty="0"/>
              <a:t>Common block level Elements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89AAA-AF5B-CCB5-5560-BB41E50F3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871" y="1331259"/>
            <a:ext cx="9835457" cy="498140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F1A00-B866-13E4-3172-B4074FA4D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71" y="1071906"/>
            <a:ext cx="6265992" cy="573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75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AECCE-8099-2741-C022-EAFC1BB1B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Elements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84CFD-AA6E-686A-B039-A019CEF73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418" y="1452445"/>
            <a:ext cx="4140717" cy="4195481"/>
          </a:xfrm>
        </p:spPr>
        <p:txBody>
          <a:bodyPr/>
          <a:lstStyle/>
          <a:p>
            <a:r>
              <a:rPr lang="en-US" dirty="0"/>
              <a:t>An inline element does not start on a new line.</a:t>
            </a:r>
          </a:p>
          <a:p>
            <a:r>
              <a:rPr lang="en-US" dirty="0"/>
              <a:t>An inline element only takes up as much width as necessary.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670D21-1F14-5055-AAA6-A029B9800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248" y="429665"/>
            <a:ext cx="6284320" cy="599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43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76A4-EF98-CB51-F194-24F29CAC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task: </a:t>
            </a:r>
            <a:br>
              <a:rPr lang="en-US" dirty="0"/>
            </a:br>
            <a:r>
              <a:rPr lang="en-US" sz="2000" dirty="0"/>
              <a:t>Use hover property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34F3E-1A53-871D-09F2-1259F1B90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CA0DEA-A420-D797-67FC-6F9D917D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59" r="1610" b="7545"/>
          <a:stretch/>
        </p:blipFill>
        <p:spPr>
          <a:xfrm>
            <a:off x="590131" y="1608464"/>
            <a:ext cx="10096231" cy="466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56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165</TotalTime>
  <Words>567</Words>
  <Application>Microsoft Office PowerPoint</Application>
  <PresentationFormat>Widescreen</PresentationFormat>
  <Paragraphs>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Century Gothic</vt:lpstr>
      <vt:lpstr>Wingdings 3</vt:lpstr>
      <vt:lpstr>Ion</vt:lpstr>
      <vt:lpstr>Create Bookmarks</vt:lpstr>
      <vt:lpstr>Practical Task</vt:lpstr>
      <vt:lpstr>PowerPoint Presentation</vt:lpstr>
      <vt:lpstr>Tables in HTML</vt:lpstr>
      <vt:lpstr>Define an HTML Table</vt:lpstr>
      <vt:lpstr>Table Rows</vt:lpstr>
      <vt:lpstr>Table Headers</vt:lpstr>
      <vt:lpstr>HTML Table Tags</vt:lpstr>
      <vt:lpstr>HTML Table Borders HTML tables can have borders of different styles and shapes.</vt:lpstr>
      <vt:lpstr>HTML Table Sizes </vt:lpstr>
      <vt:lpstr>HTML Table Padding &amp; Spacing</vt:lpstr>
      <vt:lpstr>HTML Table Colspan &amp; Rowspan</vt:lpstr>
      <vt:lpstr>Block-level Elements</vt:lpstr>
      <vt:lpstr>Common block level Elements </vt:lpstr>
      <vt:lpstr>Inline Elements </vt:lpstr>
      <vt:lpstr>Practical task:  Use hover property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24</cp:revision>
  <dcterms:created xsi:type="dcterms:W3CDTF">2026-02-18T11:22:37Z</dcterms:created>
  <dcterms:modified xsi:type="dcterms:W3CDTF">2026-02-18T14:09:07Z</dcterms:modified>
</cp:coreProperties>
</file>