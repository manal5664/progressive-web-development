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9" r:id="rId3"/>
    <p:sldId id="260" r:id="rId4"/>
    <p:sldId id="261" r:id="rId5"/>
    <p:sldId id="262" r:id="rId6"/>
    <p:sldId id="257" r:id="rId7"/>
    <p:sldId id="258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6" r:id="rId17"/>
    <p:sldId id="271" r:id="rId18"/>
    <p:sldId id="274" r:id="rId19"/>
    <p:sldId id="275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253" autoAdjust="0"/>
    <p:restoredTop sz="94660"/>
  </p:normalViewPr>
  <p:slideViewPr>
    <p:cSldViewPr snapToGrid="0">
      <p:cViewPr varScale="1">
        <p:scale>
          <a:sx n="85" d="100"/>
          <a:sy n="85" d="100"/>
        </p:scale>
        <p:origin x="107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74423" y="802298"/>
            <a:ext cx="8637073" cy="2920713"/>
          </a:xfrm>
        </p:spPr>
        <p:txBody>
          <a:bodyPr bIns="0" anchor="b">
            <a:normAutofit/>
          </a:bodyPr>
          <a:lstStyle>
            <a:lvl1pPr algn="ctr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74424" y="3724074"/>
            <a:ext cx="8637072" cy="977621"/>
          </a:xfrm>
        </p:spPr>
        <p:txBody>
          <a:bodyPr tIns="91440" bIns="91440">
            <a:normAutofit/>
          </a:bodyPr>
          <a:lstStyle>
            <a:lvl1pPr marL="0" indent="0" algn="ctr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979BC-367B-4366-9674-726224D2B08A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1579" y="329307"/>
            <a:ext cx="5626774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76834" y="798973"/>
            <a:ext cx="811019" cy="503578"/>
          </a:xfrm>
        </p:spPr>
        <p:txBody>
          <a:bodyPr/>
          <a:lstStyle/>
          <a:p>
            <a:fld id="{DE537D1E-E858-4750-9B16-7B69A3144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8748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979BC-367B-4366-9674-726224D2B08A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37D1E-E858-4750-9B16-7B69A3144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6898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4423" y="1756130"/>
            <a:ext cx="8643154" cy="1969007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4423" y="3725137"/>
            <a:ext cx="8643154" cy="1093987"/>
          </a:xfrm>
        </p:spPr>
        <p:txBody>
          <a:bodyPr tIns="91440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979BC-367B-4366-9674-726224D2B08A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37D1E-E858-4750-9B16-7B69A3144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772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293577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488654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54140" y="2017343"/>
            <a:ext cx="4488654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979BC-367B-4366-9674-726224D2B08A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37D1E-E858-4750-9B16-7B69A3144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918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295603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488794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488794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56025" y="2023003"/>
            <a:ext cx="4488794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56025" y="2821491"/>
            <a:ext cx="4488794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979BC-367B-4366-9674-726224D2B08A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37D1E-E858-4750-9B16-7B69A3144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4150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979BC-367B-4366-9674-726224D2B08A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37D1E-E858-4750-9B16-7B69A3144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617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979BC-367B-4366-9674-726224D2B08A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37D1E-E858-4750-9B16-7B69A3144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36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2961967" cy="2406518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3032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2961967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979BC-367B-4366-9674-726224D2B08A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37D1E-E858-4750-9B16-7B69A3144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3697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>
            <a:xfrm>
              <a:off x="7477387" y="482170"/>
              <a:ext cx="4074533" cy="5149101"/>
            </a:xfrm>
            <a:prstGeom prst="rect">
              <a:avLst/>
            </a:prstGeom>
            <a:blipFill dpi="0" rotWithShape="1">
              <a:blip r:embed="rId2">
                <a:alphaModFix amt="30000"/>
              </a:blip>
              <a:srcRect/>
              <a:tile tx="0" ty="0" sx="100000" sy="100000" flip="none" algn="ctr"/>
            </a:blip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 extrusionH="76200" contourW="12700" prstMaterial="matte">
              <a:bevelT w="152400" h="50800" prst="softRound"/>
              <a:extrusionClr>
                <a:schemeClr val="tx2"/>
              </a:extrusionClr>
              <a:contourClr>
                <a:schemeClr val="bg2"/>
              </a:contourClr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38100" cmpd="sng">
              <a:solidFill>
                <a:schemeClr val="tx2">
                  <a:lumMod val="25000"/>
                </a:schemeClr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2"/>
            <a:ext cx="5532328" cy="1922299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50000"/>
              <a:lumOff val="50000"/>
              <a:alpha val="80000"/>
            </a:schemeClr>
          </a:solidFill>
          <a:ln w="9525" cap="sq">
            <a:noFill/>
            <a:miter lim="800000"/>
          </a:ln>
          <a:effectLst/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 dirty="0"/>
            </a:lvl1pPr>
          </a:lstStyle>
          <a:p>
            <a:pPr lvl="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059600"/>
            <a:ext cx="5524404" cy="2090134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E9A979BC-367B-4366-9674-726224D2B08A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37D1E-E858-4750-9B16-7B69A3144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8533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979BC-367B-4366-9674-726224D2B08A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37D1E-E858-4750-9B16-7B69A3144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0376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27052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518654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979BC-367B-4366-9674-726224D2B08A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37D1E-E858-4750-9B16-7B69A3144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519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291215" cy="10492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29121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42079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A979BC-367B-4366-9674-726224D2B08A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62677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DE537D1E-E858-4750-9B16-7B69A3144F4B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3622291"/>
            <a:ext cx="12192000" cy="250598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>
                  <a:alpha val="80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>
          <a:xfrm>
            <a:off x="0" y="6129338"/>
            <a:ext cx="12192000" cy="742950"/>
          </a:xfrm>
          <a:prstGeom prst="rect">
            <a:avLst/>
          </a:prstGeom>
        </p:spPr>
      </p:pic>
      <p:cxnSp>
        <p:nvCxnSpPr>
          <p:cNvPr id="12" name="Straight Connector 11"/>
          <p:cNvCxnSpPr/>
          <p:nvPr/>
        </p:nvCxnSpPr>
        <p:spPr>
          <a:xfrm>
            <a:off x="0" y="6138142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722561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1AB84-4BE3-2853-57BF-72C5FBFC58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74423" y="802298"/>
            <a:ext cx="9506849" cy="2920713"/>
          </a:xfrm>
        </p:spPr>
        <p:txBody>
          <a:bodyPr/>
          <a:lstStyle/>
          <a:p>
            <a:r>
              <a:rPr lang="en-US" dirty="0"/>
              <a:t> Box Model and Div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1ACE9D-3030-5A0D-3DDF-BEB5D9EF2E6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Presented by: Manal Asghar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28994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2B27B-38F4-61DC-451B-25DA2EBF5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&lt;div&gt;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36831-0608-0B2C-4CCB-8A2070BFAF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&lt;div&gt; stands for Division</a:t>
            </a:r>
          </a:p>
          <a:p>
            <a:r>
              <a:rPr lang="en-US" dirty="0"/>
              <a:t>It is a block-level element</a:t>
            </a:r>
          </a:p>
          <a:p>
            <a:r>
              <a:rPr lang="en-US" dirty="0"/>
              <a:t>Used to group HTML elements together</a:t>
            </a:r>
          </a:p>
          <a:p>
            <a:r>
              <a:rPr lang="en-US" dirty="0"/>
              <a:t>Commonly used for layout and structure</a:t>
            </a:r>
          </a:p>
          <a:p>
            <a:r>
              <a:rPr lang="en-US" dirty="0"/>
              <a:t> The &lt;div&gt; tag acts as a container for other elements.</a:t>
            </a:r>
          </a:p>
        </p:txBody>
      </p:sp>
    </p:spTree>
    <p:extLst>
      <p:ext uri="{BB962C8B-B14F-4D97-AF65-F5344CB8AC3E}">
        <p14:creationId xmlns:p14="http://schemas.microsoft.com/office/powerpoint/2010/main" val="24666997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6785F-F17D-5108-D2CD-02AD47B07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 We Use &lt;div&gt;?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A913E6-3F71-8A8B-6DF4-C0DEC9C7CD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2829" y="1853754"/>
            <a:ext cx="9846341" cy="4037749"/>
          </a:xfrm>
        </p:spPr>
        <p:txBody>
          <a:bodyPr/>
          <a:lstStyle/>
          <a:p>
            <a:r>
              <a:rPr lang="en-US" dirty="0"/>
              <a:t>Purpose of &lt;div&gt;</a:t>
            </a:r>
          </a:p>
          <a:p>
            <a:r>
              <a:rPr lang="en-US" dirty="0"/>
              <a:t>Organize content into sections</a:t>
            </a:r>
          </a:p>
          <a:p>
            <a:r>
              <a:rPr lang="en-US" dirty="0"/>
              <a:t>Apply CSS styling to a group of elements</a:t>
            </a:r>
          </a:p>
          <a:p>
            <a:r>
              <a:rPr lang="en-US" dirty="0"/>
              <a:t>Create page layouts</a:t>
            </a:r>
          </a:p>
          <a:p>
            <a:r>
              <a:rPr lang="en-US" dirty="0"/>
              <a:t>Structure web pages clearly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B5B930-74B3-0EDF-E21A-51325BC95F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2880" y="2485390"/>
            <a:ext cx="5524640" cy="2371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6285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7D053-E407-6023-C358-7C3B5BFB4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Real-Life Layout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93D7F5-FC5C-E89E-AAC1-832AD74FF6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602226"/>
            <a:ext cx="9826021" cy="3653548"/>
          </a:xfrm>
        </p:spPr>
        <p:txBody>
          <a:bodyPr/>
          <a:lstStyle/>
          <a:p>
            <a:r>
              <a:rPr lang="en-US" dirty="0"/>
              <a:t>Used for:</a:t>
            </a:r>
          </a:p>
          <a:p>
            <a:r>
              <a:rPr lang="en-US" dirty="0"/>
              <a:t>Website header</a:t>
            </a:r>
          </a:p>
          <a:p>
            <a:r>
              <a:rPr lang="en-US" dirty="0"/>
              <a:t>Navigation bar</a:t>
            </a:r>
          </a:p>
          <a:p>
            <a:r>
              <a:rPr lang="en-US" dirty="0"/>
              <a:t>Content area</a:t>
            </a:r>
          </a:p>
          <a:p>
            <a:r>
              <a:rPr lang="en-US" dirty="0"/>
              <a:t>Footer section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0BD745-B454-F07D-502F-3E0A7C5D2B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3427" y="1809432"/>
            <a:ext cx="6667496" cy="2335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3520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EE9DE-44EB-A261-DE9F-582C1C11A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&lt;div&gt; vs &lt;span&gt;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38C064-F0DB-9EF0-2CB7-7D9B1075B6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912009-5F34-34E4-BF8C-2A5884DBEB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9206" y="1986464"/>
            <a:ext cx="9579410" cy="3764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0070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2EF9C-71BE-83D1-9934-474B841DD6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0391" y="187575"/>
            <a:ext cx="9291215" cy="1049235"/>
          </a:xfrm>
        </p:spPr>
        <p:txBody>
          <a:bodyPr/>
          <a:lstStyle/>
          <a:p>
            <a:r>
              <a:rPr lang="en-US" dirty="0"/>
              <a:t>HTML Div Element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F16CC9-C645-C1AC-CAC6-C1158AD391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8189" y="958112"/>
            <a:ext cx="9291215" cy="3450613"/>
          </a:xfrm>
        </p:spPr>
        <p:txBody>
          <a:bodyPr/>
          <a:lstStyle/>
          <a:p>
            <a:r>
              <a:rPr lang="en-US" dirty="0"/>
              <a:t>The &lt;div&gt; element is by default a block element, meaning that it takes all available width, and comes with line breaks before and after.</a:t>
            </a:r>
          </a:p>
          <a:p>
            <a:r>
              <a:rPr lang="en-US" dirty="0"/>
              <a:t>The &lt;div&gt; element has no required attributes, but style, class and id are common. The &lt;div&gt; element is often used to group sections of a web page together.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573607-C4E2-0B7D-DF9B-9D4C191D81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969" y="3377484"/>
            <a:ext cx="5667375" cy="260601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035000C-137F-C919-E740-B3AE5DBEDA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7766" y="3377483"/>
            <a:ext cx="4810125" cy="2606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79790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4F73C-4B6E-D8CC-248D-07C636469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 we use &lt;div&gt; in HTML?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EFE8E8-4886-48ED-E139-06405655C5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703693"/>
            <a:ext cx="9291215" cy="3450613"/>
          </a:xfrm>
        </p:spPr>
        <p:txBody>
          <a:bodyPr/>
          <a:lstStyle/>
          <a:p>
            <a:r>
              <a:rPr lang="en-US" dirty="0"/>
              <a:t>&lt;div&gt; stands for division.</a:t>
            </a:r>
          </a:p>
          <a:p>
            <a:r>
              <a:rPr lang="en-US" dirty="0"/>
              <a:t>It is used to group and organize content on a webpage.</a:t>
            </a:r>
          </a:p>
          <a:p>
            <a:r>
              <a:rPr lang="en-US" dirty="0"/>
              <a:t>To Create Layout Sections</a:t>
            </a:r>
          </a:p>
          <a:p>
            <a:r>
              <a:rPr lang="en-US" dirty="0"/>
              <a:t>We use &lt;div&gt; to divide a webpage into different sections like:</a:t>
            </a:r>
          </a:p>
          <a:p>
            <a:r>
              <a:rPr lang="en-US" dirty="0"/>
              <a:t>Header, Navigation bar, Main content, Sidebar, Footer</a:t>
            </a:r>
          </a:p>
        </p:txBody>
      </p:sp>
    </p:spTree>
    <p:extLst>
      <p:ext uri="{BB962C8B-B14F-4D97-AF65-F5344CB8AC3E}">
        <p14:creationId xmlns:p14="http://schemas.microsoft.com/office/powerpoint/2010/main" val="12783933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37FAD-E017-B3F4-5806-726ED084F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Nesting &amp; Specificity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304D86-29C8-ABA6-E114-FA749776A0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Nesting means placing one element inside another element in HTML.</a:t>
            </a:r>
          </a:p>
          <a:p>
            <a:r>
              <a:rPr lang="en-US" dirty="0"/>
              <a:t>Example (HTML Nesting):</a:t>
            </a:r>
          </a:p>
          <a:p>
            <a:r>
              <a:rPr lang="en-US" dirty="0"/>
              <a:t>&lt;div class="parent"&gt;    &lt;p&gt;This is inside div&lt;/p&gt;&lt;/div&gt;</a:t>
            </a:r>
          </a:p>
          <a:p>
            <a:r>
              <a:rPr lang="en-US" dirty="0"/>
              <a:t>&lt;p&gt; is nested inside &lt;div&gt;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02488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6CA15-63E1-7B55-DF69-29D5BB661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Specificity in CSS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F271ED-AA47-2A48-E38B-7880CE46CD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718277"/>
            <a:ext cx="9291215" cy="4164731"/>
          </a:xfrm>
        </p:spPr>
        <p:txBody>
          <a:bodyPr/>
          <a:lstStyle/>
          <a:p>
            <a:r>
              <a:rPr lang="en-US" dirty="0"/>
              <a:t>Specificity decides which CSS rule will apply when multiple rules target the same element.</a:t>
            </a:r>
          </a:p>
          <a:p>
            <a:r>
              <a:rPr lang="en-US" dirty="0"/>
              <a:t>Think of it like a priority system.</a:t>
            </a:r>
          </a:p>
          <a:p>
            <a:r>
              <a:rPr lang="en-US" dirty="0"/>
              <a:t>Specificity Order (Low → High)</a:t>
            </a:r>
          </a:p>
          <a:p>
            <a:r>
              <a:rPr lang="en-US" dirty="0"/>
              <a:t>Element selector → p, div</a:t>
            </a:r>
          </a:p>
          <a:p>
            <a:r>
              <a:rPr lang="en-US" dirty="0"/>
              <a:t>Class selector → .box</a:t>
            </a:r>
          </a:p>
          <a:p>
            <a:r>
              <a:rPr lang="en-US" dirty="0"/>
              <a:t>ID selector → #main</a:t>
            </a:r>
          </a:p>
          <a:p>
            <a:r>
              <a:rPr lang="en-US" dirty="0"/>
              <a:t>Inline style → style=""!important → Highest priority</a:t>
            </a:r>
          </a:p>
        </p:txBody>
      </p:sp>
    </p:spTree>
    <p:extLst>
      <p:ext uri="{BB962C8B-B14F-4D97-AF65-F5344CB8AC3E}">
        <p14:creationId xmlns:p14="http://schemas.microsoft.com/office/powerpoint/2010/main" val="18877465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5E576-C428-4B79-E4F9-17DEE9BF8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7685" y="462997"/>
            <a:ext cx="10050031" cy="1049235"/>
          </a:xfrm>
        </p:spPr>
        <p:txBody>
          <a:bodyPr/>
          <a:lstStyle/>
          <a:p>
            <a:r>
              <a:rPr lang="en-US" dirty="0"/>
              <a:t>Line-height, letter-spacing, word-spacing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06FB3F-2D65-CBB9-55B8-69E389E58C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2594" y="1365736"/>
            <a:ext cx="9906811" cy="386727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Line-height:</a:t>
            </a:r>
          </a:p>
          <a:p>
            <a:r>
              <a:rPr lang="en-US" dirty="0"/>
              <a:t>Line-height decides vertical space between lines of text.</a:t>
            </a:r>
          </a:p>
          <a:p>
            <a:r>
              <a:rPr lang="en-US" dirty="0"/>
              <a:t>Think of it as height of each line.</a:t>
            </a:r>
          </a:p>
          <a:p>
            <a:r>
              <a:rPr lang="en-US" dirty="0"/>
              <a:t>Example:</a:t>
            </a:r>
          </a:p>
          <a:p>
            <a:r>
              <a:rPr lang="en-US" dirty="0"/>
              <a:t>&lt;p style="line-height: 1.5;"&gt;This is line one.&lt;</a:t>
            </a:r>
            <a:r>
              <a:rPr lang="en-US" dirty="0" err="1"/>
              <a:t>br</a:t>
            </a:r>
            <a:r>
              <a:rPr lang="en-US" dirty="0"/>
              <a:t>&gt;This is line two.&lt;</a:t>
            </a:r>
            <a:r>
              <a:rPr lang="en-US" dirty="0" err="1"/>
              <a:t>br</a:t>
            </a:r>
            <a:r>
              <a:rPr lang="en-US" dirty="0"/>
              <a:t>&gt;This is line three.&lt;/p&gt;</a:t>
            </a:r>
          </a:p>
          <a:p>
            <a:r>
              <a:rPr lang="en-US" dirty="0"/>
              <a:t>line-height: 1.5; → 1.5 times the normal line height</a:t>
            </a:r>
          </a:p>
          <a:p>
            <a:r>
              <a:rPr lang="en-US" dirty="0"/>
              <a:t>Bigger number → lines are more spaced</a:t>
            </a:r>
          </a:p>
          <a:p>
            <a:r>
              <a:rPr lang="en-US" dirty="0"/>
              <a:t>Smaller number → lines are closer</a:t>
            </a:r>
          </a:p>
        </p:txBody>
      </p:sp>
    </p:spTree>
    <p:extLst>
      <p:ext uri="{BB962C8B-B14F-4D97-AF65-F5344CB8AC3E}">
        <p14:creationId xmlns:p14="http://schemas.microsoft.com/office/powerpoint/2010/main" val="30352916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6B71B-A7BA-1DCA-31B8-2E5A976D8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Letter-spacing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75F9E0-2DD8-9054-C407-3DB249EF57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:Letter-spacing controls space between letters in a word.</a:t>
            </a:r>
          </a:p>
          <a:p>
            <a:r>
              <a:rPr lang="en-US" dirty="0"/>
              <a:t>Example:&lt;p style="letter-spacing: 3px;"&gt;Hello World&lt;/p&gt;</a:t>
            </a:r>
          </a:p>
          <a:p>
            <a:r>
              <a:rPr lang="en-US" dirty="0"/>
              <a:t>letter-spacing: 3px; → adds 3px space between each letter</a:t>
            </a:r>
          </a:p>
          <a:p>
            <a:r>
              <a:rPr lang="en-US" dirty="0"/>
              <a:t>Can also use negative values → letters get close</a:t>
            </a:r>
          </a:p>
        </p:txBody>
      </p:sp>
    </p:spTree>
    <p:extLst>
      <p:ext uri="{BB962C8B-B14F-4D97-AF65-F5344CB8AC3E}">
        <p14:creationId xmlns:p14="http://schemas.microsoft.com/office/powerpoint/2010/main" val="17023280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AF9AD-8B27-7356-1FCD-330CE67D3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Word-spacing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301C6B-69DB-B818-A229-3BE2E9E928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Word-spacing controls space between words in a sentence.</a:t>
            </a:r>
          </a:p>
          <a:p>
            <a:r>
              <a:rPr lang="en-US" dirty="0"/>
              <a:t>Example:</a:t>
            </a:r>
          </a:p>
          <a:p>
            <a:r>
              <a:rPr lang="en-US" dirty="0"/>
              <a:t>&lt;p style="word-spacing: 10px;"&gt;This is a spaced out sentence.&lt;/p&gt;</a:t>
            </a:r>
          </a:p>
          <a:p>
            <a:r>
              <a:rPr lang="en-US" dirty="0"/>
              <a:t>word-spacing: 10px; → adds 10px between words</a:t>
            </a:r>
          </a:p>
          <a:p>
            <a:r>
              <a:rPr lang="en-US" dirty="0"/>
              <a:t>Can use negative values → words get closer</a:t>
            </a:r>
          </a:p>
        </p:txBody>
      </p:sp>
    </p:spTree>
    <p:extLst>
      <p:ext uri="{BB962C8B-B14F-4D97-AF65-F5344CB8AC3E}">
        <p14:creationId xmlns:p14="http://schemas.microsoft.com/office/powerpoint/2010/main" val="42687563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946A6-F5B8-193A-7CC5-B0ECA8334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220625"/>
            <a:ext cx="9291215" cy="1049235"/>
          </a:xfrm>
        </p:spPr>
        <p:txBody>
          <a:bodyPr/>
          <a:lstStyle/>
          <a:p>
            <a:r>
              <a:rPr lang="en-US" dirty="0"/>
              <a:t>CSS Position Property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C0546B-D039-01E4-BED9-E009F9C0E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1075" y="976579"/>
            <a:ext cx="11946119" cy="6305570"/>
          </a:xfrm>
        </p:spPr>
        <p:txBody>
          <a:bodyPr>
            <a:normAutofit/>
          </a:bodyPr>
          <a:lstStyle/>
          <a:p>
            <a:r>
              <a:rPr lang="en-US" dirty="0"/>
              <a:t>The position property decides how an element is placed on a webpage and what it’s positioned relative to.</a:t>
            </a:r>
          </a:p>
          <a:p>
            <a:r>
              <a:rPr lang="en-US" sz="2400" b="1" dirty="0"/>
              <a:t>Static (default)</a:t>
            </a:r>
            <a:r>
              <a:rPr lang="en-US" dirty="0"/>
              <a:t>Default position for all elements.</a:t>
            </a:r>
          </a:p>
          <a:p>
            <a:r>
              <a:rPr lang="en-US" dirty="0"/>
              <a:t>Element stays in normal document flow.</a:t>
            </a:r>
          </a:p>
          <a:p>
            <a:r>
              <a:rPr lang="en-US" dirty="0"/>
              <a:t>top, left, right, bottom do not work.</a:t>
            </a:r>
          </a:p>
          <a:p>
            <a:r>
              <a:rPr lang="en-US" sz="2400" b="1" dirty="0"/>
              <a:t>Relative</a:t>
            </a:r>
            <a:r>
              <a:rPr lang="en-US" dirty="0"/>
              <a:t>: Element moves relative to its original position. Top, left, right, bottom can shift it.</a:t>
            </a:r>
          </a:p>
          <a:p>
            <a:r>
              <a:rPr lang="en-US" b="1" dirty="0"/>
              <a:t>Absolute: Element</a:t>
            </a:r>
            <a:r>
              <a:rPr lang="en-US" dirty="0"/>
              <a:t> is placed relative to its nearest positioned ancestor (relative, absolute, or sticky).If no ancestor → positioned relative to the body.</a:t>
            </a:r>
          </a:p>
          <a:p>
            <a:r>
              <a:rPr lang="en-US" dirty="0"/>
              <a:t>Fixed: Element is fixed relative to the viewport. Does not move when scrolling. </a:t>
            </a:r>
          </a:p>
          <a:p>
            <a:r>
              <a:rPr lang="en-US" sz="2400" b="1" dirty="0"/>
              <a:t>Sticky</a:t>
            </a:r>
            <a:r>
              <a:rPr lang="en-US" dirty="0"/>
              <a:t> Combination of relative + fixed. Stays in normal flow until a scroll point, then becomes fixed.</a:t>
            </a:r>
          </a:p>
        </p:txBody>
      </p:sp>
    </p:spTree>
    <p:extLst>
      <p:ext uri="{BB962C8B-B14F-4D97-AF65-F5344CB8AC3E}">
        <p14:creationId xmlns:p14="http://schemas.microsoft.com/office/powerpoint/2010/main" val="4978833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EFA0E-2529-27AC-0D6C-DA814B285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CSS Position Property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CC37BC2-65C6-A633-CD1D-33C6D8B4DD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49205" y="1707140"/>
            <a:ext cx="9796744" cy="4649593"/>
          </a:xfrm>
        </p:spPr>
      </p:pic>
    </p:spTree>
    <p:extLst>
      <p:ext uri="{BB962C8B-B14F-4D97-AF65-F5344CB8AC3E}">
        <p14:creationId xmlns:p14="http://schemas.microsoft.com/office/powerpoint/2010/main" val="8427770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A51C0-AC2D-626D-0569-53DC2EF3C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Z-index &amp; Stacking Context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821F5B-7326-1DE3-18FB-5A36266082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652530"/>
            <a:ext cx="9291215" cy="3813815"/>
          </a:xfrm>
        </p:spPr>
        <p:txBody>
          <a:bodyPr/>
          <a:lstStyle/>
          <a:p>
            <a:r>
              <a:rPr lang="en-US" dirty="0"/>
              <a:t>z-index controls the stacking order of elements (which element appears on top of others).</a:t>
            </a:r>
          </a:p>
          <a:p>
            <a:r>
              <a:rPr lang="en-US" dirty="0"/>
              <a:t>Higher z-index → element appears above lower z-index.</a:t>
            </a:r>
          </a:p>
          <a:p>
            <a:r>
              <a:rPr lang="en-US" dirty="0"/>
              <a:t>Only works on positioned elements (relative, absolute, fixed, or sticky).</a:t>
            </a:r>
          </a:p>
          <a:p>
            <a:r>
              <a:rPr lang="en-US" dirty="0"/>
              <a:t>A stacking context is like a layer or group of elements on a webpage that stick together in terms of z-index</a:t>
            </a:r>
          </a:p>
        </p:txBody>
      </p:sp>
    </p:spTree>
    <p:extLst>
      <p:ext uri="{BB962C8B-B14F-4D97-AF65-F5344CB8AC3E}">
        <p14:creationId xmlns:p14="http://schemas.microsoft.com/office/powerpoint/2010/main" val="12353656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47160-F46E-8467-2856-932AA56BE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Using z-index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2AE9F3-3893-915C-E237-98FFE973FF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158" y="2600653"/>
            <a:ext cx="5431832" cy="35947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5C1099A-7A55-62B8-B945-4E31A71293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6154" y="2601934"/>
            <a:ext cx="5431832" cy="3594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02929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5FC47-0AAB-EE63-5A47-6A238358E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Layout?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DD4048-D189-6183-9392-B290C01809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3444" y="1740310"/>
            <a:ext cx="9697491" cy="383422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Layout = arrangement of elements on a webpage</a:t>
            </a:r>
          </a:p>
          <a:p>
            <a:r>
              <a:rPr lang="en-US" dirty="0"/>
              <a:t>Organizes header, footer, sidebar, main content</a:t>
            </a:r>
          </a:p>
          <a:p>
            <a:r>
              <a:rPr lang="en-US" dirty="0"/>
              <a:t>Improves UX &amp; readability</a:t>
            </a:r>
          </a:p>
          <a:p>
            <a:r>
              <a:rPr lang="en-US" dirty="0"/>
              <a:t>Common techniques:</a:t>
            </a:r>
          </a:p>
          <a:p>
            <a:r>
              <a:rPr lang="en-US" dirty="0"/>
              <a:t>Float Flexbox (display: flex)</a:t>
            </a:r>
          </a:p>
          <a:p>
            <a:r>
              <a:rPr lang="en-US" dirty="0"/>
              <a:t>Grid (display: grid)</a:t>
            </a:r>
          </a:p>
          <a:p>
            <a:r>
              <a:rPr lang="en-US" dirty="0"/>
              <a:t>Positioning</a:t>
            </a:r>
          </a:p>
          <a:p>
            <a:r>
              <a:rPr lang="en-US" dirty="0"/>
              <a:t>Visual: Simple diagram of header, sidebar, main, footer</a:t>
            </a:r>
          </a:p>
        </p:txBody>
      </p:sp>
    </p:spTree>
    <p:extLst>
      <p:ext uri="{BB962C8B-B14F-4D97-AF65-F5344CB8AC3E}">
        <p14:creationId xmlns:p14="http://schemas.microsoft.com/office/powerpoint/2010/main" val="8169019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2A29F-2E66-7F85-0F99-274CF4D0DA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9019" y="385188"/>
            <a:ext cx="9291215" cy="1049235"/>
          </a:xfrm>
        </p:spPr>
        <p:txBody>
          <a:bodyPr/>
          <a:lstStyle/>
          <a:p>
            <a:r>
              <a:rPr lang="en-US" dirty="0"/>
              <a:t>Float Property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816BD-08F3-0ADA-93C8-C66BE95F91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3695" y="1434423"/>
            <a:ext cx="10902981" cy="4547628"/>
          </a:xfrm>
        </p:spPr>
        <p:txBody>
          <a:bodyPr/>
          <a:lstStyle/>
          <a:p>
            <a:r>
              <a:rPr lang="en-US" dirty="0"/>
              <a:t>Moves element left or right</a:t>
            </a:r>
          </a:p>
          <a:p>
            <a:r>
              <a:rPr lang="en-US" dirty="0"/>
              <a:t>Text wraps around floated element</a:t>
            </a:r>
          </a:p>
          <a:p>
            <a:r>
              <a:rPr lang="en-US" dirty="0"/>
              <a:t>Float image left → text flows around it. </a:t>
            </a:r>
          </a:p>
          <a:p>
            <a:r>
              <a:rPr lang="en-US" dirty="0"/>
              <a:t>Float image left → text flows around it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74B6C24-93EB-C5F1-8417-C04423B6DE5D}"/>
              </a:ext>
            </a:extLst>
          </p:cNvPr>
          <p:cNvSpPr txBox="1">
            <a:spLocks/>
          </p:cNvSpPr>
          <p:nvPr/>
        </p:nvSpPr>
        <p:spPr>
          <a:xfrm>
            <a:off x="1959579" y="3429000"/>
            <a:ext cx="9291215" cy="10492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accent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Clear Property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1FBCAE6-136E-47E4-734F-368CA63F4B57}"/>
              </a:ext>
            </a:extLst>
          </p:cNvPr>
          <p:cNvSpPr txBox="1">
            <a:spLocks/>
          </p:cNvSpPr>
          <p:nvPr/>
        </p:nvSpPr>
        <p:spPr>
          <a:xfrm>
            <a:off x="1289019" y="4526015"/>
            <a:ext cx="9291215" cy="345061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Stops elements from wrapping around floats</a:t>
            </a:r>
          </a:p>
          <a:p>
            <a:r>
              <a:rPr lang="en-US" dirty="0"/>
              <a:t>clear: left | right | both | none;</a:t>
            </a:r>
          </a:p>
        </p:txBody>
      </p:sp>
    </p:spTree>
    <p:extLst>
      <p:ext uri="{BB962C8B-B14F-4D97-AF65-F5344CB8AC3E}">
        <p14:creationId xmlns:p14="http://schemas.microsoft.com/office/powerpoint/2010/main" val="38912750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4D8F032-43AA-707B-2D7D-4B0DAABAD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439594" y="-178174"/>
            <a:ext cx="9291215" cy="1049235"/>
          </a:xfrm>
        </p:spPr>
        <p:txBody>
          <a:bodyPr/>
          <a:lstStyle/>
          <a:p>
            <a:r>
              <a:rPr lang="en-US" dirty="0"/>
              <a:t>Practical Task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04007DA2-8A3F-0166-B297-DB6BC6A71E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0933" y="644742"/>
            <a:ext cx="11921067" cy="6213258"/>
          </a:xfrm>
        </p:spPr>
      </p:pic>
    </p:spTree>
    <p:extLst>
      <p:ext uri="{BB962C8B-B14F-4D97-AF65-F5344CB8AC3E}">
        <p14:creationId xmlns:p14="http://schemas.microsoft.com/office/powerpoint/2010/main" val="2666160894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9D5"/>
      </a:lt2>
      <a:accent1>
        <a:srgbClr val="FB8C29"/>
      </a:accent1>
      <a:accent2>
        <a:srgbClr val="F2C351"/>
      </a:accent2>
      <a:accent3>
        <a:srgbClr val="D0CBA5"/>
      </a:accent3>
      <a:accent4>
        <a:srgbClr val="A2C476"/>
      </a:accent4>
      <a:accent5>
        <a:srgbClr val="57C293"/>
      </a:accent5>
      <a:accent6>
        <a:srgbClr val="06BFDE"/>
      </a:accent6>
      <a:hlink>
        <a:srgbClr val="FBAE29"/>
      </a:hlink>
      <a:folHlink>
        <a:srgbClr val="EDC47E"/>
      </a:folHlink>
    </a:clrScheme>
    <a:fontScheme name="Gallery">
      <a:majorFont>
        <a:latin typeface="Rockwell" panose="020606030202050204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BB5F5D82-B5E9-469E-A815-C655ED4AF24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246</TotalTime>
  <Words>816</Words>
  <Application>Microsoft Office PowerPoint</Application>
  <PresentationFormat>Widescreen</PresentationFormat>
  <Paragraphs>97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Rockwell</vt:lpstr>
      <vt:lpstr>Gallery</vt:lpstr>
      <vt:lpstr> Box Model and Div</vt:lpstr>
      <vt:lpstr>Introduction to &lt;div&gt;</vt:lpstr>
      <vt:lpstr>Why Do We Use &lt;div&gt;?</vt:lpstr>
      <vt:lpstr>Real-Life Layout Example</vt:lpstr>
      <vt:lpstr>&lt;div&gt; vs &lt;span&gt;</vt:lpstr>
      <vt:lpstr>HTML Div Element</vt:lpstr>
      <vt:lpstr>Why do we use &lt;div&gt; in HTML?</vt:lpstr>
      <vt:lpstr>Nesting &amp; Specificity </vt:lpstr>
      <vt:lpstr>Specificity in CSS</vt:lpstr>
      <vt:lpstr>Line-height, letter-spacing, word-spacing </vt:lpstr>
      <vt:lpstr>Letter-spacing</vt:lpstr>
      <vt:lpstr>Word-spacing</vt:lpstr>
      <vt:lpstr>CSS Position Property</vt:lpstr>
      <vt:lpstr>CSS Position Property</vt:lpstr>
      <vt:lpstr> Z-index &amp; Stacking Context </vt:lpstr>
      <vt:lpstr>Practice Using z-index</vt:lpstr>
      <vt:lpstr>What is Layout?</vt:lpstr>
      <vt:lpstr>Float Property</vt:lpstr>
      <vt:lpstr>Practical Task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Manal Atif</dc:creator>
  <cp:lastModifiedBy>Manal Atif</cp:lastModifiedBy>
  <cp:revision>28</cp:revision>
  <dcterms:created xsi:type="dcterms:W3CDTF">2026-02-18T14:10:41Z</dcterms:created>
  <dcterms:modified xsi:type="dcterms:W3CDTF">2026-02-19T10:23:13Z</dcterms:modified>
</cp:coreProperties>
</file>