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8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1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9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5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50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6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7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2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60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3913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77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10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09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32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7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7A2278B-61F8-4EDA-A38D-900524C993F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3CFEE-0264-4867-BB2B-E3B3D971B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87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19EE9-E4DE-98BA-4589-373367A6E1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Grid Layouts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3C017-07F8-628E-CE1A-904E068EA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225" y="4777381"/>
            <a:ext cx="8825658" cy="861420"/>
          </a:xfrm>
        </p:spPr>
        <p:txBody>
          <a:bodyPr/>
          <a:lstStyle/>
          <a:p>
            <a:r>
              <a:rPr lang="en-US" dirty="0"/>
              <a:t>Presented by Manal Asghar</a:t>
            </a:r>
          </a:p>
        </p:txBody>
      </p:sp>
    </p:spTree>
    <p:extLst>
      <p:ext uri="{BB962C8B-B14F-4D97-AF65-F5344CB8AC3E}">
        <p14:creationId xmlns:p14="http://schemas.microsoft.com/office/powerpoint/2010/main" val="214796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9524-BA09-770D-7F52-C59719B1E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 Layout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85F8-80E7-1921-F20A-57F86736E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Grid Layout Module offers a grid-based layout system, with rows and columns.</a:t>
            </a:r>
          </a:p>
          <a:p>
            <a:endParaRPr lang="en-US" dirty="0"/>
          </a:p>
          <a:p>
            <a:r>
              <a:rPr lang="en-US" dirty="0"/>
              <a:t>The Grid Layout Module allows developers to easily create complex web layouts.</a:t>
            </a:r>
          </a:p>
          <a:p>
            <a:endParaRPr lang="en-US" dirty="0"/>
          </a:p>
          <a:p>
            <a:r>
              <a:rPr lang="en-US" dirty="0"/>
              <a:t>The Grid Layout Module makes it easy to design a responsive layout structure, without using float or positioning.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5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CDFC-31E0-CF5D-7EFD-C2074EF7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DA1E7-822F-BBF9-A1A2-248A1ACE4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4195481"/>
          </a:xfrm>
        </p:spPr>
        <p:txBody>
          <a:bodyPr/>
          <a:lstStyle/>
          <a:p>
            <a:r>
              <a:rPr lang="en-US" dirty="0"/>
              <a:t>A grid always consists of:</a:t>
            </a:r>
          </a:p>
          <a:p>
            <a:r>
              <a:rPr lang="en-US" dirty="0"/>
              <a:t>A Grid Container - The parent (container) element, where the display property is set to grid or inline-grid</a:t>
            </a:r>
          </a:p>
          <a:p>
            <a:r>
              <a:rPr lang="en-US" dirty="0"/>
              <a:t>One or more Grid Items - The direct children of the grid container automatically becomes grid items</a:t>
            </a:r>
          </a:p>
          <a:p>
            <a:r>
              <a:rPr lang="en-US" dirty="0"/>
              <a:t>A Grid Container with Five Grid Items</a:t>
            </a:r>
          </a:p>
          <a:p>
            <a:r>
              <a:rPr lang="en-US" dirty="0"/>
              <a:t>The element below represents a grid container (the blue area) with five grid items.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0F750-F1AE-34A3-9903-5E504B983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096" y="4688540"/>
            <a:ext cx="51625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7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D8BA-97D0-E3C0-2876-D25F5CD8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vs Flexbox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5B9505-1F82-4538-90C7-45CEA6640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077" y="1853303"/>
            <a:ext cx="9222667" cy="3501840"/>
          </a:xfrm>
        </p:spPr>
      </p:pic>
    </p:spTree>
    <p:extLst>
      <p:ext uri="{BB962C8B-B14F-4D97-AF65-F5344CB8AC3E}">
        <p14:creationId xmlns:p14="http://schemas.microsoft.com/office/powerpoint/2010/main" val="343958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D1E0-7353-5965-9ACD-08553350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 Properties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6C1A5E-4A1F-C81A-7E7E-406EBCFDE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089" y="1152983"/>
            <a:ext cx="10278728" cy="5348909"/>
          </a:xfrm>
        </p:spPr>
      </p:pic>
    </p:spTree>
    <p:extLst>
      <p:ext uri="{BB962C8B-B14F-4D97-AF65-F5344CB8AC3E}">
        <p14:creationId xmlns:p14="http://schemas.microsoft.com/office/powerpoint/2010/main" val="374358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2500-B985-EA16-93FE-EA25BA15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 Properties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573946-D171-5477-E2FC-3AA902D90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1787" y="1152983"/>
            <a:ext cx="9695438" cy="5490188"/>
          </a:xfrm>
        </p:spPr>
      </p:pic>
    </p:spTree>
    <p:extLst>
      <p:ext uri="{BB962C8B-B14F-4D97-AF65-F5344CB8AC3E}">
        <p14:creationId xmlns:p14="http://schemas.microsoft.com/office/powerpoint/2010/main" val="1380272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2936-78AC-8FBD-B8FB-2A2F4123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22" y="746231"/>
            <a:ext cx="9404723" cy="1400530"/>
          </a:xfrm>
        </p:spPr>
        <p:txBody>
          <a:bodyPr/>
          <a:lstStyle/>
          <a:p>
            <a:r>
              <a:rPr lang="en-US" dirty="0"/>
              <a:t>CSS grid properties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FD8EB-4481-1B48-F45C-B48D274010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80"/>
          <a:stretch/>
        </p:blipFill>
        <p:spPr>
          <a:xfrm>
            <a:off x="523389" y="2146761"/>
            <a:ext cx="11145222" cy="359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7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DE54-55D1-8E59-6428-51147D86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A77C6-D518-48A6-BED9-48CCB7E26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982" y="1331259"/>
            <a:ext cx="8946541" cy="4195481"/>
          </a:xfrm>
        </p:spPr>
        <p:txBody>
          <a:bodyPr/>
          <a:lstStyle/>
          <a:p>
            <a:r>
              <a:rPr lang="en-US" dirty="0"/>
              <a:t>A grid container contains one or more grid items arranged in columns and rows.</a:t>
            </a:r>
          </a:p>
          <a:p>
            <a:endParaRPr lang="en-US" dirty="0"/>
          </a:p>
          <a:p>
            <a:r>
              <a:rPr lang="en-US" dirty="0"/>
              <a:t>All direct child elements of a grid container automatically become grid items.</a:t>
            </a:r>
          </a:p>
          <a:p>
            <a:endParaRPr lang="en-US" dirty="0"/>
          </a:p>
          <a:p>
            <a:r>
              <a:rPr lang="en-US" dirty="0"/>
              <a:t>An element becomes a grid container when its display property is set to grid or inline-grid.</a:t>
            </a:r>
          </a:p>
        </p:txBody>
      </p:sp>
    </p:spTree>
    <p:extLst>
      <p:ext uri="{BB962C8B-B14F-4D97-AF65-F5344CB8AC3E}">
        <p14:creationId xmlns:p14="http://schemas.microsoft.com/office/powerpoint/2010/main" val="264180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474E-A23C-6632-3EA0-3918E299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Grid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58314-F488-571F-6CBA-7A5EADA1E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935" y="1331259"/>
            <a:ext cx="11079724" cy="4195481"/>
          </a:xfrm>
        </p:spPr>
        <p:txBody>
          <a:bodyPr/>
          <a:lstStyle/>
          <a:p>
            <a:r>
              <a:rPr lang="en-US" dirty="0"/>
              <a:t>The &lt;div&gt; element becomes a grid container when its display property is set to grid or inline-grid.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Use display: grid to make a block-level grid container:</a:t>
            </a:r>
          </a:p>
          <a:p>
            <a:r>
              <a:rPr lang="en-US" dirty="0"/>
              <a:t>.container {</a:t>
            </a:r>
          </a:p>
          <a:p>
            <a:r>
              <a:rPr lang="en-US" dirty="0"/>
              <a:t>  display: grid; }</a:t>
            </a:r>
          </a:p>
          <a:p>
            <a:r>
              <a:rPr lang="en-US" dirty="0"/>
              <a:t>Use display: inline-grid to make an inline grid container: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09CDE-7453-DB57-9B17-5ABCA2426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674" y="1853248"/>
            <a:ext cx="4390391" cy="14522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D5A512-709A-5246-25C8-D46CFE628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12" t="26391" r="11089" b="3"/>
          <a:stretch/>
        </p:blipFill>
        <p:spPr>
          <a:xfrm>
            <a:off x="2716305" y="4250272"/>
            <a:ext cx="2151530" cy="255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4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0695-287C-7EB7-55B2-7A227100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 Container Properties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E4C446-9888-7231-9E7C-EEA08D864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762" y="1332364"/>
            <a:ext cx="9825931" cy="5525636"/>
          </a:xfrm>
        </p:spPr>
      </p:pic>
    </p:spTree>
    <p:extLst>
      <p:ext uri="{BB962C8B-B14F-4D97-AF65-F5344CB8AC3E}">
        <p14:creationId xmlns:p14="http://schemas.microsoft.com/office/powerpoint/2010/main" val="328187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2589-16CE-F746-3A5C-79861343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 Container Properties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5F2E32-FB9C-D02F-238F-56B70FF90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853248"/>
            <a:ext cx="10528516" cy="3761114"/>
          </a:xfrm>
        </p:spPr>
      </p:pic>
    </p:spTree>
    <p:extLst>
      <p:ext uri="{BB962C8B-B14F-4D97-AF65-F5344CB8AC3E}">
        <p14:creationId xmlns:p14="http://schemas.microsoft.com/office/powerpoint/2010/main" val="1849031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F1BE-CBAB-34AB-1B09-FA6C1F47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 Tracks (Rows and </a:t>
            </a:r>
            <a:r>
              <a:rPr lang="en-US" dirty="0" err="1"/>
              <a:t>Colums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FBE0-1D53-B9A0-3AB7-9B50A3E5B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Inside the grid container you define the number and size of the grid columns and rows.</a:t>
            </a:r>
          </a:p>
          <a:p>
            <a:endParaRPr lang="en-US" dirty="0"/>
          </a:p>
          <a:p>
            <a:r>
              <a:rPr lang="en-US" dirty="0"/>
              <a:t>For this, we will use the following properties:</a:t>
            </a:r>
          </a:p>
          <a:p>
            <a:endParaRPr lang="en-US" dirty="0"/>
          </a:p>
          <a:p>
            <a:r>
              <a:rPr lang="en-US" dirty="0"/>
              <a:t>grid-template-columns - Defines the number and width of the columns in the grid</a:t>
            </a:r>
          </a:p>
          <a:p>
            <a:r>
              <a:rPr lang="en-US" dirty="0"/>
              <a:t>grid-template-rows - Defines the number and height of the rows in the grid</a:t>
            </a:r>
          </a:p>
          <a:p>
            <a:r>
              <a:rPr lang="en-US" dirty="0"/>
              <a:t>grid-template-areas - Defines how to display columns and rows, using named grid items</a:t>
            </a:r>
          </a:p>
        </p:txBody>
      </p:sp>
    </p:spTree>
    <p:extLst>
      <p:ext uri="{BB962C8B-B14F-4D97-AF65-F5344CB8AC3E}">
        <p14:creationId xmlns:p14="http://schemas.microsoft.com/office/powerpoint/2010/main" val="3422913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4B6FE-AEF6-C2C7-986C-822182E7A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2B1C7-C9BE-C073-05AF-29B748D35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9908848" cy="55267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space between the rows and columns in a grid container are called gaps (or gutters).</a:t>
            </a:r>
          </a:p>
          <a:p>
            <a:endParaRPr lang="en-US" dirty="0"/>
          </a:p>
          <a:p>
            <a:r>
              <a:rPr lang="en-US" dirty="0"/>
              <a:t>The gaps are created between the grid rows and columns, not on the outer edges of the grid container.</a:t>
            </a:r>
          </a:p>
          <a:p>
            <a:endParaRPr lang="en-US" dirty="0"/>
          </a:p>
          <a:p>
            <a:r>
              <a:rPr lang="en-US" dirty="0"/>
              <a:t>The default size of the gap is 0, which means that there are no spacing between grid items.</a:t>
            </a:r>
          </a:p>
          <a:p>
            <a:endParaRPr lang="en-US" dirty="0"/>
          </a:p>
          <a:p>
            <a:r>
              <a:rPr lang="en-US" dirty="0"/>
              <a:t>The size of the gap can be adjusted with the following properties:</a:t>
            </a:r>
          </a:p>
          <a:p>
            <a:endParaRPr lang="en-US" dirty="0"/>
          </a:p>
          <a:p>
            <a:r>
              <a:rPr lang="en-US" dirty="0"/>
              <a:t>column-gap - Specifies the gap between grid columns</a:t>
            </a:r>
          </a:p>
          <a:p>
            <a:r>
              <a:rPr lang="en-US" dirty="0"/>
              <a:t>row-gap - Specifies the gap between grid rows</a:t>
            </a:r>
          </a:p>
          <a:p>
            <a:r>
              <a:rPr lang="en-US" dirty="0"/>
              <a:t>gap - Shorthand property for row-gap and column-gap</a:t>
            </a:r>
          </a:p>
        </p:txBody>
      </p:sp>
    </p:spTree>
    <p:extLst>
      <p:ext uri="{BB962C8B-B14F-4D97-AF65-F5344CB8AC3E}">
        <p14:creationId xmlns:p14="http://schemas.microsoft.com/office/powerpoint/2010/main" val="295787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3774D-8ECE-38E1-7E12-D8CB8DB8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CSS Grid Gap Properties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6ED36B-C1BF-0699-F6B1-8E6D08C1E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0" y="1609865"/>
            <a:ext cx="10992497" cy="3231076"/>
          </a:xfrm>
        </p:spPr>
      </p:pic>
    </p:spTree>
    <p:extLst>
      <p:ext uri="{BB962C8B-B14F-4D97-AF65-F5344CB8AC3E}">
        <p14:creationId xmlns:p14="http://schemas.microsoft.com/office/powerpoint/2010/main" val="1724787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968BF-A031-822C-D04C-F5AEE4DD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75" y="452718"/>
            <a:ext cx="11813966" cy="1001509"/>
          </a:xfrm>
        </p:spPr>
        <p:txBody>
          <a:bodyPr/>
          <a:lstStyle/>
          <a:p>
            <a:r>
              <a:rPr lang="en-US" dirty="0"/>
              <a:t>CSS Sizing/Spanning Grid Items Grid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BC958-07BE-5DCE-D285-EB82BA52E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961" y="1255923"/>
            <a:ext cx="10554159" cy="560207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grid item can span over </a:t>
            </a:r>
            <a:r>
              <a:rPr lang="en-US" dirty="0" err="1"/>
              <a:t>mulitiple</a:t>
            </a:r>
            <a:r>
              <a:rPr lang="en-US" dirty="0"/>
              <a:t> columns or rows.</a:t>
            </a:r>
          </a:p>
          <a:p>
            <a:pPr>
              <a:lnSpc>
                <a:spcPct val="150000"/>
              </a:lnSpc>
            </a:pPr>
            <a:r>
              <a:rPr lang="en-US" dirty="0"/>
              <a:t>We can specify where to start and end a grid item by using the following properties:</a:t>
            </a:r>
          </a:p>
          <a:p>
            <a:pPr>
              <a:lnSpc>
                <a:spcPct val="150000"/>
              </a:lnSpc>
            </a:pPr>
            <a:r>
              <a:rPr lang="en-US" dirty="0"/>
              <a:t>grid-column-start - Specifies on which column-line the grid item will start</a:t>
            </a:r>
          </a:p>
          <a:p>
            <a:pPr>
              <a:lnSpc>
                <a:spcPct val="150000"/>
              </a:lnSpc>
            </a:pPr>
            <a:r>
              <a:rPr lang="en-US" dirty="0"/>
              <a:t>grid-column-end - Specifies on which column-line the grid item will end</a:t>
            </a:r>
          </a:p>
          <a:p>
            <a:pPr>
              <a:lnSpc>
                <a:spcPct val="150000"/>
              </a:lnSpc>
            </a:pPr>
            <a:r>
              <a:rPr lang="en-US" dirty="0"/>
              <a:t>grid-column - Shorthand property for grid-column-start and grid-column-end</a:t>
            </a:r>
          </a:p>
          <a:p>
            <a:pPr>
              <a:lnSpc>
                <a:spcPct val="150000"/>
              </a:lnSpc>
            </a:pPr>
            <a:r>
              <a:rPr lang="en-US" dirty="0"/>
              <a:t>grid-row-start - Specifies on which row-line the grid item will start</a:t>
            </a:r>
          </a:p>
          <a:p>
            <a:pPr>
              <a:lnSpc>
                <a:spcPct val="150000"/>
              </a:lnSpc>
            </a:pPr>
            <a:r>
              <a:rPr lang="en-US" dirty="0"/>
              <a:t>grid-row-end - Specifies on which row-line the grid item will end</a:t>
            </a:r>
          </a:p>
          <a:p>
            <a:pPr>
              <a:lnSpc>
                <a:spcPct val="150000"/>
              </a:lnSpc>
            </a:pPr>
            <a:r>
              <a:rPr lang="en-US" dirty="0"/>
              <a:t>grid-row - Shorthand property for grid-row-start and grid-row-end</a:t>
            </a:r>
          </a:p>
          <a:p>
            <a:pPr>
              <a:lnSpc>
                <a:spcPct val="150000"/>
              </a:lnSpc>
            </a:pPr>
            <a:r>
              <a:rPr lang="en-US" dirty="0"/>
              <a:t>The lines between the columns in a grid are called column-lines, and the lines between the rows in a grid are called row-lines.</a:t>
            </a:r>
          </a:p>
        </p:txBody>
      </p:sp>
    </p:spTree>
    <p:extLst>
      <p:ext uri="{BB962C8B-B14F-4D97-AF65-F5344CB8AC3E}">
        <p14:creationId xmlns:p14="http://schemas.microsoft.com/office/powerpoint/2010/main" val="2720889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E20F-13D4-C15A-5146-B83DB2F9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Naming Grid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971F2-FB8C-B79F-1E00-001C01CB5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64395"/>
            <a:ext cx="10607618" cy="5122843"/>
          </a:xfrm>
        </p:spPr>
        <p:txBody>
          <a:bodyPr/>
          <a:lstStyle/>
          <a:p>
            <a:r>
              <a:rPr lang="en-US" dirty="0"/>
              <a:t>Naming Grid Items with grid-area</a:t>
            </a:r>
          </a:p>
          <a:p>
            <a:r>
              <a:rPr lang="en-US" dirty="0"/>
              <a:t>The CSS grid-template-areas is a grid container property, and it specifies areas within the grid layout.</a:t>
            </a:r>
          </a:p>
          <a:p>
            <a:endParaRPr lang="en-US" dirty="0"/>
          </a:p>
          <a:p>
            <a:r>
              <a:rPr lang="en-US" dirty="0"/>
              <a:t>You can name grid items by using the CSS grid-area property, and then reference to the name in the grid-template-areas property.</a:t>
            </a:r>
          </a:p>
          <a:p>
            <a:endParaRPr lang="en-US" dirty="0"/>
          </a:p>
          <a:p>
            <a:r>
              <a:rPr lang="en-US" dirty="0"/>
              <a:t>Each area is defined within apostrophes. The named grid items in each area is defined inside the apostrophes, separated by a space.</a:t>
            </a:r>
          </a:p>
        </p:txBody>
      </p:sp>
    </p:spTree>
    <p:extLst>
      <p:ext uri="{BB962C8B-B14F-4D97-AF65-F5344CB8AC3E}">
        <p14:creationId xmlns:p14="http://schemas.microsoft.com/office/powerpoint/2010/main" val="1966272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34BB-6125-41D7-71D8-286A4FAB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Web Page Template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B63756-D276-2F87-3236-9111D3E64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732" y="1399228"/>
            <a:ext cx="8769140" cy="5234639"/>
          </a:xfrm>
        </p:spPr>
      </p:pic>
    </p:spTree>
    <p:extLst>
      <p:ext uri="{BB962C8B-B14F-4D97-AF65-F5344CB8AC3E}">
        <p14:creationId xmlns:p14="http://schemas.microsoft.com/office/powerpoint/2010/main" val="1156612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9D019-428B-3096-E8A7-65261D35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58" y="122212"/>
            <a:ext cx="9404723" cy="1400530"/>
          </a:xfrm>
        </p:spPr>
        <p:txBody>
          <a:bodyPr/>
          <a:lstStyle/>
          <a:p>
            <a:r>
              <a:rPr lang="en-US" dirty="0"/>
              <a:t>Task: Magazine Layout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13C2F3-9FF0-445C-38B2-465734B42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174" y="822477"/>
            <a:ext cx="7158302" cy="5913311"/>
          </a:xfrm>
        </p:spPr>
      </p:pic>
    </p:spTree>
    <p:extLst>
      <p:ext uri="{BB962C8B-B14F-4D97-AF65-F5344CB8AC3E}">
        <p14:creationId xmlns:p14="http://schemas.microsoft.com/office/powerpoint/2010/main" val="1959797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135</TotalTime>
  <Words>638</Words>
  <Application>Microsoft Office PowerPoint</Application>
  <PresentationFormat>Widescreen</PresentationFormat>
  <Paragraphs>73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Century Gothic</vt:lpstr>
      <vt:lpstr>Wingdings 3</vt:lpstr>
      <vt:lpstr>Ion</vt:lpstr>
      <vt:lpstr>CSS Grid Layouts</vt:lpstr>
      <vt:lpstr>CSS Grid Layout Module</vt:lpstr>
      <vt:lpstr>CSS Grid Components</vt:lpstr>
      <vt:lpstr>Grid vs Flexbox comparison</vt:lpstr>
      <vt:lpstr>CSS Grid Properties</vt:lpstr>
      <vt:lpstr>CSS Grid Properties</vt:lpstr>
      <vt:lpstr>CSS grid properties</vt:lpstr>
      <vt:lpstr>CSS Grid Container</vt:lpstr>
      <vt:lpstr>Display Grid Property</vt:lpstr>
      <vt:lpstr>CSS Grid Container Properties</vt:lpstr>
      <vt:lpstr>CSS Grid Container Properties</vt:lpstr>
      <vt:lpstr>CSS Grid Tracks (Rows and Colums)</vt:lpstr>
      <vt:lpstr>CSS Grid Gap</vt:lpstr>
      <vt:lpstr> CSS Grid Gap Properties</vt:lpstr>
      <vt:lpstr>CSS Sizing/Spanning Grid Items Grid Items</vt:lpstr>
      <vt:lpstr>CSS Naming Grid Items</vt:lpstr>
      <vt:lpstr>Practical: Web Page Template</vt:lpstr>
      <vt:lpstr>Task: Magazine Layout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24</cp:revision>
  <dcterms:created xsi:type="dcterms:W3CDTF">2026-02-19T12:06:03Z</dcterms:created>
  <dcterms:modified xsi:type="dcterms:W3CDTF">2026-02-20T08:53:58Z</dcterms:modified>
</cp:coreProperties>
</file>