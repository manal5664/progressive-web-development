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2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2" r:id="rId24"/>
    <p:sldId id="278" r:id="rId25"/>
    <p:sldId id="280" r:id="rId26"/>
    <p:sldId id="279" r:id="rId27"/>
    <p:sldId id="281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3" autoAdjust="0"/>
    <p:restoredTop sz="93865" autoAdjust="0"/>
  </p:normalViewPr>
  <p:slideViewPr>
    <p:cSldViewPr snapToGrid="0">
      <p:cViewPr>
        <p:scale>
          <a:sx n="80" d="100"/>
          <a:sy n="80" d="100"/>
        </p:scale>
        <p:origin x="54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6DACB-58D2-4780-8AE9-7A2638375B8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E603A7-0599-4F51-BA40-03C80B1B7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98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603A7-0599-4F51-BA40-03C80B1B704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0599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603A7-0599-4F51-BA40-03C80B1B704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939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603A7-0599-4F51-BA40-03C80B1B704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1341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603A7-0599-4F51-BA40-03C80B1B704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349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42F63-09D1-419C-BB54-F5145C46D23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A633-94CE-4D88-8B77-6AD3D2130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233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42F63-09D1-419C-BB54-F5145C46D23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A633-94CE-4D88-8B77-6AD3D2130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704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42F63-09D1-419C-BB54-F5145C46D23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A633-94CE-4D88-8B77-6AD3D2130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751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42F63-09D1-419C-BB54-F5145C46D23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A633-94CE-4D88-8B77-6AD3D2130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129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42F63-09D1-419C-BB54-F5145C46D23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A633-94CE-4D88-8B77-6AD3D2130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636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42F63-09D1-419C-BB54-F5145C46D23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A633-94CE-4D88-8B77-6AD3D2130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61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42F63-09D1-419C-BB54-F5145C46D23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A633-94CE-4D88-8B77-6AD3D2130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32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42F63-09D1-419C-BB54-F5145C46D23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A633-94CE-4D88-8B77-6AD3D2130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112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42F63-09D1-419C-BB54-F5145C46D23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A633-94CE-4D88-8B77-6AD3D2130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507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42F63-09D1-419C-BB54-F5145C46D23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A633-94CE-4D88-8B77-6AD3D2130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630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42F63-09D1-419C-BB54-F5145C46D23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A633-94CE-4D88-8B77-6AD3D2130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6883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42F63-09D1-419C-BB54-F5145C46D23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A633-94CE-4D88-8B77-6AD3D2130A3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990280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42F63-09D1-419C-BB54-F5145C46D23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A633-94CE-4D88-8B77-6AD3D2130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1883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42F63-09D1-419C-BB54-F5145C46D23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A633-94CE-4D88-8B77-6AD3D2130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969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42F63-09D1-419C-BB54-F5145C46D23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A633-94CE-4D88-8B77-6AD3D2130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704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42F63-09D1-419C-BB54-F5145C46D23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A633-94CE-4D88-8B77-6AD3D2130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54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42F63-09D1-419C-BB54-F5145C46D23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A633-94CE-4D88-8B77-6AD3D2130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884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C242F63-09D1-419C-BB54-F5145C46D238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3A633-94CE-4D88-8B77-6AD3D2130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8376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A5838-6274-74DB-A951-D141454185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429" y="938514"/>
            <a:ext cx="10871141" cy="3329581"/>
          </a:xfrm>
        </p:spPr>
        <p:txBody>
          <a:bodyPr/>
          <a:lstStyle/>
          <a:p>
            <a:r>
              <a:rPr lang="en-US" sz="6500" dirty="0"/>
              <a:t>Introduction to JavaScript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EFD5E5-2C3A-CDB4-7FC2-8FF0312FBE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5507" y="4418565"/>
            <a:ext cx="8825658" cy="861420"/>
          </a:xfrm>
        </p:spPr>
        <p:txBody>
          <a:bodyPr/>
          <a:lstStyle/>
          <a:p>
            <a:r>
              <a:rPr lang="en-US" dirty="0"/>
              <a:t>Presented by: Manal Asghar</a:t>
            </a:r>
          </a:p>
        </p:txBody>
      </p:sp>
    </p:spTree>
    <p:extLst>
      <p:ext uri="{BB962C8B-B14F-4D97-AF65-F5344CB8AC3E}">
        <p14:creationId xmlns:p14="http://schemas.microsoft.com/office/powerpoint/2010/main" val="1390888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29F91-27ED-A999-C577-E0D3E5647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JavaScript?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3B1C3-394E-5E16-607A-61ABA515F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JavaScript is a programming language used to make web pages interactive.</a:t>
            </a:r>
          </a:p>
          <a:p>
            <a:r>
              <a:rPr lang="en-US" dirty="0"/>
              <a:t>It runs inside web browsers.</a:t>
            </a:r>
          </a:p>
          <a:p>
            <a:pPr marL="0" indent="0">
              <a:buNone/>
            </a:pPr>
            <a:r>
              <a:rPr lang="en-US" dirty="0"/>
              <a:t>It is used for:</a:t>
            </a:r>
          </a:p>
          <a:p>
            <a:r>
              <a:rPr lang="en-US" dirty="0"/>
              <a:t>Form validation</a:t>
            </a:r>
          </a:p>
          <a:p>
            <a:r>
              <a:rPr lang="en-US" dirty="0"/>
              <a:t>Animations</a:t>
            </a:r>
          </a:p>
          <a:p>
            <a:r>
              <a:rPr lang="en-US" dirty="0"/>
              <a:t>Games</a:t>
            </a:r>
          </a:p>
          <a:p>
            <a:r>
              <a:rPr lang="en-US" dirty="0"/>
              <a:t>Dynamic content updates</a:t>
            </a:r>
          </a:p>
          <a:p>
            <a:pPr marL="0" indent="0">
              <a:buNone/>
            </a:pPr>
            <a:r>
              <a:rPr lang="en-US" dirty="0"/>
              <a:t>Works together with: </a:t>
            </a:r>
          </a:p>
          <a:p>
            <a:r>
              <a:rPr lang="en-US" dirty="0"/>
              <a:t>HTML (structure)</a:t>
            </a:r>
          </a:p>
          <a:p>
            <a:r>
              <a:rPr lang="en-US" dirty="0"/>
              <a:t>CSS (style)</a:t>
            </a:r>
          </a:p>
        </p:txBody>
      </p:sp>
    </p:spTree>
    <p:extLst>
      <p:ext uri="{BB962C8B-B14F-4D97-AF65-F5344CB8AC3E}">
        <p14:creationId xmlns:p14="http://schemas.microsoft.com/office/powerpoint/2010/main" val="4274597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5A84E-0573-C688-D27A-3DD95E737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Can JavaScript Do?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02211-F36E-1CFE-83B7-13FB81CFF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JavaScript can:</a:t>
            </a:r>
          </a:p>
          <a:p>
            <a:pPr>
              <a:lnSpc>
                <a:spcPct val="150000"/>
              </a:lnSpc>
            </a:pPr>
            <a:r>
              <a:rPr lang="en-US" dirty="0"/>
              <a:t>Calculate and process data</a:t>
            </a:r>
          </a:p>
          <a:p>
            <a:pPr>
              <a:lnSpc>
                <a:spcPct val="150000"/>
              </a:lnSpc>
            </a:pPr>
            <a:r>
              <a:rPr lang="en-US" dirty="0"/>
              <a:t>Manipulate and validate user input</a:t>
            </a:r>
          </a:p>
          <a:p>
            <a:pPr>
              <a:lnSpc>
                <a:spcPct val="150000"/>
              </a:lnSpc>
            </a:pPr>
            <a:r>
              <a:rPr lang="en-US" dirty="0"/>
              <a:t>Dynamically update web pages</a:t>
            </a:r>
          </a:p>
          <a:p>
            <a:pPr>
              <a:lnSpc>
                <a:spcPct val="150000"/>
              </a:lnSpc>
            </a:pPr>
            <a:r>
              <a:rPr lang="en-US" dirty="0"/>
              <a:t>Control HTML and CSS</a:t>
            </a:r>
          </a:p>
        </p:txBody>
      </p:sp>
    </p:spTree>
    <p:extLst>
      <p:ext uri="{BB962C8B-B14F-4D97-AF65-F5344CB8AC3E}">
        <p14:creationId xmlns:p14="http://schemas.microsoft.com/office/powerpoint/2010/main" val="3828707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E0316-9DEE-4192-AB73-C95D1BD15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264696" cy="1081614"/>
          </a:xfrm>
        </p:spPr>
        <p:txBody>
          <a:bodyPr/>
          <a:lstStyle/>
          <a:p>
            <a:r>
              <a:rPr lang="en-US" sz="3600" dirty="0"/>
              <a:t>JavaScript &amp; HTML Interaction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FABB8-AD89-6134-52E6-0C105CAAF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827" y="1412058"/>
            <a:ext cx="8946541" cy="41954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JavaScript can:</a:t>
            </a:r>
          </a:p>
          <a:p>
            <a:r>
              <a:rPr lang="en-US" dirty="0"/>
              <a:t>Find HTML elements using </a:t>
            </a:r>
            <a:r>
              <a:rPr lang="en-US" dirty="0" err="1"/>
              <a:t>getElementById</a:t>
            </a:r>
            <a:r>
              <a:rPr lang="en-US" dirty="0"/>
              <a:t>()</a:t>
            </a:r>
          </a:p>
          <a:p>
            <a:r>
              <a:rPr lang="en-US" dirty="0"/>
              <a:t>Change HTML content using </a:t>
            </a:r>
            <a:r>
              <a:rPr lang="en-US" dirty="0" err="1"/>
              <a:t>innerHTML</a:t>
            </a:r>
            <a:endParaRPr lang="en-US" dirty="0"/>
          </a:p>
          <a:p>
            <a:r>
              <a:rPr lang="en-US" dirty="0" err="1"/>
              <a:t>document.getElementById</a:t>
            </a:r>
            <a:r>
              <a:rPr lang="en-US" dirty="0"/>
              <a:t>("demo").</a:t>
            </a:r>
            <a:r>
              <a:rPr lang="en-US" dirty="0" err="1"/>
              <a:t>innerHTML</a:t>
            </a:r>
            <a:r>
              <a:rPr lang="en-US" dirty="0"/>
              <a:t> = "Hello JavaScript";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fr-FR" dirty="0"/>
              <a:t>JavaScript </a:t>
            </a:r>
            <a:r>
              <a:rPr lang="fr-FR" dirty="0" err="1"/>
              <a:t>accepts</a:t>
            </a:r>
            <a:r>
              <a:rPr lang="fr-FR" dirty="0"/>
              <a:t>:</a:t>
            </a:r>
          </a:p>
          <a:p>
            <a:r>
              <a:rPr lang="fr-FR" dirty="0"/>
              <a:t>Double </a:t>
            </a:r>
            <a:r>
              <a:rPr lang="fr-FR" dirty="0" err="1"/>
              <a:t>quotes</a:t>
            </a:r>
            <a:r>
              <a:rPr lang="fr-FR" dirty="0"/>
              <a:t> " « </a:t>
            </a:r>
          </a:p>
          <a:p>
            <a:r>
              <a:rPr lang="fr-FR" dirty="0"/>
              <a:t>Single </a:t>
            </a:r>
            <a:r>
              <a:rPr lang="fr-FR" dirty="0" err="1"/>
              <a:t>quotes</a:t>
            </a:r>
            <a:r>
              <a:rPr lang="fr-FR" dirty="0"/>
              <a:t> ' '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802A14-3966-48AC-BE79-E6595965EDE5}"/>
              </a:ext>
            </a:extLst>
          </p:cNvPr>
          <p:cNvSpPr txBox="1"/>
          <p:nvPr/>
        </p:nvSpPr>
        <p:spPr>
          <a:xfrm>
            <a:off x="646111" y="3247770"/>
            <a:ext cx="60985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sz="3600" dirty="0"/>
              <a:t>JavaScript</a:t>
            </a:r>
            <a:r>
              <a:rPr lang="fr-FR" sz="3200" dirty="0"/>
              <a:t> Quotes:</a:t>
            </a:r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1863676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66376-8578-9415-D6A2-3BFB830EE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Changing HTML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AF363-82B3-3065-1074-59A7E7E34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JavaScript can modify HTML attributes such as:</a:t>
            </a:r>
          </a:p>
          <a:p>
            <a:r>
              <a:rPr lang="en-US" dirty="0" err="1"/>
              <a:t>Src</a:t>
            </a:r>
            <a:endParaRPr lang="en-US" dirty="0"/>
          </a:p>
          <a:p>
            <a:r>
              <a:rPr lang="en-US" dirty="0" err="1"/>
              <a:t>Href</a:t>
            </a:r>
            <a:endParaRPr lang="en-US" dirty="0"/>
          </a:p>
          <a:p>
            <a:r>
              <a:rPr lang="en-US" dirty="0"/>
              <a:t>Value</a:t>
            </a:r>
          </a:p>
          <a:p>
            <a:r>
              <a:rPr lang="en-US" dirty="0"/>
              <a:t>Example :</a:t>
            </a:r>
          </a:p>
          <a:p>
            <a:r>
              <a:rPr lang="en-US" dirty="0"/>
              <a:t>Turning a light bulb image ON and OFF</a:t>
            </a:r>
          </a:p>
        </p:txBody>
      </p:sp>
    </p:spTree>
    <p:extLst>
      <p:ext uri="{BB962C8B-B14F-4D97-AF65-F5344CB8AC3E}">
        <p14:creationId xmlns:p14="http://schemas.microsoft.com/office/powerpoint/2010/main" val="3533466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24C94-8EFC-D209-DBFE-1298E4D69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251240"/>
            <a:ext cx="10153231" cy="832297"/>
          </a:xfrm>
        </p:spPr>
        <p:txBody>
          <a:bodyPr/>
          <a:lstStyle/>
          <a:p>
            <a:r>
              <a:rPr lang="en-US" dirty="0"/>
              <a:t>JavaScript &amp; CSS Styling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5EB54-9E8D-CBFF-8037-1F3F7B1D8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29" y="1175493"/>
            <a:ext cx="11769013" cy="543126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JavaScript can change CSS styles dynamically.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document.getElementById</a:t>
            </a:r>
            <a:r>
              <a:rPr lang="en-US" dirty="0"/>
              <a:t>("demo").</a:t>
            </a:r>
            <a:r>
              <a:rPr lang="en-US" dirty="0" err="1"/>
              <a:t>style.fontSize</a:t>
            </a:r>
            <a:r>
              <a:rPr lang="en-US" dirty="0"/>
              <a:t> = "35px";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JavaScript can hide elements by changing CSS display.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document.getElementById</a:t>
            </a:r>
            <a:r>
              <a:rPr lang="en-US" dirty="0"/>
              <a:t>("demo").</a:t>
            </a:r>
            <a:r>
              <a:rPr lang="en-US" dirty="0" err="1"/>
              <a:t>style.display</a:t>
            </a:r>
            <a:r>
              <a:rPr lang="en-US" dirty="0"/>
              <a:t> = "none";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Hidden elements can be shown again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document.getElementById</a:t>
            </a:r>
            <a:r>
              <a:rPr lang="en-US" dirty="0"/>
              <a:t>("demo").</a:t>
            </a:r>
            <a:r>
              <a:rPr lang="en-US" dirty="0" err="1"/>
              <a:t>style.display</a:t>
            </a:r>
            <a:r>
              <a:rPr lang="en-US" dirty="0"/>
              <a:t> = "block";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C01F2C9-675A-A10A-4ECE-F33A622ABE51}"/>
              </a:ext>
            </a:extLst>
          </p:cNvPr>
          <p:cNvSpPr txBox="1">
            <a:spLocks/>
          </p:cNvSpPr>
          <p:nvPr/>
        </p:nvSpPr>
        <p:spPr>
          <a:xfrm>
            <a:off x="645128" y="2402996"/>
            <a:ext cx="9404723" cy="8322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Hiding HTML Elements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0E3C2DC-D4FE-1447-8327-A4715710911A}"/>
              </a:ext>
            </a:extLst>
          </p:cNvPr>
          <p:cNvSpPr txBox="1">
            <a:spLocks/>
          </p:cNvSpPr>
          <p:nvPr/>
        </p:nvSpPr>
        <p:spPr>
          <a:xfrm>
            <a:off x="645128" y="4462796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Showing HTML Elements</a:t>
            </a:r>
          </a:p>
        </p:txBody>
      </p:sp>
    </p:spTree>
    <p:extLst>
      <p:ext uri="{BB962C8B-B14F-4D97-AF65-F5344CB8AC3E}">
        <p14:creationId xmlns:p14="http://schemas.microsoft.com/office/powerpoint/2010/main" val="2618407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CFF2B-8BF9-0941-6F51-85240806B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Where 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264D6-A011-8CAF-0124-E903D69B2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587541"/>
            <a:ext cx="10636655" cy="499923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 &lt;script&gt; Tag</a:t>
            </a:r>
          </a:p>
          <a:p>
            <a:pPr>
              <a:lnSpc>
                <a:spcPct val="150000"/>
              </a:lnSpc>
            </a:pPr>
            <a:r>
              <a:rPr lang="en-US" dirty="0"/>
              <a:t>In HTML, JavaScript code is inserted between &lt;script&gt; and &lt;/script&gt; tags.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You can place any number of scripts in an HTML document.</a:t>
            </a:r>
          </a:p>
          <a:p>
            <a:endParaRPr lang="en-US" dirty="0"/>
          </a:p>
          <a:p>
            <a:r>
              <a:rPr lang="en-US" dirty="0"/>
              <a:t>Scripts can be placed in the &lt;body&gt;, or in the &lt;head&gt; section of an HTML page, or in both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BE31B07-C208-1070-A830-54565EE543CC}"/>
              </a:ext>
            </a:extLst>
          </p:cNvPr>
          <p:cNvSpPr txBox="1">
            <a:spLocks/>
          </p:cNvSpPr>
          <p:nvPr/>
        </p:nvSpPr>
        <p:spPr>
          <a:xfrm>
            <a:off x="646111" y="2988071"/>
            <a:ext cx="9404723" cy="9484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JavaScript in &lt;head&gt; or &lt;body&gt;</a:t>
            </a:r>
          </a:p>
        </p:txBody>
      </p:sp>
    </p:spTree>
    <p:extLst>
      <p:ext uri="{BB962C8B-B14F-4D97-AF65-F5344CB8AC3E}">
        <p14:creationId xmlns:p14="http://schemas.microsoft.com/office/powerpoint/2010/main" val="885400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58EEF-0617-F053-27FA-89485036F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CB8DF-63AB-BD2C-A66B-03969F795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463983"/>
            <a:ext cx="11182480" cy="506080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200" dirty="0"/>
              <a:t>Scripts can also be placed in external files: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External scripts are practical when the same code is used in many different web pages.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JavaScript files have the file extension .</a:t>
            </a:r>
            <a:r>
              <a:rPr lang="en-US" sz="2200" dirty="0" err="1"/>
              <a:t>js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/>
              <a:t>To use an external script, put the name of the script file in the </a:t>
            </a:r>
            <a:r>
              <a:rPr lang="en-US" sz="2200" dirty="0" err="1"/>
              <a:t>src</a:t>
            </a:r>
            <a:r>
              <a:rPr lang="en-US" sz="2200" dirty="0"/>
              <a:t> (source) attribute of a &lt;script&gt; tag: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&lt;script </a:t>
            </a:r>
            <a:r>
              <a:rPr lang="en-US" sz="2200" dirty="0" err="1"/>
              <a:t>src</a:t>
            </a:r>
            <a:r>
              <a:rPr lang="en-US" sz="2200" dirty="0"/>
              <a:t>="myScript.js"&gt;&lt;/script&gt;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External scripts cannot contain &lt;script&gt; tags.</a:t>
            </a:r>
          </a:p>
        </p:txBody>
      </p:sp>
    </p:spTree>
    <p:extLst>
      <p:ext uri="{BB962C8B-B14F-4D97-AF65-F5344CB8AC3E}">
        <p14:creationId xmlns:p14="http://schemas.microsoft.com/office/powerpoint/2010/main" val="464280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8116-7BAF-2DCD-BF09-7939D3E9A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654E6-601D-2CFA-504C-615802AC8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9993474" cy="462685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JavaScript can "display" data in different ways:</a:t>
            </a:r>
          </a:p>
          <a:p>
            <a:pPr>
              <a:lnSpc>
                <a:spcPct val="150000"/>
              </a:lnSpc>
            </a:pPr>
            <a:r>
              <a:rPr lang="en-US" dirty="0"/>
              <a:t>Writing into an HTML element</a:t>
            </a:r>
            <a:r>
              <a:rPr lang="en-US" sz="2400" b="1" dirty="0"/>
              <a:t>, using </a:t>
            </a:r>
            <a:r>
              <a:rPr lang="en-US" sz="2400" b="1" dirty="0" err="1"/>
              <a:t>innerHTML</a:t>
            </a:r>
            <a:r>
              <a:rPr lang="en-US" sz="2400" b="1" dirty="0"/>
              <a:t> </a:t>
            </a:r>
            <a:r>
              <a:rPr lang="en-US" dirty="0"/>
              <a:t>or </a:t>
            </a:r>
            <a:r>
              <a:rPr lang="en-US" sz="2400" b="1" dirty="0" err="1"/>
              <a:t>innerText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/>
              <a:t>Writing into the HTML output using </a:t>
            </a:r>
            <a:r>
              <a:rPr lang="en-US" sz="2400" b="1" dirty="0" err="1"/>
              <a:t>document.write</a:t>
            </a:r>
            <a:r>
              <a:rPr lang="en-US" sz="2400" b="1" dirty="0"/>
              <a:t>().</a:t>
            </a:r>
            <a:endParaRPr lang="en-US" b="1" dirty="0"/>
          </a:p>
          <a:p>
            <a:pPr>
              <a:lnSpc>
                <a:spcPct val="150000"/>
              </a:lnSpc>
            </a:pPr>
            <a:r>
              <a:rPr lang="en-US" dirty="0"/>
              <a:t>Writing into an alert box, using </a:t>
            </a:r>
            <a:r>
              <a:rPr lang="en-US" sz="2400" b="1" dirty="0" err="1"/>
              <a:t>window.alert</a:t>
            </a:r>
            <a:r>
              <a:rPr lang="en-US" sz="2400" b="1" dirty="0"/>
              <a:t>().</a:t>
            </a:r>
            <a:endParaRPr lang="en-US" b="1" dirty="0"/>
          </a:p>
          <a:p>
            <a:pPr>
              <a:lnSpc>
                <a:spcPct val="150000"/>
              </a:lnSpc>
            </a:pPr>
            <a:r>
              <a:rPr lang="en-US" dirty="0"/>
              <a:t>Writing into the browser console, using </a:t>
            </a:r>
            <a:r>
              <a:rPr lang="en-US" sz="2400" b="1" dirty="0"/>
              <a:t>console.log().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53633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82F6D-1DCB-48D3-30C7-D7CD53E41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innerHTML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1E483-754C-B80E-D463-DA1D8759C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871" y="1610228"/>
            <a:ext cx="5091993" cy="4195481"/>
          </a:xfrm>
        </p:spPr>
        <p:txBody>
          <a:bodyPr/>
          <a:lstStyle/>
          <a:p>
            <a:r>
              <a:rPr lang="en-US" dirty="0"/>
              <a:t>To access an HTML element, you can use the </a:t>
            </a:r>
            <a:r>
              <a:rPr lang="en-US" dirty="0" err="1"/>
              <a:t>document.getElementById</a:t>
            </a:r>
            <a:r>
              <a:rPr lang="en-US" dirty="0"/>
              <a:t>(id) method.</a:t>
            </a:r>
          </a:p>
          <a:p>
            <a:endParaRPr lang="en-US" dirty="0"/>
          </a:p>
          <a:p>
            <a:r>
              <a:rPr lang="en-US" dirty="0"/>
              <a:t>Use the id attribute to identify the HTML element.</a:t>
            </a:r>
          </a:p>
          <a:p>
            <a:endParaRPr lang="en-US" dirty="0"/>
          </a:p>
          <a:p>
            <a:r>
              <a:rPr lang="en-US" dirty="0"/>
              <a:t>Then use the </a:t>
            </a:r>
            <a:r>
              <a:rPr lang="en-US" dirty="0" err="1"/>
              <a:t>innerHTML</a:t>
            </a:r>
            <a:r>
              <a:rPr lang="en-US" dirty="0"/>
              <a:t> property to change the HTML content of the HTML element: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C5DC48-ED40-B60B-CB2A-5D1CB1C67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624" y="1610228"/>
            <a:ext cx="6096000" cy="419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140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88C74-1A14-FD6D-22C9-D6D511656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innerText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8A605-3F0F-8658-8615-50AA0629E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556012"/>
            <a:ext cx="4820300" cy="4195481"/>
          </a:xfrm>
        </p:spPr>
        <p:txBody>
          <a:bodyPr/>
          <a:lstStyle/>
          <a:p>
            <a:r>
              <a:rPr lang="en-US" dirty="0"/>
              <a:t>To access an HTML element, use the </a:t>
            </a:r>
            <a:r>
              <a:rPr lang="en-US" dirty="0" err="1"/>
              <a:t>document.getElementById</a:t>
            </a:r>
            <a:r>
              <a:rPr lang="en-US" dirty="0"/>
              <a:t>(id) method.</a:t>
            </a:r>
          </a:p>
          <a:p>
            <a:endParaRPr lang="en-US" dirty="0"/>
          </a:p>
          <a:p>
            <a:r>
              <a:rPr lang="en-US" dirty="0"/>
              <a:t>Then use the </a:t>
            </a:r>
            <a:r>
              <a:rPr lang="en-US" dirty="0" err="1"/>
              <a:t>innerText</a:t>
            </a:r>
            <a:r>
              <a:rPr lang="en-US" dirty="0"/>
              <a:t> property to change the inner text of the HTML element: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80D1BA-8B79-D044-D6EF-7FF4F69C1E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84"/>
          <a:stretch/>
        </p:blipFill>
        <p:spPr>
          <a:xfrm>
            <a:off x="5729883" y="1152983"/>
            <a:ext cx="6234808" cy="395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024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2C918-417A-63AF-FE6F-0237599E5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document.write</a:t>
            </a:r>
            <a:r>
              <a:rPr lang="en-US" dirty="0"/>
              <a:t>().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A0051-A0A8-0FB7-8DBD-F3931B2E6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2" y="1603466"/>
            <a:ext cx="6362508" cy="4195481"/>
          </a:xfrm>
        </p:spPr>
        <p:txBody>
          <a:bodyPr>
            <a:normAutofit fontScale="92500"/>
          </a:bodyPr>
          <a:lstStyle/>
          <a:p>
            <a:pPr>
              <a:lnSpc>
                <a:spcPct val="200000"/>
              </a:lnSpc>
            </a:pPr>
            <a:r>
              <a:rPr lang="en-US" dirty="0"/>
              <a:t>For testing purposes, it is convenient to use </a:t>
            </a:r>
            <a:r>
              <a:rPr lang="en-US" dirty="0" err="1"/>
              <a:t>document.write</a:t>
            </a:r>
            <a:r>
              <a:rPr lang="en-US" dirty="0"/>
              <a:t>():</a:t>
            </a:r>
          </a:p>
          <a:p>
            <a:pPr>
              <a:lnSpc>
                <a:spcPct val="200000"/>
              </a:lnSpc>
            </a:pPr>
            <a:r>
              <a:rPr lang="en-US" dirty="0"/>
              <a:t>Using </a:t>
            </a:r>
            <a:r>
              <a:rPr lang="en-US" dirty="0" err="1"/>
              <a:t>document.write</a:t>
            </a:r>
            <a:r>
              <a:rPr lang="en-US" dirty="0"/>
              <a:t>() after an HTML document is loaded, will delete all existing HTML:</a:t>
            </a:r>
          </a:p>
          <a:p>
            <a:pPr>
              <a:lnSpc>
                <a:spcPct val="200000"/>
              </a:lnSpc>
            </a:pPr>
            <a:r>
              <a:rPr lang="en-US" dirty="0"/>
              <a:t>The </a:t>
            </a:r>
            <a:r>
              <a:rPr lang="en-US" dirty="0" err="1"/>
              <a:t>document.write</a:t>
            </a:r>
            <a:r>
              <a:rPr lang="en-US" dirty="0"/>
              <a:t>() method should only be used for testing.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7DCBC9-85FA-2869-83B6-FFC3CF081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619" y="1603466"/>
            <a:ext cx="4912088" cy="400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280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8EBAB-3533-CE6D-A969-C7CF91123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Window.alert</a:t>
            </a:r>
            <a:r>
              <a:rPr lang="en-US" dirty="0"/>
              <a:t>().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F716A-E64A-5251-4F3A-6E5C25289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331259"/>
            <a:ext cx="6343625" cy="507402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You can use an alert box to display data:</a:t>
            </a:r>
          </a:p>
          <a:p>
            <a:pPr>
              <a:lnSpc>
                <a:spcPct val="150000"/>
              </a:lnSpc>
            </a:pPr>
            <a:r>
              <a:rPr lang="en-US" dirty="0"/>
              <a:t>In JavaScript, the window object is the global scope object. </a:t>
            </a:r>
          </a:p>
          <a:p>
            <a:pPr>
              <a:lnSpc>
                <a:spcPct val="150000"/>
              </a:lnSpc>
            </a:pPr>
            <a:r>
              <a:rPr lang="en-US" dirty="0"/>
              <a:t>This means that variables, properties, and methods by default belong to the window object.</a:t>
            </a:r>
          </a:p>
          <a:p>
            <a:pPr>
              <a:lnSpc>
                <a:spcPct val="150000"/>
              </a:lnSpc>
            </a:pPr>
            <a:r>
              <a:rPr lang="en-US" dirty="0"/>
              <a:t> This also means that specifying the window keyword is optional: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560591-25B1-E740-0709-623C1911F7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04"/>
          <a:stretch/>
        </p:blipFill>
        <p:spPr>
          <a:xfrm>
            <a:off x="6989736" y="824426"/>
            <a:ext cx="4112949" cy="421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610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9423D-2C6D-C637-BA77-8307D5706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Console.log().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C0541-6D11-A839-EFC7-4C84DA5D4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331258"/>
            <a:ext cx="8946541" cy="4195481"/>
          </a:xfrm>
        </p:spPr>
        <p:txBody>
          <a:bodyPr/>
          <a:lstStyle/>
          <a:p>
            <a:r>
              <a:rPr lang="en-US" dirty="0"/>
              <a:t>For debugging purposes, you can call the console.log() method in the browser to display data.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626DFC-B2C3-D283-6430-7DA36FBA8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309" y="2104410"/>
            <a:ext cx="7085470" cy="4229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103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C939A-3ED3-726D-21EC-A31EA1D82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826" y="452718"/>
            <a:ext cx="5237331" cy="569966"/>
          </a:xfrm>
        </p:spPr>
        <p:txBody>
          <a:bodyPr/>
          <a:lstStyle/>
          <a:p>
            <a:r>
              <a:rPr lang="en-US" sz="2400" dirty="0"/>
              <a:t>JavaScript</a:t>
            </a:r>
            <a:r>
              <a:rPr lang="en-US" sz="2800" dirty="0"/>
              <a:t> </a:t>
            </a:r>
            <a:r>
              <a:rPr lang="en-US" sz="2400" dirty="0"/>
              <a:t>Values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2332C-E79F-F326-4B9A-691521EBC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826" y="1022684"/>
            <a:ext cx="9304006" cy="5630779"/>
          </a:xfrm>
        </p:spPr>
        <p:txBody>
          <a:bodyPr>
            <a:normAutofit/>
          </a:bodyPr>
          <a:lstStyle/>
          <a:p>
            <a:r>
              <a:rPr lang="en-US" dirty="0"/>
              <a:t>The JavaScript syntax defines two types of values:</a:t>
            </a:r>
          </a:p>
          <a:p>
            <a:r>
              <a:rPr lang="en-US" dirty="0"/>
              <a:t>Literals (Fixed values)</a:t>
            </a:r>
          </a:p>
          <a:p>
            <a:r>
              <a:rPr lang="en-US" dirty="0"/>
              <a:t>Variables (Variable values)</a:t>
            </a:r>
          </a:p>
          <a:p>
            <a:pPr marL="0" indent="0">
              <a:buNone/>
            </a:pPr>
            <a:r>
              <a:rPr lang="en-US" sz="2400" dirty="0"/>
              <a:t>JavaScript Literals</a:t>
            </a:r>
          </a:p>
          <a:p>
            <a:r>
              <a:rPr lang="en-US" dirty="0"/>
              <a:t>The most important syntax rules for literals (fixed values) are:</a:t>
            </a:r>
          </a:p>
          <a:p>
            <a:r>
              <a:rPr lang="en-US" dirty="0"/>
              <a:t>Numbers are written with or without decimals: 10.5 , 1001</a:t>
            </a:r>
          </a:p>
          <a:p>
            <a:r>
              <a:rPr lang="en-US" dirty="0"/>
              <a:t>Strings are text, written within double or single quotes: "John Doe“</a:t>
            </a:r>
          </a:p>
          <a:p>
            <a:pPr marL="0" indent="0">
              <a:buNone/>
            </a:pPr>
            <a:r>
              <a:rPr lang="en-US" sz="2400" dirty="0"/>
              <a:t>JavaScript Keywords</a:t>
            </a:r>
          </a:p>
          <a:p>
            <a:r>
              <a:rPr lang="en-US" dirty="0"/>
              <a:t>JavaScript keywords are used to defines actions to be performed.</a:t>
            </a:r>
          </a:p>
          <a:p>
            <a:r>
              <a:rPr lang="en-US" dirty="0"/>
              <a:t>The let and const keywords create variables:</a:t>
            </a:r>
          </a:p>
          <a:p>
            <a:r>
              <a:rPr lang="en-US" dirty="0"/>
              <a:t>let x = 5;</a:t>
            </a:r>
          </a:p>
          <a:p>
            <a:r>
              <a:rPr lang="en-US" dirty="0"/>
              <a:t>const </a:t>
            </a:r>
            <a:r>
              <a:rPr lang="en-US" dirty="0" err="1"/>
              <a:t>fname</a:t>
            </a:r>
            <a:r>
              <a:rPr lang="en-US" dirty="0"/>
              <a:t> = "John";</a:t>
            </a:r>
          </a:p>
        </p:txBody>
      </p:sp>
    </p:spTree>
    <p:extLst>
      <p:ext uri="{BB962C8B-B14F-4D97-AF65-F5344CB8AC3E}">
        <p14:creationId xmlns:p14="http://schemas.microsoft.com/office/powerpoint/2010/main" val="183515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AFBA2-93C6-9804-FA8E-95076AB01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Identifiers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6E139-9EC2-AEEB-6A9A-C4C9E30E5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Variables are identified with unique names called identifiers.</a:t>
            </a:r>
          </a:p>
          <a:p>
            <a:r>
              <a:rPr lang="en-US" dirty="0"/>
              <a:t>An identifier is the name you give to a variable.</a:t>
            </a:r>
          </a:p>
          <a:p>
            <a:r>
              <a:rPr lang="en-US" dirty="0"/>
              <a:t>Rules for identifiers:</a:t>
            </a:r>
          </a:p>
          <a:p>
            <a:r>
              <a:rPr lang="en-US" dirty="0"/>
              <a:t>Must start with a letter, _, or $</a:t>
            </a:r>
          </a:p>
          <a:p>
            <a:r>
              <a:rPr lang="en-US" dirty="0"/>
              <a:t>Can contain digits after the first character</a:t>
            </a:r>
          </a:p>
          <a:p>
            <a:r>
              <a:rPr lang="en-US" dirty="0"/>
              <a:t>Cannot be a reserved keyword (let, const, if, etc.)</a:t>
            </a:r>
          </a:p>
          <a:p>
            <a:r>
              <a:rPr lang="en-US" dirty="0"/>
              <a:t>Are case-sensitive</a:t>
            </a:r>
          </a:p>
        </p:txBody>
      </p:sp>
    </p:spTree>
    <p:extLst>
      <p:ext uri="{BB962C8B-B14F-4D97-AF65-F5344CB8AC3E}">
        <p14:creationId xmlns:p14="http://schemas.microsoft.com/office/powerpoint/2010/main" val="3907425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D50CC-56A2-B4D0-F0BA-E6AC024B2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C915A-05F5-491E-801A-28F58613E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334" y="1487433"/>
            <a:ext cx="8946541" cy="4805083"/>
          </a:xfrm>
        </p:spPr>
        <p:txBody>
          <a:bodyPr>
            <a:normAutofit/>
          </a:bodyPr>
          <a:lstStyle/>
          <a:p>
            <a:r>
              <a:rPr lang="en-US" dirty="0"/>
              <a:t>let x, y, z;    // Statement 1</a:t>
            </a:r>
          </a:p>
          <a:p>
            <a:r>
              <a:rPr lang="en-US" dirty="0"/>
              <a:t>x = 5;          // Statement 2</a:t>
            </a:r>
          </a:p>
          <a:p>
            <a:r>
              <a:rPr lang="en-US" dirty="0"/>
              <a:t>y = 6;          // Statement 3</a:t>
            </a:r>
          </a:p>
          <a:p>
            <a:r>
              <a:rPr lang="en-US" dirty="0"/>
              <a:t>z = x + y;      // Statement 4</a:t>
            </a:r>
          </a:p>
          <a:p>
            <a:r>
              <a:rPr lang="en-US" dirty="0"/>
              <a:t>JavaScript statements are composed of:</a:t>
            </a:r>
          </a:p>
          <a:p>
            <a:r>
              <a:rPr lang="en-US" dirty="0"/>
              <a:t>Values, Operators, Expressions, Keywords, and Comments.</a:t>
            </a:r>
          </a:p>
          <a:p>
            <a:r>
              <a:rPr lang="en-US" dirty="0"/>
              <a:t>This statement tells the browser to write "Hello Dolly." inside an HTML element with id="demo":</a:t>
            </a:r>
          </a:p>
          <a:p>
            <a:endParaRPr lang="en-US" dirty="0"/>
          </a:p>
          <a:p>
            <a:r>
              <a:rPr lang="en-US" dirty="0"/>
              <a:t>Semicolons separate JavaScript statements.</a:t>
            </a:r>
          </a:p>
          <a:p>
            <a:r>
              <a:rPr lang="en-US" dirty="0"/>
              <a:t>Add a semicolon at the end of each executable statement:</a:t>
            </a:r>
          </a:p>
        </p:txBody>
      </p:sp>
    </p:spTree>
    <p:extLst>
      <p:ext uri="{BB962C8B-B14F-4D97-AF65-F5344CB8AC3E}">
        <p14:creationId xmlns:p14="http://schemas.microsoft.com/office/powerpoint/2010/main" val="32854955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E128-1E6B-F6D9-49E1-33BF8322A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White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AD288-9D65-493E-6A1D-D20DC1B74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27" y="1583687"/>
            <a:ext cx="8946541" cy="4195481"/>
          </a:xfrm>
        </p:spPr>
        <p:txBody>
          <a:bodyPr/>
          <a:lstStyle/>
          <a:p>
            <a:r>
              <a:rPr lang="en-US" dirty="0"/>
              <a:t>JavaScript ignores multiple spaces. You can add white space to your script to make it more readable.</a:t>
            </a:r>
          </a:p>
          <a:p>
            <a:r>
              <a:rPr lang="en-US" dirty="0"/>
              <a:t>The following lines are equivalent:</a:t>
            </a:r>
          </a:p>
          <a:p>
            <a:r>
              <a:rPr lang="en-US" dirty="0"/>
              <a:t>let person = "Hege";</a:t>
            </a:r>
          </a:p>
          <a:p>
            <a:r>
              <a:rPr lang="en-US" dirty="0"/>
              <a:t>let person="Hege";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245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39658-9994-7FC5-AC54-D06C28033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Keywords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304986-7727-E2A2-AE9D-748D398245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58542" y="1279549"/>
            <a:ext cx="7390984" cy="5125733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5A53213-A4C6-7B8D-6C04-791F859B7A48}"/>
              </a:ext>
            </a:extLst>
          </p:cNvPr>
          <p:cNvSpPr txBox="1"/>
          <p:nvPr/>
        </p:nvSpPr>
        <p:spPr>
          <a:xfrm>
            <a:off x="646111" y="1433445"/>
            <a:ext cx="2843047" cy="2117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JavaScript keywords are reserved words. Reserved words cannot be used as names for variables.</a:t>
            </a:r>
          </a:p>
        </p:txBody>
      </p:sp>
    </p:spTree>
    <p:extLst>
      <p:ext uri="{BB962C8B-B14F-4D97-AF65-F5344CB8AC3E}">
        <p14:creationId xmlns:p14="http://schemas.microsoft.com/office/powerpoint/2010/main" val="26800764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37414-C41D-4369-F32B-196287740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18882"/>
          </a:xfrm>
        </p:spPr>
        <p:txBody>
          <a:bodyPr/>
          <a:lstStyle/>
          <a:p>
            <a:r>
              <a:rPr lang="en-US" dirty="0"/>
              <a:t>JavaScript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42026-1D4F-0F7D-FF4F-92146AA00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371600"/>
            <a:ext cx="8946541" cy="4876799"/>
          </a:xfrm>
        </p:spPr>
        <p:txBody>
          <a:bodyPr>
            <a:normAutofit/>
          </a:bodyPr>
          <a:lstStyle/>
          <a:p>
            <a:r>
              <a:rPr lang="en-US" dirty="0"/>
              <a:t>Variables = Data Containers</a:t>
            </a:r>
          </a:p>
          <a:p>
            <a:r>
              <a:rPr lang="en-US" dirty="0"/>
              <a:t>JavaScript variables are containers for data.</a:t>
            </a:r>
          </a:p>
          <a:p>
            <a:r>
              <a:rPr lang="en-US" dirty="0"/>
              <a:t>JavaScript variables can be declared in 4 ways:</a:t>
            </a:r>
          </a:p>
          <a:p>
            <a:pPr marL="0" indent="0">
              <a:buNone/>
            </a:pPr>
            <a:r>
              <a:rPr lang="en-US" dirty="0"/>
              <a:t>Modern JavaScript</a:t>
            </a:r>
          </a:p>
          <a:p>
            <a:r>
              <a:rPr lang="en-US" dirty="0"/>
              <a:t>Using let</a:t>
            </a:r>
          </a:p>
          <a:p>
            <a:r>
              <a:rPr lang="en-US" dirty="0"/>
              <a:t>Using const</a:t>
            </a:r>
          </a:p>
          <a:p>
            <a:pPr marL="0" indent="0">
              <a:buNone/>
            </a:pPr>
            <a:r>
              <a:rPr lang="en-US" dirty="0"/>
              <a:t>Older JavaScript</a:t>
            </a:r>
          </a:p>
          <a:p>
            <a:r>
              <a:rPr lang="en-US" dirty="0"/>
              <a:t>Using var (Not Recommended)</a:t>
            </a:r>
          </a:p>
          <a:p>
            <a:r>
              <a:rPr lang="en-US" dirty="0"/>
              <a:t>Automatically (Not Recommended)</a:t>
            </a:r>
          </a:p>
        </p:txBody>
      </p:sp>
    </p:spTree>
    <p:extLst>
      <p:ext uri="{BB962C8B-B14F-4D97-AF65-F5344CB8AC3E}">
        <p14:creationId xmlns:p14="http://schemas.microsoft.com/office/powerpoint/2010/main" val="12090362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026E2-42ED-FE29-67C1-6DCEC0465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Let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7FBCE-0FB0-940E-50C2-388A2FA09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751" y="1379149"/>
            <a:ext cx="9693441" cy="5134417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 let keyword was introduced in ES6 (2015)</a:t>
            </a:r>
          </a:p>
          <a:p>
            <a:pPr>
              <a:lnSpc>
                <a:spcPct val="150000"/>
              </a:lnSpc>
            </a:pPr>
            <a:r>
              <a:rPr lang="en-US" dirty="0"/>
              <a:t>Variables declared with let have Block Scope</a:t>
            </a:r>
          </a:p>
          <a:p>
            <a:pPr>
              <a:lnSpc>
                <a:spcPct val="150000"/>
              </a:lnSpc>
            </a:pPr>
            <a:r>
              <a:rPr lang="en-US" dirty="0"/>
              <a:t>Variables declared with let must be Declared before use</a:t>
            </a:r>
          </a:p>
          <a:p>
            <a:pPr>
              <a:lnSpc>
                <a:spcPct val="150000"/>
              </a:lnSpc>
            </a:pPr>
            <a:r>
              <a:rPr lang="en-US" dirty="0"/>
              <a:t>Variables declared with let cannot be Redeclared in the same scope.</a:t>
            </a:r>
          </a:p>
          <a:p>
            <a:r>
              <a:rPr lang="en-US" sz="2800" b="1" dirty="0"/>
              <a:t>Block Scope:</a:t>
            </a:r>
          </a:p>
          <a:p>
            <a:pPr>
              <a:lnSpc>
                <a:spcPct val="150000"/>
              </a:lnSpc>
            </a:pPr>
            <a:r>
              <a:rPr lang="en-US" dirty="0"/>
              <a:t>Before ES6 (2015), JavaScript did not have Block Scope.</a:t>
            </a:r>
          </a:p>
          <a:p>
            <a:pPr>
              <a:lnSpc>
                <a:spcPct val="150000"/>
              </a:lnSpc>
            </a:pPr>
            <a:r>
              <a:rPr lang="en-US" dirty="0"/>
              <a:t>JavaScript had Global Scope and Function Scope.</a:t>
            </a:r>
          </a:p>
          <a:p>
            <a:pPr>
              <a:lnSpc>
                <a:spcPct val="150000"/>
              </a:lnSpc>
            </a:pPr>
            <a:r>
              <a:rPr lang="en-US" dirty="0"/>
              <a:t>ES6 introduced the two new JavaScript keywords: let and const.</a:t>
            </a:r>
          </a:p>
          <a:p>
            <a:pPr>
              <a:lnSpc>
                <a:spcPct val="150000"/>
              </a:lnSpc>
            </a:pPr>
            <a:r>
              <a:rPr lang="en-US" dirty="0"/>
              <a:t>These two keywords provided Block Scope in JavaScript:</a:t>
            </a:r>
          </a:p>
          <a:p>
            <a:endParaRPr lang="en-US" sz="2800" b="1" dirty="0"/>
          </a:p>
          <a:p>
            <a:endParaRPr lang="en-US" sz="2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41F320-0C0E-4A95-DAB1-DF0725613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2371" y="3594243"/>
            <a:ext cx="4247333" cy="1711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2440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50D32-F170-0CE7-2BD5-AB4351727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018" y="348915"/>
            <a:ext cx="8946541" cy="5815263"/>
          </a:xfrm>
        </p:spPr>
        <p:txBody>
          <a:bodyPr/>
          <a:lstStyle/>
          <a:p>
            <a:r>
              <a:rPr lang="en-US" dirty="0"/>
              <a:t>Function Scope:</a:t>
            </a:r>
          </a:p>
          <a:p>
            <a:r>
              <a:rPr lang="en-US" dirty="0"/>
              <a:t>Inside a function all variables declared with var, let or const have Function Scope.</a:t>
            </a:r>
          </a:p>
          <a:p>
            <a:r>
              <a:rPr lang="en-US" dirty="0"/>
              <a:t>All of these cannot be used outside the function.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Global Scope</a:t>
            </a:r>
          </a:p>
          <a:p>
            <a:r>
              <a:rPr lang="en-US" dirty="0"/>
              <a:t>Variables declared with the var always have Global Scope.</a:t>
            </a:r>
          </a:p>
          <a:p>
            <a:r>
              <a:rPr lang="en-US" dirty="0"/>
              <a:t>Variables declared with the var keyword can NOT have block scope: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996B3F-1B9B-F879-56D7-C85B287B1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2699" y="571499"/>
            <a:ext cx="2804961" cy="16182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8CA21D-B945-4032-1F4F-3E820BD17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8077" y="3552610"/>
            <a:ext cx="2277728" cy="124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9831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35276-DEB5-545E-FCCA-6D96F8165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9B2EE-0683-0C07-6BF7-7706EFF04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Primitive Types:</a:t>
            </a:r>
          </a:p>
          <a:p>
            <a:r>
              <a:rPr lang="en-US" dirty="0"/>
              <a:t>Number: 10, 3.14</a:t>
            </a:r>
          </a:p>
          <a:p>
            <a:r>
              <a:rPr lang="en-US" dirty="0"/>
              <a:t>String: "Hello“</a:t>
            </a:r>
          </a:p>
          <a:p>
            <a:r>
              <a:rPr lang="en-US" dirty="0"/>
              <a:t>Boolean: true / false</a:t>
            </a:r>
          </a:p>
          <a:p>
            <a:r>
              <a:rPr lang="en-US" dirty="0"/>
              <a:t>Undefined, Null, Symbol</a:t>
            </a:r>
          </a:p>
          <a:p>
            <a:pPr marL="0" indent="0">
              <a:buNone/>
            </a:pPr>
            <a:r>
              <a:rPr lang="en-US" dirty="0"/>
              <a:t>Non-Primitive:</a:t>
            </a:r>
          </a:p>
          <a:p>
            <a:pPr marL="0" indent="0">
              <a:buNone/>
            </a:pPr>
            <a:r>
              <a:rPr lang="en-US" dirty="0"/>
              <a:t>Object, Array, Function</a:t>
            </a:r>
          </a:p>
        </p:txBody>
      </p:sp>
    </p:spTree>
    <p:extLst>
      <p:ext uri="{BB962C8B-B14F-4D97-AF65-F5344CB8AC3E}">
        <p14:creationId xmlns:p14="http://schemas.microsoft.com/office/powerpoint/2010/main" val="18768326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6C194-3725-AD7E-6B4F-5D0D38E6A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773236" cy="1400530"/>
          </a:xfrm>
        </p:spPr>
        <p:txBody>
          <a:bodyPr/>
          <a:lstStyle/>
          <a:p>
            <a:r>
              <a:rPr lang="en-US" dirty="0"/>
              <a:t>Difference between var, let , const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CC2432-C347-C4C9-51B4-1523955973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3555" y="1853248"/>
            <a:ext cx="9697437" cy="3645184"/>
          </a:xfrm>
        </p:spPr>
      </p:pic>
    </p:spTree>
    <p:extLst>
      <p:ext uri="{BB962C8B-B14F-4D97-AF65-F5344CB8AC3E}">
        <p14:creationId xmlns:p14="http://schemas.microsoft.com/office/powerpoint/2010/main" val="35411227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BF569-9F8A-2678-8E6A-4912F33BD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E503F-16AF-4A39-4AAE-B18D3B825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Arithmetic: + - * / %</a:t>
            </a:r>
          </a:p>
          <a:p>
            <a:r>
              <a:rPr lang="en-US" dirty="0"/>
              <a:t>Assignment: =, +=, -=</a:t>
            </a:r>
          </a:p>
          <a:p>
            <a:r>
              <a:rPr lang="en-US" dirty="0"/>
              <a:t>Comparison: ==, ===, !=, &lt;, &gt;</a:t>
            </a:r>
          </a:p>
          <a:p>
            <a:r>
              <a:rPr lang="en-US" dirty="0"/>
              <a:t>Logical: &amp;&amp;, ||, !</a:t>
            </a:r>
          </a:p>
        </p:txBody>
      </p:sp>
    </p:spTree>
    <p:extLst>
      <p:ext uri="{BB962C8B-B14F-4D97-AF65-F5344CB8AC3E}">
        <p14:creationId xmlns:p14="http://schemas.microsoft.com/office/powerpoint/2010/main" val="1336095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C95BC-10A6-0662-8F44-DE8F52AC2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E4FB2-A007-E1D4-8C9B-DBB7E892D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106" y="1535560"/>
            <a:ext cx="5220799" cy="419548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Operators are for Mathematical and Logical Computations</a:t>
            </a:r>
          </a:p>
          <a:p>
            <a:endParaRPr lang="en-US" dirty="0"/>
          </a:p>
          <a:p>
            <a:r>
              <a:rPr lang="en-US" dirty="0"/>
              <a:t>The Assignment Operator = assigns values</a:t>
            </a:r>
          </a:p>
          <a:p>
            <a:endParaRPr lang="en-US" dirty="0"/>
          </a:p>
          <a:p>
            <a:r>
              <a:rPr lang="en-US" dirty="0"/>
              <a:t>The Addition Operator + adds values</a:t>
            </a:r>
          </a:p>
          <a:p>
            <a:endParaRPr lang="en-US" dirty="0"/>
          </a:p>
          <a:p>
            <a:r>
              <a:rPr lang="en-US" dirty="0"/>
              <a:t>The Multiplication Operator * multiplies values</a:t>
            </a:r>
          </a:p>
          <a:p>
            <a:endParaRPr lang="en-US" dirty="0"/>
          </a:p>
          <a:p>
            <a:r>
              <a:rPr lang="en-US" dirty="0"/>
              <a:t>The Comparison Operator &gt; compares values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25CD79-99C6-C2F3-B548-A6F3E31FE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652" y="1535560"/>
            <a:ext cx="6191799" cy="378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1920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F77A6-3CFF-0E07-0F69-D914C0373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3F06F-0702-8958-E2DD-361E94756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491916"/>
            <a:ext cx="8946541" cy="475648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Conditional Statements allow us to perform different actions for different conditions.</a:t>
            </a:r>
          </a:p>
          <a:p>
            <a:endParaRPr lang="en-US" dirty="0"/>
          </a:p>
          <a:p>
            <a:r>
              <a:rPr lang="en-US" dirty="0"/>
              <a:t>Conditional statements run different code depending on true or false conditions.</a:t>
            </a:r>
          </a:p>
          <a:p>
            <a:endParaRPr lang="en-US" dirty="0"/>
          </a:p>
          <a:p>
            <a:r>
              <a:rPr lang="en-US" dirty="0"/>
              <a:t>Conditional statements include:</a:t>
            </a:r>
          </a:p>
          <a:p>
            <a:endParaRPr lang="en-US" dirty="0"/>
          </a:p>
          <a:p>
            <a:r>
              <a:rPr lang="en-US" dirty="0"/>
              <a:t>if</a:t>
            </a:r>
          </a:p>
          <a:p>
            <a:r>
              <a:rPr lang="en-US" dirty="0"/>
              <a:t>if...else</a:t>
            </a:r>
          </a:p>
          <a:p>
            <a:r>
              <a:rPr lang="en-US" dirty="0"/>
              <a:t>if...else if...else</a:t>
            </a:r>
          </a:p>
          <a:p>
            <a:r>
              <a:rPr lang="en-US" dirty="0"/>
              <a:t>switch</a:t>
            </a:r>
          </a:p>
        </p:txBody>
      </p:sp>
    </p:spTree>
    <p:extLst>
      <p:ext uri="{BB962C8B-B14F-4D97-AF65-F5344CB8AC3E}">
        <p14:creationId xmlns:p14="http://schemas.microsoft.com/office/powerpoint/2010/main" val="5165873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BD4AE-6CB0-9143-454B-B78F60530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69023-99D1-8AE1-E029-5F0F49141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Statement: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EA28B1-BC8F-65EB-9AC9-244E9328F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040" y="2052918"/>
            <a:ext cx="8757171" cy="464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9783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F2BB5-CAA2-5D13-9135-4D81CF828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69467-3025-591F-D15A-3A664C753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if-else Statement: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A0C712-3D83-190A-CA64-A55DAE1BE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777" y="1665615"/>
            <a:ext cx="8318834" cy="5192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5124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0EACB-0427-1282-F341-0E80161E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A2F5A-6863-560D-D7B1-8AD87BFAB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if-else </a:t>
            </a:r>
            <a:r>
              <a:rPr lang="en-US" dirty="0" err="1"/>
              <a:t>if-else</a:t>
            </a:r>
            <a:r>
              <a:rPr lang="en-US" dirty="0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57C0E8-F2E8-93E6-4EEA-21872E859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604" y="1253038"/>
            <a:ext cx="7851085" cy="534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6754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BC66C-88E6-1BED-8D9D-C0BD3B84E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Practical: Number Checker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33A0AF-34B9-DA1B-0740-27ACA3B1FB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5794" y="1128919"/>
            <a:ext cx="7563351" cy="5495949"/>
          </a:xfrm>
        </p:spPr>
      </p:pic>
    </p:spTree>
    <p:extLst>
      <p:ext uri="{BB962C8B-B14F-4D97-AF65-F5344CB8AC3E}">
        <p14:creationId xmlns:p14="http://schemas.microsoft.com/office/powerpoint/2010/main" val="24332285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161A9-A628-57EA-42BC-32957D3CF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Even or Odd Number Checker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D805D2D-D2E8-5260-99FA-FDAB9F96CB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5589" y="1290586"/>
            <a:ext cx="8492790" cy="5353855"/>
          </a:xfrm>
        </p:spPr>
      </p:pic>
    </p:spTree>
    <p:extLst>
      <p:ext uri="{BB962C8B-B14F-4D97-AF65-F5344CB8AC3E}">
        <p14:creationId xmlns:p14="http://schemas.microsoft.com/office/powerpoint/2010/main" val="35884241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C6CE-CDAD-7102-930B-9E2329F7E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 Group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B7D65-CEE4-31C5-A89C-4DB707F79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00FEE9-AB75-C621-E462-073A5E32CD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64"/>
          <a:stretch/>
        </p:blipFill>
        <p:spPr>
          <a:xfrm>
            <a:off x="1103312" y="1275680"/>
            <a:ext cx="7788025" cy="541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7130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2DBD2-8C67-1664-D408-D3062161F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3B3C9-DC8B-D3FE-B814-76CB9C053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475402"/>
            <a:ext cx="4768100" cy="4195481"/>
          </a:xfrm>
        </p:spPr>
        <p:txBody>
          <a:bodyPr/>
          <a:lstStyle/>
          <a:p>
            <a:r>
              <a:rPr lang="en-US" dirty="0"/>
              <a:t>Use switch to specify many alternative code blocks to be executed.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F667C3-3C33-200C-6C83-7E68B2D55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6081" y="452718"/>
            <a:ext cx="5624328" cy="626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786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A13E1-D343-5385-6349-97AF3F8DD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258" y="342095"/>
            <a:ext cx="9404723" cy="1400530"/>
          </a:xfrm>
        </p:spPr>
        <p:txBody>
          <a:bodyPr/>
          <a:lstStyle/>
          <a:p>
            <a:r>
              <a:rPr lang="en-US" dirty="0"/>
              <a:t>Switch Statement (calculator)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D8D85F-FE61-B2FF-9E23-4E0D394B0A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4749" b="1732"/>
          <a:stretch/>
        </p:blipFill>
        <p:spPr>
          <a:xfrm>
            <a:off x="1436954" y="1179096"/>
            <a:ext cx="6010593" cy="5534526"/>
          </a:xfrm>
        </p:spPr>
      </p:pic>
    </p:spTree>
    <p:extLst>
      <p:ext uri="{BB962C8B-B14F-4D97-AF65-F5344CB8AC3E}">
        <p14:creationId xmlns:p14="http://schemas.microsoft.com/office/powerpoint/2010/main" val="23319205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EE65B-5916-0AC8-0CD1-85DF9F321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32FEE-977D-E401-ADA5-AED57A036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01" y="1331259"/>
            <a:ext cx="8946541" cy="4195481"/>
          </a:xfrm>
        </p:spPr>
        <p:txBody>
          <a:bodyPr/>
          <a:lstStyle/>
          <a:p>
            <a:r>
              <a:rPr lang="en-US" dirty="0"/>
              <a:t>Loops are handy, if you want to run the same code over and over again, each time with a different value.</a:t>
            </a:r>
          </a:p>
          <a:p>
            <a:r>
              <a:rPr lang="en-US" dirty="0"/>
              <a:t>Loops allow code to repeat multiple times until a condition is met.</a:t>
            </a:r>
          </a:p>
          <a:p>
            <a:r>
              <a:rPr lang="en-US" dirty="0"/>
              <a:t>Types of Loops:</a:t>
            </a:r>
          </a:p>
          <a:p>
            <a:r>
              <a:rPr lang="en-US" dirty="0"/>
              <a:t>For</a:t>
            </a:r>
          </a:p>
          <a:p>
            <a:r>
              <a:rPr lang="en-US" dirty="0"/>
              <a:t>While</a:t>
            </a:r>
          </a:p>
          <a:p>
            <a:r>
              <a:rPr lang="en-US" dirty="0"/>
              <a:t>do...while</a:t>
            </a:r>
          </a:p>
        </p:txBody>
      </p:sp>
    </p:spTree>
    <p:extLst>
      <p:ext uri="{BB962C8B-B14F-4D97-AF65-F5344CB8AC3E}">
        <p14:creationId xmlns:p14="http://schemas.microsoft.com/office/powerpoint/2010/main" val="5717178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BC756-6C8B-BE57-192B-D081255D4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8CA7C-0279-B775-B558-431AD8449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42" y="1152982"/>
            <a:ext cx="5237332" cy="5368133"/>
          </a:xfrm>
        </p:spPr>
        <p:txBody>
          <a:bodyPr>
            <a:normAutofit/>
          </a:bodyPr>
          <a:lstStyle/>
          <a:p>
            <a:r>
              <a:rPr lang="en-US" dirty="0"/>
              <a:t>The for statement creates a loop with 3 optional expressions:</a:t>
            </a:r>
          </a:p>
          <a:p>
            <a:r>
              <a:rPr lang="en-US" i="1" dirty="0"/>
              <a:t>for (expr1; expr2; expr) {</a:t>
            </a:r>
          </a:p>
          <a:p>
            <a:r>
              <a:rPr lang="en-US" i="1" dirty="0"/>
              <a:t>  // code block to be executed</a:t>
            </a:r>
          </a:p>
          <a:p>
            <a:r>
              <a:rPr lang="en-US" i="1" dirty="0"/>
              <a:t>}</a:t>
            </a:r>
          </a:p>
          <a:p>
            <a:endParaRPr lang="en-US" i="1" dirty="0"/>
          </a:p>
          <a:p>
            <a:r>
              <a:rPr lang="en-US" dirty="0"/>
              <a:t>exp1 is executed one time before the execution of the code block.</a:t>
            </a:r>
          </a:p>
          <a:p>
            <a:r>
              <a:rPr lang="en-US" dirty="0"/>
              <a:t>exp2 defines the condition for executing the code block.</a:t>
            </a:r>
          </a:p>
          <a:p>
            <a:r>
              <a:rPr lang="en-US" dirty="0"/>
              <a:t>exp3 is executed every time the code block has been executed.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43F7A7-059B-F6FA-9F5E-77E907345C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45" r="9299"/>
          <a:stretch/>
        </p:blipFill>
        <p:spPr>
          <a:xfrm>
            <a:off x="5763125" y="609601"/>
            <a:ext cx="6284495" cy="4612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9748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321C0-05A0-2159-3A83-F1E0DF953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365" y="390374"/>
            <a:ext cx="9404723" cy="1051229"/>
          </a:xfrm>
        </p:spPr>
        <p:txBody>
          <a:bodyPr/>
          <a:lstStyle/>
          <a:p>
            <a:r>
              <a:rPr lang="en-US" sz="3200" dirty="0"/>
              <a:t>Print numbers 1 to 5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4FC2F1-9624-055E-0172-C7D7202D09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51430" y="452718"/>
            <a:ext cx="3097696" cy="926543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7B7F7F-4E9B-AB03-1DA8-48C67443BAE1}"/>
              </a:ext>
            </a:extLst>
          </p:cNvPr>
          <p:cNvSpPr txBox="1">
            <a:spLocks/>
          </p:cNvSpPr>
          <p:nvPr/>
        </p:nvSpPr>
        <p:spPr>
          <a:xfrm>
            <a:off x="742365" y="1709837"/>
            <a:ext cx="9404723" cy="105122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/>
              <a:t>Multiply Numbers by 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86CA2D-2453-8201-7B96-CE9D26F26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4725" y="1811624"/>
            <a:ext cx="4776879" cy="94944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B8D4D1B-9123-B6CD-CC21-8EFDA8975ED7}"/>
              </a:ext>
            </a:extLst>
          </p:cNvPr>
          <p:cNvSpPr txBox="1"/>
          <p:nvPr/>
        </p:nvSpPr>
        <p:spPr>
          <a:xfrm>
            <a:off x="441575" y="2859886"/>
            <a:ext cx="69031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Sum of Numbers up to User Input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32695C-E8C6-536E-D544-C30B6909F7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9886" y="3543481"/>
            <a:ext cx="7723072" cy="316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8311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234D9-6994-19DC-C4E3-8FEEF7768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While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62AB1-642F-51E5-0609-A42865A7D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28" y="1463370"/>
            <a:ext cx="8946541" cy="4195481"/>
          </a:xfrm>
        </p:spPr>
        <p:txBody>
          <a:bodyPr/>
          <a:lstStyle/>
          <a:p>
            <a:r>
              <a:rPr lang="en-US" dirty="0"/>
              <a:t>The while loop loops through a block of code as long as a specified condition is true.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D64080-6C13-9252-0876-5BAED2C91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05" y="2307556"/>
            <a:ext cx="4646948" cy="3331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2229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6E082-619E-6F36-F75C-D5E1F93AD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14BE6-FFE2-1217-D445-186C10709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01" y="1331259"/>
            <a:ext cx="8946541" cy="4195481"/>
          </a:xfrm>
        </p:spPr>
        <p:txBody>
          <a:bodyPr/>
          <a:lstStyle/>
          <a:p>
            <a:r>
              <a:rPr lang="en-US" dirty="0"/>
              <a:t>Sum of First 10 Numbers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Reverse countdown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F492B1-F080-78D6-96E2-CC43D29E6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938" y="518043"/>
            <a:ext cx="3390900" cy="21621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182804-3EFE-B64F-110C-725D67832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2781" y="2976814"/>
            <a:ext cx="6981825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3968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326</TotalTime>
  <Words>1454</Words>
  <Application>Microsoft Office PowerPoint</Application>
  <PresentationFormat>Widescreen</PresentationFormat>
  <Paragraphs>242</Paragraphs>
  <Slides>40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Aptos</vt:lpstr>
      <vt:lpstr>Arial</vt:lpstr>
      <vt:lpstr>Century Gothic</vt:lpstr>
      <vt:lpstr>Wingdings 3</vt:lpstr>
      <vt:lpstr>Ion</vt:lpstr>
      <vt:lpstr>Introduction to JavaScript </vt:lpstr>
      <vt:lpstr>What is JavaScript?</vt:lpstr>
      <vt:lpstr>What Can JavaScript Do? </vt:lpstr>
      <vt:lpstr>JavaScript &amp; HTML Interaction</vt:lpstr>
      <vt:lpstr>Changing HTML Attributes</vt:lpstr>
      <vt:lpstr>JavaScript &amp; CSS Styling</vt:lpstr>
      <vt:lpstr>JavaScript Where To</vt:lpstr>
      <vt:lpstr>External JavaScript</vt:lpstr>
      <vt:lpstr>JavaScript Output</vt:lpstr>
      <vt:lpstr>Using innerHTML</vt:lpstr>
      <vt:lpstr>Using innerText</vt:lpstr>
      <vt:lpstr>document.write(). </vt:lpstr>
      <vt:lpstr>Window.alert().</vt:lpstr>
      <vt:lpstr>Console.log().</vt:lpstr>
      <vt:lpstr>JavaScript Values</vt:lpstr>
      <vt:lpstr>JavaScript Identifiers </vt:lpstr>
      <vt:lpstr>JavaScript Statements</vt:lpstr>
      <vt:lpstr>JavaScript White Space</vt:lpstr>
      <vt:lpstr>JavaScript Keywords</vt:lpstr>
      <vt:lpstr>JavaScript Variables</vt:lpstr>
      <vt:lpstr>JavaScript Let</vt:lpstr>
      <vt:lpstr>PowerPoint Presentation</vt:lpstr>
      <vt:lpstr>Data Types</vt:lpstr>
      <vt:lpstr>Difference between var, let , const</vt:lpstr>
      <vt:lpstr>JavaScript Operators</vt:lpstr>
      <vt:lpstr>JavaScript Operators</vt:lpstr>
      <vt:lpstr>Conditional Statements</vt:lpstr>
      <vt:lpstr>Conditional Statements</vt:lpstr>
      <vt:lpstr>Conditional Statements</vt:lpstr>
      <vt:lpstr>Conditional Statements</vt:lpstr>
      <vt:lpstr>Practical: Number Checker</vt:lpstr>
      <vt:lpstr>Even or Odd Number Checker</vt:lpstr>
      <vt:lpstr>Age Group Classification</vt:lpstr>
      <vt:lpstr>Switch Statement</vt:lpstr>
      <vt:lpstr>Switch Statement (calculator)</vt:lpstr>
      <vt:lpstr>Loops</vt:lpstr>
      <vt:lpstr>For loop:</vt:lpstr>
      <vt:lpstr>Print numbers 1 to 5</vt:lpstr>
      <vt:lpstr>The While Loop</vt:lpstr>
      <vt:lpstr>Practice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Manal Atif</dc:creator>
  <cp:lastModifiedBy>Manal Atif</cp:lastModifiedBy>
  <cp:revision>59</cp:revision>
  <dcterms:created xsi:type="dcterms:W3CDTF">2026-02-21T06:26:24Z</dcterms:created>
  <dcterms:modified xsi:type="dcterms:W3CDTF">2026-02-21T11:53:22Z</dcterms:modified>
</cp:coreProperties>
</file>