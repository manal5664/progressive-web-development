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97" autoAdjust="0"/>
  </p:normalViewPr>
  <p:slideViewPr>
    <p:cSldViewPr snapToGrid="0">
      <p:cViewPr>
        <p:scale>
          <a:sx n="75" d="100"/>
          <a:sy n="75" d="100"/>
        </p:scale>
        <p:origin x="7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3F694-A5D0-4F80-8DDA-E58ABE65183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4E296-99E9-4E4E-BE69-021296EC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2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4E296-99E9-4E4E-BE69-021296ECF2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10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4E296-99E9-4E4E-BE69-021296ECF2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87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4E296-99E9-4E4E-BE69-021296ECF23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31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83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76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4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7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79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27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31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8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1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9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41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0888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15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30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47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67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95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7C0AF-DBE4-4D7D-8B25-6EFDA62643E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D1460-7EE3-4381-8233-078D0C8B3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5D408-3799-31D2-CD99-409F61D19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8680845" cy="2387600"/>
          </a:xfrm>
        </p:spPr>
        <p:txBody>
          <a:bodyPr/>
          <a:lstStyle/>
          <a:p>
            <a:r>
              <a:rPr lang="en-US" dirty="0"/>
              <a:t>JavaScript Objects and DOM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FE72A0-800B-AD0E-6483-FD5D5FCFFA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Manal Asghar</a:t>
            </a:r>
          </a:p>
        </p:txBody>
      </p:sp>
    </p:spTree>
    <p:extLst>
      <p:ext uri="{BB962C8B-B14F-4D97-AF65-F5344CB8AC3E}">
        <p14:creationId xmlns:p14="http://schemas.microsoft.com/office/powerpoint/2010/main" val="1540241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5656-EACE-F134-9549-CBF6EC220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Object?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96205-89FC-7F10-B813-26EB184A1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object is a collection of properties and methods.</a:t>
            </a:r>
          </a:p>
          <a:p>
            <a:r>
              <a:rPr lang="en-US" dirty="0"/>
              <a:t>Properties → store data</a:t>
            </a:r>
          </a:p>
          <a:p>
            <a:r>
              <a:rPr lang="en-US" dirty="0"/>
              <a:t>Methods → functions inside objects</a:t>
            </a:r>
          </a:p>
          <a:p>
            <a:r>
              <a:rPr lang="en-US" dirty="0"/>
              <a:t>Access using dot notation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8E3C7-407B-E4CD-DAC5-A88EB968A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674" y="2530474"/>
            <a:ext cx="5860026" cy="383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4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B05F8-2EC1-6ED1-12A6-F32E1E90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Defining JavaScript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BCB6A-79FD-D743-9B03-8949B2794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multiple ways to create objects in JavaScript:</a:t>
            </a:r>
          </a:p>
          <a:p>
            <a:r>
              <a:rPr lang="en-US" dirty="0"/>
              <a:t>Using an Object Literal</a:t>
            </a:r>
          </a:p>
          <a:p>
            <a:r>
              <a:rPr lang="en-US" dirty="0"/>
              <a:t>Using the new Keyword</a:t>
            </a:r>
          </a:p>
          <a:p>
            <a:r>
              <a:rPr lang="en-US" dirty="0"/>
              <a:t>Using an Object Constructor</a:t>
            </a:r>
          </a:p>
          <a:p>
            <a:r>
              <a:rPr lang="en-US" dirty="0"/>
              <a:t>Using </a:t>
            </a:r>
            <a:r>
              <a:rPr lang="en-US" dirty="0" err="1"/>
              <a:t>Object.assign</a:t>
            </a:r>
            <a:r>
              <a:rPr lang="en-US" dirty="0"/>
              <a:t>()</a:t>
            </a:r>
          </a:p>
          <a:p>
            <a:r>
              <a:rPr lang="en-US" dirty="0"/>
              <a:t>Using </a:t>
            </a:r>
            <a:r>
              <a:rPr lang="en-US" dirty="0" err="1"/>
              <a:t>Object.create</a:t>
            </a:r>
            <a:r>
              <a:rPr lang="en-US" dirty="0"/>
              <a:t>()</a:t>
            </a:r>
          </a:p>
          <a:p>
            <a:r>
              <a:rPr lang="en-US" dirty="0"/>
              <a:t>Using </a:t>
            </a:r>
            <a:r>
              <a:rPr lang="en-US" dirty="0" err="1"/>
              <a:t>Object.fromEntries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27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29A72-9B9D-4437-9564-2714722D2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Object Literal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8F36-F9AA-21E0-24C2-73A88D9B0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simplest and most common way.</a:t>
            </a:r>
          </a:p>
          <a:p>
            <a:r>
              <a:rPr lang="en-US" dirty="0"/>
              <a:t>Most commonly used</a:t>
            </a:r>
          </a:p>
          <a:p>
            <a:r>
              <a:rPr lang="en-US" dirty="0"/>
              <a:t>Simple syntax</a:t>
            </a:r>
          </a:p>
          <a:p>
            <a:r>
              <a:rPr lang="en-US" dirty="0"/>
              <a:t>Best for small objects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AC7A1B-9180-A876-28FC-20E01C4B8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050" y="2965450"/>
            <a:ext cx="5191494" cy="282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9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46C9-40DE-6E9D-FA70-6BB6AC87E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new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F0D38-5E75-9079-8DDC-E03157E48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object using built-in Object constructor.</a:t>
            </a:r>
          </a:p>
          <a:p>
            <a:r>
              <a:rPr lang="en-US" dirty="0"/>
              <a:t>Less common</a:t>
            </a:r>
          </a:p>
          <a:p>
            <a:r>
              <a:rPr lang="en-US" dirty="0"/>
              <a:t>Similar result as object literal</a:t>
            </a:r>
          </a:p>
          <a:p>
            <a:r>
              <a:rPr lang="en-US" dirty="0"/>
              <a:t>More verbose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A20E7-3989-E2C0-4702-C7F748127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412" y="4189412"/>
            <a:ext cx="7158996" cy="220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0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B69EC-50B0-0485-8BDA-288325DF3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Object Constructor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5FE2C-BAC2-982D-522F-5D3213F31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create multiple objects.</a:t>
            </a:r>
          </a:p>
          <a:p>
            <a:r>
              <a:rPr lang="en-US" dirty="0"/>
              <a:t>Key Points</a:t>
            </a:r>
          </a:p>
          <a:p>
            <a:r>
              <a:rPr lang="en-US" dirty="0"/>
              <a:t>Reusable template</a:t>
            </a:r>
          </a:p>
          <a:p>
            <a:r>
              <a:rPr lang="en-US" dirty="0"/>
              <a:t>Use this keyword</a:t>
            </a:r>
          </a:p>
          <a:p>
            <a:r>
              <a:rPr lang="en-US" dirty="0"/>
              <a:t>Must use new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FE9B4C-D962-C884-51F5-B3C9A51B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737" y="2676524"/>
            <a:ext cx="5492043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2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F04F5-C520-954C-9B74-1409755D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Object.assign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BDBED-02EF-0E48-59C7-197C8EBA9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761798"/>
            <a:ext cx="10353762" cy="3695136"/>
          </a:xfrm>
        </p:spPr>
        <p:txBody>
          <a:bodyPr/>
          <a:lstStyle/>
          <a:p>
            <a:r>
              <a:rPr lang="en-US" dirty="0"/>
              <a:t>Used to copy or merge objects.</a:t>
            </a:r>
          </a:p>
          <a:p>
            <a:r>
              <a:rPr lang="en-US" b="1" dirty="0"/>
              <a:t>Key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Combines multiple objects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Creates shallow copy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cloning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6DCDD-28DB-36BE-1FEE-2165A35ED4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860" b="48815"/>
          <a:stretch/>
        </p:blipFill>
        <p:spPr>
          <a:xfrm>
            <a:off x="4250762" y="3429000"/>
            <a:ext cx="6661458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31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C69BA-0AC5-6B47-FCCE-2EE0FD78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Using </a:t>
            </a:r>
            <a:r>
              <a:rPr lang="en-US" b="1" dirty="0" err="1"/>
              <a:t>Object.create</a:t>
            </a:r>
            <a:r>
              <a:rPr lang="en-US" b="1" dirty="0"/>
              <a:t>()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46D3B-6C31-388B-E25E-59F1F1C49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Creates a new object using an existing object as prototype.</a:t>
            </a:r>
            <a:br>
              <a:rPr lang="en-US" dirty="0"/>
            </a:br>
            <a:r>
              <a:rPr lang="en-US" b="1" dirty="0"/>
              <a:t>Key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prototype inheritance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New object inherits 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concept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BAC86A-F4CC-23B2-CE17-5F9599CFD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0" y="3131943"/>
            <a:ext cx="5096608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28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BCF1-54B6-15A2-BB7F-5FBB1C693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Object.fromEntries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48252-A825-415C-20EE-8B131B33F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Creates object from key-value pairs.</a:t>
            </a:r>
          </a:p>
          <a:p>
            <a:r>
              <a:rPr lang="en-US" dirty="0"/>
              <a:t>Key Points</a:t>
            </a:r>
          </a:p>
          <a:p>
            <a:r>
              <a:rPr lang="en-US" dirty="0"/>
              <a:t>Converts array → object</a:t>
            </a:r>
          </a:p>
          <a:p>
            <a:r>
              <a:rPr lang="en-US" dirty="0"/>
              <a:t>Very useful with Map</a:t>
            </a:r>
          </a:p>
          <a:p>
            <a:r>
              <a:rPr lang="en-US" dirty="0"/>
              <a:t>Modern JavaScript method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A04C12-9295-5A7A-735D-1148A1A6A3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231"/>
          <a:stretch/>
        </p:blipFill>
        <p:spPr>
          <a:xfrm>
            <a:off x="4564063" y="2576512"/>
            <a:ext cx="6025336" cy="292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06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90F2-21A2-15A9-0223-65337E854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0E8F19-CC90-758D-3D8D-13A2A31B8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513012"/>
              </p:ext>
            </p:extLst>
          </p:nvPr>
        </p:nvGraphicFramePr>
        <p:xfrm>
          <a:off x="1574800" y="1799590"/>
          <a:ext cx="8077200" cy="418210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25620566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4037740176"/>
                    </a:ext>
                  </a:extLst>
                </a:gridCol>
              </a:tblGrid>
              <a:tr h="597444">
                <a:tc>
                  <a:txBody>
                    <a:bodyPr/>
                    <a:lstStyle/>
                    <a:p>
                      <a:r>
                        <a:rPr lang="en-US" sz="180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514783"/>
                  </a:ext>
                </a:extLst>
              </a:tr>
              <a:tr h="597444">
                <a:tc>
                  <a:txBody>
                    <a:bodyPr/>
                    <a:lstStyle/>
                    <a:p>
                      <a:r>
                        <a:rPr lang="en-US" sz="1800"/>
                        <a:t>Object Literal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Simple object creation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6509097"/>
                  </a:ext>
                </a:extLst>
              </a:tr>
              <a:tr h="597444">
                <a:tc>
                  <a:txBody>
                    <a:bodyPr/>
                    <a:lstStyle/>
                    <a:p>
                      <a:r>
                        <a:rPr lang="en-US" sz="1800"/>
                        <a:t>new Object()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Traditional style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501860"/>
                  </a:ext>
                </a:extLst>
              </a:tr>
              <a:tr h="597444">
                <a:tc>
                  <a:txBody>
                    <a:bodyPr/>
                    <a:lstStyle/>
                    <a:p>
                      <a:r>
                        <a:rPr lang="en-US" sz="1800" dirty="0"/>
                        <a:t>Constructor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Multiple objects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8464409"/>
                  </a:ext>
                </a:extLst>
              </a:tr>
              <a:tr h="597444">
                <a:tc>
                  <a:txBody>
                    <a:bodyPr/>
                    <a:lstStyle/>
                    <a:p>
                      <a:r>
                        <a:rPr lang="en-US" sz="1800"/>
                        <a:t>Object.assign()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Merge/clone objects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9041489"/>
                  </a:ext>
                </a:extLst>
              </a:tr>
              <a:tr h="597444">
                <a:tc>
                  <a:txBody>
                    <a:bodyPr/>
                    <a:lstStyle/>
                    <a:p>
                      <a:r>
                        <a:rPr lang="en-US" sz="1800"/>
                        <a:t>Object.create()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Inheritance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106805"/>
                  </a:ext>
                </a:extLst>
              </a:tr>
              <a:tr h="597444">
                <a:tc>
                  <a:txBody>
                    <a:bodyPr/>
                    <a:lstStyle/>
                    <a:p>
                      <a:r>
                        <a:rPr lang="en-US" sz="1800"/>
                        <a:t>Object.fromEntries()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Array to object conversion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397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17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57928-E0B6-9DBB-1A55-E39802DC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EB878-7C90-8F0F-56EA-38378EBBE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What is DOM?</a:t>
            </a:r>
          </a:p>
          <a:p>
            <a:r>
              <a:rPr lang="en-US" dirty="0"/>
              <a:t>DOM stands for </a:t>
            </a:r>
            <a:r>
              <a:rPr lang="en-US" b="1" dirty="0"/>
              <a:t>Document Object Model</a:t>
            </a:r>
            <a:r>
              <a:rPr lang="en-US" dirty="0"/>
              <a:t>.</a:t>
            </a:r>
          </a:p>
          <a:p>
            <a:r>
              <a:rPr lang="en-US" dirty="0"/>
              <a:t>It represents HTML as a tree of objects.</a:t>
            </a:r>
          </a:p>
          <a:p>
            <a:r>
              <a:rPr lang="en-US" dirty="0"/>
              <a:t>Browser creates DOM when a web page loads.</a:t>
            </a:r>
          </a:p>
          <a:p>
            <a:pPr marL="0" indent="0">
              <a:buNone/>
            </a:pPr>
            <a:r>
              <a:rPr lang="en-US" dirty="0"/>
              <a:t>JavaScript uses DOM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Change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Modify styles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 events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767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DC8FB-DE6B-F077-E2D3-82F7033C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95" y="292100"/>
            <a:ext cx="10353761" cy="1326321"/>
          </a:xfrm>
        </p:spPr>
        <p:txBody>
          <a:bodyPr/>
          <a:lstStyle/>
          <a:p>
            <a:r>
              <a:rPr lang="en-US" dirty="0"/>
              <a:t>Querying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BF14-D352-DB14-2FA7-98C9A328B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95400"/>
            <a:ext cx="10353762" cy="5207000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getElementById</a:t>
            </a:r>
            <a:endParaRPr lang="en-US" sz="2800" b="1" dirty="0"/>
          </a:p>
          <a:p>
            <a:r>
              <a:rPr lang="en-US" dirty="0"/>
              <a:t>Select element by ID.</a:t>
            </a:r>
          </a:p>
          <a:p>
            <a:r>
              <a:rPr lang="en-US" dirty="0"/>
              <a:t>let heading = </a:t>
            </a:r>
            <a:r>
              <a:rPr lang="en-US" dirty="0" err="1"/>
              <a:t>document.getElementById</a:t>
            </a:r>
            <a:r>
              <a:rPr lang="en-US" dirty="0"/>
              <a:t>("title");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Select using CSS selectors.</a:t>
            </a:r>
          </a:p>
          <a:p>
            <a:r>
              <a:rPr lang="en-US" dirty="0"/>
              <a:t>let box = </a:t>
            </a:r>
            <a:r>
              <a:rPr lang="en-US" dirty="0" err="1"/>
              <a:t>document.querySelector</a:t>
            </a:r>
            <a:r>
              <a:rPr lang="en-US" dirty="0"/>
              <a:t>(".box");</a:t>
            </a:r>
          </a:p>
          <a:p>
            <a:r>
              <a:rPr lang="en-US" dirty="0"/>
              <a:t>let para = </a:t>
            </a:r>
            <a:r>
              <a:rPr lang="en-US" dirty="0" err="1"/>
              <a:t>document.querySelector</a:t>
            </a:r>
            <a:r>
              <a:rPr lang="en-US" dirty="0"/>
              <a:t>("p");</a:t>
            </a:r>
          </a:p>
          <a:p>
            <a:r>
              <a:rPr lang="en-US" dirty="0"/>
              <a:t> More flexible</a:t>
            </a:r>
          </a:p>
          <a:p>
            <a:r>
              <a:rPr lang="en-US" dirty="0"/>
              <a:t>Uses CSS Syntax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36CAEB-50ED-EE16-A829-979A19015F7B}"/>
              </a:ext>
            </a:extLst>
          </p:cNvPr>
          <p:cNvSpPr txBox="1">
            <a:spLocks/>
          </p:cNvSpPr>
          <p:nvPr/>
        </p:nvSpPr>
        <p:spPr>
          <a:xfrm>
            <a:off x="583595" y="2734089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Query Selector</a:t>
            </a:r>
          </a:p>
        </p:txBody>
      </p:sp>
    </p:spTree>
    <p:extLst>
      <p:ext uri="{BB962C8B-B14F-4D97-AF65-F5344CB8AC3E}">
        <p14:creationId xmlns:p14="http://schemas.microsoft.com/office/powerpoint/2010/main" val="1847338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0BEA-25E2-C5FC-E48A-B8EEA7561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Content with DOM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64506A-1F79-04E0-D6C7-40423E012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000" y="2514600"/>
            <a:ext cx="9198623" cy="3009900"/>
          </a:xfrm>
        </p:spPr>
      </p:pic>
    </p:spTree>
    <p:extLst>
      <p:ext uri="{BB962C8B-B14F-4D97-AF65-F5344CB8AC3E}">
        <p14:creationId xmlns:p14="http://schemas.microsoft.com/office/powerpoint/2010/main" val="1521226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B3E5-25D4-AB5C-29E5-8C50E4139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C25778-2BEC-56A7-C628-54E756FD6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5488" y="1593020"/>
            <a:ext cx="7704412" cy="5256173"/>
          </a:xfrm>
        </p:spPr>
      </p:pic>
    </p:spTree>
    <p:extLst>
      <p:ext uri="{BB962C8B-B14F-4D97-AF65-F5344CB8AC3E}">
        <p14:creationId xmlns:p14="http://schemas.microsoft.com/office/powerpoint/2010/main" val="2734392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5CE0-A6F3-BC24-654F-EE45E6CB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4A8629-EB0C-6670-AA5F-4C0E32DA4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Button click calls function</a:t>
            </a:r>
          </a:p>
          <a:p>
            <a:r>
              <a:rPr lang="en-US" dirty="0" err="1"/>
              <a:t>classList.toggle</a:t>
            </a:r>
            <a:r>
              <a:rPr lang="en-US" dirty="0"/>
              <a:t>() adds/removes class</a:t>
            </a:r>
          </a:p>
          <a:p>
            <a:r>
              <a:rPr lang="en-US" dirty="0"/>
              <a:t>CSS changes theme automatically</a:t>
            </a:r>
          </a:p>
          <a:p>
            <a:r>
              <a:rPr lang="en-US" dirty="0"/>
              <a:t>DOM selection</a:t>
            </a:r>
          </a:p>
          <a:p>
            <a:r>
              <a:rPr lang="en-US" dirty="0"/>
              <a:t>Object methods</a:t>
            </a:r>
          </a:p>
          <a:p>
            <a:r>
              <a:rPr lang="en-US" dirty="0"/>
              <a:t>Event handling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324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DAD6-3AAD-F3CC-D298-89BE2077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Practical: Student Score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501CD-9C2E-D9DA-254C-FB146E180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students as objects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scores in objects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 table dynamically in 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“Update Score” button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16203-A982-5939-860C-DDF451C3D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662" y="1935921"/>
            <a:ext cx="6702683" cy="375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99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0ABFF03-BCB8-9998-8432-74FE42AEA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0334"/>
          <a:stretch/>
        </p:blipFill>
        <p:spPr>
          <a:xfrm>
            <a:off x="7018336" y="984249"/>
            <a:ext cx="5084763" cy="43150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46552E-366A-2798-3396-4A2E31985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6537"/>
            <a:ext cx="6911181" cy="613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365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92</TotalTime>
  <Words>404</Words>
  <Application>Microsoft Office PowerPoint</Application>
  <PresentationFormat>Widescreen</PresentationFormat>
  <Paragraphs>102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Bookman Old Style</vt:lpstr>
      <vt:lpstr>Rockwell</vt:lpstr>
      <vt:lpstr>Damask</vt:lpstr>
      <vt:lpstr>JavaScript Objects and DOM </vt:lpstr>
      <vt:lpstr>What is an Object?</vt:lpstr>
      <vt:lpstr>Methods for Defining JavaScript Objects</vt:lpstr>
      <vt:lpstr>Using an Object Literal</vt:lpstr>
      <vt:lpstr>Using the new Keyword</vt:lpstr>
      <vt:lpstr>Using an Object Constructor Function</vt:lpstr>
      <vt:lpstr>Using Object.assign()</vt:lpstr>
      <vt:lpstr>Using Object.create() </vt:lpstr>
      <vt:lpstr>Using Object.fromEntries()</vt:lpstr>
      <vt:lpstr>Comparison</vt:lpstr>
      <vt:lpstr>Introduction to DOM</vt:lpstr>
      <vt:lpstr>Querying Elements</vt:lpstr>
      <vt:lpstr>Changing Content with DOM</vt:lpstr>
      <vt:lpstr>Practical</vt:lpstr>
      <vt:lpstr>How It Works</vt:lpstr>
      <vt:lpstr>Practical: Student Score Manager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15</cp:revision>
  <dcterms:created xsi:type="dcterms:W3CDTF">2026-02-23T08:17:42Z</dcterms:created>
  <dcterms:modified xsi:type="dcterms:W3CDTF">2026-02-23T09:50:26Z</dcterms:modified>
</cp:coreProperties>
</file>