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53" autoAdjust="0"/>
    <p:restoredTop sz="94660"/>
  </p:normalViewPr>
  <p:slideViewPr>
    <p:cSldViewPr snapToGrid="0">
      <p:cViewPr>
        <p:scale>
          <a:sx n="60" d="100"/>
          <a:sy n="60" d="100"/>
        </p:scale>
        <p:origin x="-60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5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40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0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1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8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35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1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2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6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7679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12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3358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30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02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6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62B5F-7F75-4A9C-BA01-48F8EEC1E2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74C722E-5465-4D4A-8CF4-0D52F756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39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4CF56-CE88-C183-9EDA-19D0C4CCB9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HTML5 Storage &amp; App-Like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058EA-19ED-982B-19A9-319E787184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3221563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71D53-B92E-22A1-F570-B8CA58BE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HTML5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17BD8-FD4A-89BF-020E-A0EE65B35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5155089"/>
          </a:xfrm>
        </p:spPr>
        <p:txBody>
          <a:bodyPr>
            <a:normAutofit/>
          </a:bodyPr>
          <a:lstStyle/>
          <a:p>
            <a:r>
              <a:rPr lang="en-US" sz="1600" b="1" dirty="0"/>
              <a:t>Why Client-Side Storage?</a:t>
            </a:r>
          </a:p>
          <a:p>
            <a:r>
              <a:rPr lang="en-US" sz="1600" dirty="0"/>
              <a:t>Before HTML5: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Only Cookies were available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Limited to 4KB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Sent to server with every HTTP request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Performance issues</a:t>
            </a:r>
          </a:p>
          <a:p>
            <a:r>
              <a:rPr lang="en-US" sz="1600" dirty="0"/>
              <a:t>With HTML5: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Large storage capacity (5MB+)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Stored in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Not sent with every request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Faster &amp; secure (same-origin policy)</a:t>
            </a:r>
          </a:p>
        </p:txBody>
      </p:sp>
    </p:spTree>
    <p:extLst>
      <p:ext uri="{BB962C8B-B14F-4D97-AF65-F5344CB8AC3E}">
        <p14:creationId xmlns:p14="http://schemas.microsoft.com/office/powerpoint/2010/main" val="57156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49E4-B228-C7E3-2C49-1F9806BE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Storage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3841D-0EDE-1FA7-2F47-854F519A0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HTML5 introduced: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localStorage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 err="1"/>
              <a:t>sessionStorage</a:t>
            </a:r>
            <a:endParaRPr lang="en-US" dirty="0"/>
          </a:p>
          <a:p>
            <a:r>
              <a:rPr lang="en-US" dirty="0"/>
              <a:t>Both: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data as key-value pairs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stored in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Same-origin restricted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83F4A-FBE1-10D3-5599-5066CD4C1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811" y="2986087"/>
            <a:ext cx="5421971" cy="179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1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CCE2-E19A-8B5C-2CC9-8287F5C9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LocalStorage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6DF93-7432-7FF5-C054-FF9CD2FF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0989"/>
            <a:ext cx="8931887" cy="4697411"/>
          </a:xfrm>
        </p:spPr>
        <p:txBody>
          <a:bodyPr>
            <a:normAutofit/>
          </a:bodyPr>
          <a:lstStyle/>
          <a:p>
            <a:r>
              <a:rPr lang="en-US" b="1" dirty="0"/>
              <a:t>What is Local Storage?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data permanently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expiration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Remains even after browser close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5MB storage limit (</a:t>
            </a:r>
            <a:r>
              <a:rPr lang="en-US" dirty="0" err="1"/>
              <a:t>approx</a:t>
            </a:r>
            <a:r>
              <a:rPr lang="en-US" dirty="0"/>
              <a:t>)</a:t>
            </a:r>
          </a:p>
          <a:p>
            <a:r>
              <a:rPr lang="en-US" b="1" dirty="0"/>
              <a:t>Use Cases: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Theme preference (dark/light)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Remember login (non-sensitive)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cart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 form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16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18C7-0AB5-F8E6-26CE-21CDF0AC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SessionStorage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94D6A-E0FC-AE03-CEF2-240D972FE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260688"/>
          </a:xfrm>
        </p:spPr>
        <p:txBody>
          <a:bodyPr/>
          <a:lstStyle/>
          <a:p>
            <a:r>
              <a:rPr lang="en-US" b="1" dirty="0"/>
              <a:t>What is </a:t>
            </a:r>
            <a:r>
              <a:rPr lang="en-US" b="1" dirty="0" err="1"/>
              <a:t>SessionStorage</a:t>
            </a:r>
            <a:r>
              <a:rPr lang="en-US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data temporarily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Deleted when tab/browser closes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Separate for each tab</a:t>
            </a:r>
          </a:p>
          <a:p>
            <a:r>
              <a:rPr lang="en-US" b="1" dirty="0"/>
              <a:t>Use Cases: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Temporary form progress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OTP verification session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Multi-step forms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86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20CB6-9462-4D06-119A-3646C752C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2" y="657726"/>
            <a:ext cx="8596668" cy="1320800"/>
          </a:xfrm>
        </p:spPr>
        <p:txBody>
          <a:bodyPr/>
          <a:lstStyle/>
          <a:p>
            <a:r>
              <a:rPr lang="en-US" dirty="0" err="1"/>
              <a:t>LocalStorage</a:t>
            </a:r>
            <a:r>
              <a:rPr lang="en-US" dirty="0"/>
              <a:t> vs </a:t>
            </a:r>
            <a:r>
              <a:rPr lang="en-US" dirty="0" err="1"/>
              <a:t>SessionStorage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A5E85D-A39E-95B1-5D43-9798EA3BA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260818"/>
              </p:ext>
            </p:extLst>
          </p:nvPr>
        </p:nvGraphicFramePr>
        <p:xfrm>
          <a:off x="677863" y="2261938"/>
          <a:ext cx="8596140" cy="3545305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2865380">
                  <a:extLst>
                    <a:ext uri="{9D8B030D-6E8A-4147-A177-3AD203B41FA5}">
                      <a16:colId xmlns:a16="http://schemas.microsoft.com/office/drawing/2014/main" val="3112373117"/>
                    </a:ext>
                  </a:extLst>
                </a:gridCol>
                <a:gridCol w="2865380">
                  <a:extLst>
                    <a:ext uri="{9D8B030D-6E8A-4147-A177-3AD203B41FA5}">
                      <a16:colId xmlns:a16="http://schemas.microsoft.com/office/drawing/2014/main" val="351589543"/>
                    </a:ext>
                  </a:extLst>
                </a:gridCol>
                <a:gridCol w="2865380">
                  <a:extLst>
                    <a:ext uri="{9D8B030D-6E8A-4147-A177-3AD203B41FA5}">
                      <a16:colId xmlns:a16="http://schemas.microsoft.com/office/drawing/2014/main" val="742876299"/>
                    </a:ext>
                  </a:extLst>
                </a:gridCol>
              </a:tblGrid>
              <a:tr h="709061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Session Storage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096827"/>
                  </a:ext>
                </a:extLst>
              </a:tr>
              <a:tr h="709061">
                <a:tc>
                  <a:txBody>
                    <a:bodyPr/>
                    <a:lstStyle/>
                    <a:p>
                      <a:r>
                        <a:rPr lang="en-US"/>
                        <a:t>Lifetime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Permanent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Until tab closes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612561"/>
                  </a:ext>
                </a:extLst>
              </a:tr>
              <a:tr h="709061">
                <a:tc>
                  <a:txBody>
                    <a:bodyPr/>
                    <a:lstStyle/>
                    <a:p>
                      <a:r>
                        <a:rPr lang="en-US" dirty="0"/>
                        <a:t>Shared across tabs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761431"/>
                  </a:ext>
                </a:extLst>
              </a:tr>
              <a:tr h="709061">
                <a:tc>
                  <a:txBody>
                    <a:bodyPr/>
                    <a:lstStyle/>
                    <a:p>
                      <a:r>
                        <a:rPr lang="en-US"/>
                        <a:t>Storage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~5MB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~5MB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704814"/>
                  </a:ext>
                </a:extLst>
              </a:tr>
              <a:tr h="709061">
                <a:tc>
                  <a:txBody>
                    <a:bodyPr/>
                    <a:lstStyle/>
                    <a:p>
                      <a:r>
                        <a:rPr lang="en-US"/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Same Origin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Same Origin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482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1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1D55-F49C-D8FA-AA26-D798D0AAD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IndexedDB</a:t>
            </a:r>
            <a:r>
              <a:rPr lang="en-US" dirty="0"/>
              <a:t>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929F4-A80F-DC3D-AC4E-999C09D68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9411"/>
            <a:ext cx="8596668" cy="530993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What is </a:t>
            </a:r>
            <a:r>
              <a:rPr lang="en-US" b="1" dirty="0" err="1"/>
              <a:t>IndexedDB</a:t>
            </a:r>
            <a:r>
              <a:rPr lang="en-US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client-side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large structured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NoSQL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store: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Blobs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Arrays</a:t>
            </a:r>
          </a:p>
          <a:p>
            <a:r>
              <a:rPr lang="en-US" b="1" dirty="0"/>
              <a:t>Used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Offline apps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 web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024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278E-6640-7FEF-162C-810A55BC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332940" cy="1320800"/>
          </a:xfrm>
        </p:spPr>
        <p:txBody>
          <a:bodyPr/>
          <a:lstStyle/>
          <a:p>
            <a:r>
              <a:rPr lang="en-US" dirty="0"/>
              <a:t>Why Indexed DB Instead of Local Storage?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02330E-9A33-B3A0-1D82-59B827696B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536478"/>
              </p:ext>
            </p:extLst>
          </p:nvPr>
        </p:nvGraphicFramePr>
        <p:xfrm>
          <a:off x="927083" y="1930400"/>
          <a:ext cx="8097170" cy="3812675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4048585">
                  <a:extLst>
                    <a:ext uri="{9D8B030D-6E8A-4147-A177-3AD203B41FA5}">
                      <a16:colId xmlns:a16="http://schemas.microsoft.com/office/drawing/2014/main" val="312686488"/>
                    </a:ext>
                  </a:extLst>
                </a:gridCol>
                <a:gridCol w="4048585">
                  <a:extLst>
                    <a:ext uri="{9D8B030D-6E8A-4147-A177-3AD203B41FA5}">
                      <a16:colId xmlns:a16="http://schemas.microsoft.com/office/drawing/2014/main" val="348086873"/>
                    </a:ext>
                  </a:extLst>
                </a:gridCol>
              </a:tblGrid>
              <a:tr h="762535">
                <a:tc>
                  <a:txBody>
                    <a:bodyPr/>
                    <a:lstStyle/>
                    <a:p>
                      <a:r>
                        <a:rPr lang="en-US" dirty="0" err="1"/>
                        <a:t>LocalStorage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IndexedDB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517544"/>
                  </a:ext>
                </a:extLst>
              </a:tr>
              <a:tr h="762535">
                <a:tc>
                  <a:txBody>
                    <a:bodyPr/>
                    <a:lstStyle/>
                    <a:p>
                      <a:r>
                        <a:rPr lang="en-US" dirty="0"/>
                        <a:t>Simple key-value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Structured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4064536"/>
                  </a:ext>
                </a:extLst>
              </a:tr>
              <a:tr h="762535">
                <a:tc>
                  <a:txBody>
                    <a:bodyPr/>
                    <a:lstStyle/>
                    <a:p>
                      <a:r>
                        <a:rPr lang="en-US"/>
                        <a:t>Synchronous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Asynchronous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106964"/>
                  </a:ext>
                </a:extLst>
              </a:tr>
              <a:tr h="762535">
                <a:tc>
                  <a:txBody>
                    <a:bodyPr/>
                    <a:lstStyle/>
                    <a:p>
                      <a:r>
                        <a:rPr lang="en-US"/>
                        <a:t>Small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Large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91413"/>
                  </a:ext>
                </a:extLst>
              </a:tr>
              <a:tr h="762535">
                <a:tc>
                  <a:txBody>
                    <a:bodyPr/>
                    <a:lstStyle/>
                    <a:p>
                      <a:r>
                        <a:rPr lang="en-US"/>
                        <a:t>No indexing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Supports indexing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3216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71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8B64E-AF8D-6F96-316E-B4501CC59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HTML5 vs Native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DC1D5-DD99-2745-8447-4048E94B4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4001"/>
            <a:ext cx="10006708" cy="511743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HTML5 Web 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in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Cross-platform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internet (unless PWA)</a:t>
            </a:r>
          </a:p>
          <a:p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Gmail Web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Facebook Web</a:t>
            </a:r>
          </a:p>
          <a:p>
            <a:r>
              <a:rPr lang="en-US" b="1" dirty="0"/>
              <a:t>Native 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Installed from App Store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Platform-specific (Android/iOS)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to device hardware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934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9CCD4-E0DD-F43E-816E-44DECCDD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PWA (Progressive Web App)?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3100E-72A8-8B70-0FDA-ED6A4CED8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9832"/>
            <a:ext cx="8596668" cy="5213683"/>
          </a:xfrm>
        </p:spPr>
        <p:txBody>
          <a:bodyPr>
            <a:normAutofit/>
          </a:bodyPr>
          <a:lstStyle/>
          <a:p>
            <a:r>
              <a:rPr lang="en-US" dirty="0"/>
              <a:t>PWA = Web App + App Features</a:t>
            </a:r>
          </a:p>
          <a:p>
            <a:r>
              <a:rPr lang="en-US" dirty="0"/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Installable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Offline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Push notifications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App-like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loading</a:t>
            </a:r>
          </a:p>
          <a:p>
            <a:r>
              <a:rPr lang="en-US" dirty="0"/>
              <a:t>Technologies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 Workers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Manifest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HTTPS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114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3706D-CAAE-CC27-4351-A80D806B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Manifest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699F8-85C8-F71F-0080-BA9028080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Web App Manifest?</a:t>
            </a:r>
          </a:p>
          <a:p>
            <a:r>
              <a:rPr lang="en-US" dirty="0"/>
              <a:t>A JSON file that defines: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Icons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Theme color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 URL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mode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748F1-7F3E-2880-0A0C-A6868683B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008" y="1965159"/>
            <a:ext cx="5676865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95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AA349-2D84-89F5-9D54-BCA35E80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Linking Manifest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5C59B-647E-C59D-32ED-389FD2244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website installable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Adds app icon on mobile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Launches like native app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ED4BE-1C84-A1E2-0C2D-9A88A6AC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532" y="5119437"/>
            <a:ext cx="3429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01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78B4-AE21-A811-DFA9-833997B92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Form Data in Local Storage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733D0E-2B12-05E6-7131-F3BF40822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02" y="2160589"/>
            <a:ext cx="10748255" cy="302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53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9461-EEB5-D26D-1D99-2832986E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598B48-D891-B8B2-C184-DF551B3E6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1309" y="1077495"/>
            <a:ext cx="6526290" cy="536429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D781A3-D283-1DA8-FBF8-D6DBE8BB4161}"/>
              </a:ext>
            </a:extLst>
          </p:cNvPr>
          <p:cNvSpPr txBox="1"/>
          <p:nvPr/>
        </p:nvSpPr>
        <p:spPr>
          <a:xfrm>
            <a:off x="677334" y="1607234"/>
            <a:ext cx="3830498" cy="2776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enters data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Clicks Save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stored in browser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On page reload → data auto-filled</a:t>
            </a:r>
          </a:p>
        </p:txBody>
      </p:sp>
    </p:spTree>
    <p:extLst>
      <p:ext uri="{BB962C8B-B14F-4D97-AF65-F5344CB8AC3E}">
        <p14:creationId xmlns:p14="http://schemas.microsoft.com/office/powerpoint/2010/main" val="1323648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37F3-41E3-C7DD-4727-3750015D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HTML5 Storage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D80DDB-89D1-49CA-C528-15153567EB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3797" y="1493328"/>
            <a:ext cx="7536224" cy="3434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performance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server load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user experience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capability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implement</a:t>
            </a:r>
          </a:p>
        </p:txBody>
      </p:sp>
    </p:spTree>
    <p:extLst>
      <p:ext uri="{BB962C8B-B14F-4D97-AF65-F5344CB8AC3E}">
        <p14:creationId xmlns:p14="http://schemas.microsoft.com/office/powerpoint/2010/main" val="14462351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401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HTML5 Storage &amp; App-Like Features</vt:lpstr>
      <vt:lpstr>Introduction to HTML5 Storage</vt:lpstr>
      <vt:lpstr>Web Storage API</vt:lpstr>
      <vt:lpstr>LocalStorage</vt:lpstr>
      <vt:lpstr>SessionStorage</vt:lpstr>
      <vt:lpstr>LocalStorage vs SessionStorage</vt:lpstr>
      <vt:lpstr>IndexedDB Overview</vt:lpstr>
      <vt:lpstr>Why Indexed DB Instead of Local Storage?</vt:lpstr>
      <vt:lpstr>HTML5 vs Native App</vt:lpstr>
      <vt:lpstr>What is PWA (Progressive Web App)?</vt:lpstr>
      <vt:lpstr>App Manifest</vt:lpstr>
      <vt:lpstr>Linking Manifest File</vt:lpstr>
      <vt:lpstr>Store Form Data in Local Storage</vt:lpstr>
      <vt:lpstr>JavaScript Code</vt:lpstr>
      <vt:lpstr>Advantages of HTML5 Storage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6</cp:revision>
  <dcterms:created xsi:type="dcterms:W3CDTF">2026-02-24T10:48:45Z</dcterms:created>
  <dcterms:modified xsi:type="dcterms:W3CDTF">2026-02-24T11:28:44Z</dcterms:modified>
</cp:coreProperties>
</file>