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58" autoAdjust="0"/>
  </p:normalViewPr>
  <p:slideViewPr>
    <p:cSldViewPr snapToGrid="0">
      <p:cViewPr>
        <p:scale>
          <a:sx n="71" d="100"/>
          <a:sy n="71" d="100"/>
        </p:scale>
        <p:origin x="858"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13D4BB7-583F-4086-A751-DE062626CF0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2958741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13D4BB7-583F-4086-A751-DE062626CF0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9088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3D4BB7-583F-4086-A751-DE062626CF0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2103050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13D4BB7-583F-4086-A751-DE062626CF02}"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3688079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13D4BB7-583F-4086-A751-DE062626CF02}"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685910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13D4BB7-583F-4086-A751-DE062626CF02}" type="datetimeFigureOut">
              <a:rPr lang="en-US" smtClean="0"/>
              <a:t>2/25/2026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1635092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13D4BB7-583F-4086-A751-DE062626CF02}" type="datetimeFigureOut">
              <a:rPr lang="en-US" smtClean="0"/>
              <a:t>2/25/2026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2730402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13D4BB7-583F-4086-A751-DE062626CF02}" type="datetimeFigureOut">
              <a:rPr lang="en-US" smtClean="0"/>
              <a:t>2/25/2026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2929876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3D4BB7-583F-4086-A751-DE062626CF02}"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1416025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13D4BB7-583F-4086-A751-DE062626CF02}"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3288924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13D4BB7-583F-4086-A751-DE062626CF0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3583327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13D4BB7-583F-4086-A751-DE062626CF0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7FBD-C088-40BF-B41C-7E929C30AD46}"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95837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3D4BB7-583F-4086-A751-DE062626CF0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10609437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13D4BB7-583F-4086-A751-DE062626CF02}" type="datetimeFigureOut">
              <a:rPr lang="en-US" smtClean="0"/>
              <a:t>2/25/2026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24890445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13D4BB7-583F-4086-A751-DE062626CF02}" type="datetimeFigureOut">
              <a:rPr lang="en-US" smtClean="0"/>
              <a:t>2/25/2026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3068423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3D4BB7-583F-4086-A751-DE062626CF0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3942532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3D4BB7-583F-4086-A751-DE062626CF02}"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027FBD-C088-40BF-B41C-7E929C30AD46}" type="slidenum">
              <a:rPr lang="en-US" smtClean="0"/>
              <a:t>‹#›</a:t>
            </a:fld>
            <a:endParaRPr lang="en-US"/>
          </a:p>
        </p:txBody>
      </p:sp>
    </p:spTree>
    <p:extLst>
      <p:ext uri="{BB962C8B-B14F-4D97-AF65-F5344CB8AC3E}">
        <p14:creationId xmlns:p14="http://schemas.microsoft.com/office/powerpoint/2010/main" val="4253701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13D4BB7-583F-4086-A751-DE062626CF02}" type="datetimeFigureOut">
              <a:rPr lang="en-US" smtClean="0"/>
              <a:t>2/25/2026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E027FBD-C088-40BF-B41C-7E929C30AD46}" type="slidenum">
              <a:rPr lang="en-US" smtClean="0"/>
              <a:t>‹#›</a:t>
            </a:fld>
            <a:endParaRPr lang="en-US"/>
          </a:p>
        </p:txBody>
      </p:sp>
    </p:spTree>
    <p:extLst>
      <p:ext uri="{BB962C8B-B14F-4D97-AF65-F5344CB8AC3E}">
        <p14:creationId xmlns:p14="http://schemas.microsoft.com/office/powerpoint/2010/main" val="16861558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BB5F8-CFDF-5785-25D0-5DBB81EE94D7}"/>
              </a:ext>
            </a:extLst>
          </p:cNvPr>
          <p:cNvSpPr>
            <a:spLocks noGrp="1"/>
          </p:cNvSpPr>
          <p:nvPr>
            <p:ph type="ctrTitle"/>
          </p:nvPr>
        </p:nvSpPr>
        <p:spPr/>
        <p:txBody>
          <a:bodyPr/>
          <a:lstStyle/>
          <a:p>
            <a:r>
              <a:rPr lang="en-US" dirty="0"/>
              <a:t>HTML5 Frameworks Overview</a:t>
            </a:r>
          </a:p>
        </p:txBody>
      </p:sp>
      <p:sp>
        <p:nvSpPr>
          <p:cNvPr id="3" name="Subtitle 2">
            <a:extLst>
              <a:ext uri="{FF2B5EF4-FFF2-40B4-BE49-F238E27FC236}">
                <a16:creationId xmlns:a16="http://schemas.microsoft.com/office/drawing/2014/main" id="{C590722F-C1A4-CCDF-7343-D7F8A9B81361}"/>
              </a:ext>
            </a:extLst>
          </p:cNvPr>
          <p:cNvSpPr>
            <a:spLocks noGrp="1"/>
          </p:cNvSpPr>
          <p:nvPr>
            <p:ph type="subTitle" idx="1"/>
          </p:nvPr>
        </p:nvSpPr>
        <p:spPr/>
        <p:txBody>
          <a:bodyPr/>
          <a:lstStyle/>
          <a:p>
            <a:r>
              <a:rPr lang="en-US" dirty="0"/>
              <a:t>Presented by: Manal Asghar</a:t>
            </a:r>
          </a:p>
        </p:txBody>
      </p:sp>
    </p:spTree>
    <p:extLst>
      <p:ext uri="{BB962C8B-B14F-4D97-AF65-F5344CB8AC3E}">
        <p14:creationId xmlns:p14="http://schemas.microsoft.com/office/powerpoint/2010/main" val="4060218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B0D06-E9CE-F04D-22A4-C66CE7923B7A}"/>
              </a:ext>
            </a:extLst>
          </p:cNvPr>
          <p:cNvSpPr>
            <a:spLocks noGrp="1"/>
          </p:cNvSpPr>
          <p:nvPr>
            <p:ph type="title"/>
          </p:nvPr>
        </p:nvSpPr>
        <p:spPr/>
        <p:txBody>
          <a:bodyPr/>
          <a:lstStyle/>
          <a:p>
            <a:r>
              <a:rPr lang="en-US" dirty="0"/>
              <a:t>What are HTML5 Frameworks?</a:t>
            </a:r>
          </a:p>
        </p:txBody>
      </p:sp>
      <p:sp>
        <p:nvSpPr>
          <p:cNvPr id="3" name="Content Placeholder 2">
            <a:extLst>
              <a:ext uri="{FF2B5EF4-FFF2-40B4-BE49-F238E27FC236}">
                <a16:creationId xmlns:a16="http://schemas.microsoft.com/office/drawing/2014/main" id="{8ECDFD51-B56E-9025-8765-25E895752B56}"/>
              </a:ext>
            </a:extLst>
          </p:cNvPr>
          <p:cNvSpPr>
            <a:spLocks noGrp="1"/>
          </p:cNvSpPr>
          <p:nvPr>
            <p:ph idx="1"/>
          </p:nvPr>
        </p:nvSpPr>
        <p:spPr>
          <a:xfrm>
            <a:off x="1104293" y="1425388"/>
            <a:ext cx="8946541" cy="5432612"/>
          </a:xfrm>
        </p:spPr>
        <p:txBody>
          <a:bodyPr>
            <a:normAutofit fontScale="92500" lnSpcReduction="10000"/>
          </a:bodyPr>
          <a:lstStyle/>
          <a:p>
            <a:r>
              <a:rPr lang="en-US" dirty="0"/>
              <a:t>HTML5 Frameworks are:</a:t>
            </a:r>
          </a:p>
          <a:p>
            <a:r>
              <a:rPr lang="en-US" dirty="0"/>
              <a:t>Pre-written CSS &amp; JS libraries</a:t>
            </a:r>
          </a:p>
          <a:p>
            <a:r>
              <a:rPr lang="en-US" dirty="0"/>
              <a:t>Used to build responsive UI faster</a:t>
            </a:r>
          </a:p>
          <a:p>
            <a:r>
              <a:rPr lang="en-US" dirty="0"/>
              <a:t>They provide:</a:t>
            </a:r>
          </a:p>
          <a:p>
            <a:pPr>
              <a:buFont typeface="Arial" panose="020B0604020202020204" pitchFamily="34" charset="0"/>
              <a:buChar char="•"/>
            </a:pPr>
            <a:r>
              <a:rPr lang="en-US" dirty="0"/>
              <a:t>Grid systems</a:t>
            </a:r>
          </a:p>
          <a:p>
            <a:pPr>
              <a:buFont typeface="Arial" panose="020B0604020202020204" pitchFamily="34" charset="0"/>
              <a:buChar char="•"/>
            </a:pPr>
            <a:r>
              <a:rPr lang="en-US" dirty="0"/>
              <a:t>Buttons</a:t>
            </a:r>
          </a:p>
          <a:p>
            <a:pPr>
              <a:buFont typeface="Arial" panose="020B0604020202020204" pitchFamily="34" charset="0"/>
              <a:buChar char="•"/>
            </a:pPr>
            <a:r>
              <a:rPr lang="en-US" dirty="0"/>
              <a:t>Forms</a:t>
            </a:r>
          </a:p>
          <a:p>
            <a:pPr>
              <a:buFont typeface="Arial" panose="020B0604020202020204" pitchFamily="34" charset="0"/>
              <a:buChar char="•"/>
            </a:pPr>
            <a:r>
              <a:rPr lang="en-US" dirty="0"/>
              <a:t>Cards</a:t>
            </a:r>
          </a:p>
          <a:p>
            <a:pPr>
              <a:buFont typeface="Arial" panose="020B0604020202020204" pitchFamily="34" charset="0"/>
              <a:buChar char="•"/>
            </a:pPr>
            <a:r>
              <a:rPr lang="en-US" dirty="0"/>
              <a:t>Navigation bars</a:t>
            </a:r>
          </a:p>
          <a:p>
            <a:pPr>
              <a:buFont typeface="Arial" panose="020B0604020202020204" pitchFamily="34" charset="0"/>
              <a:buChar char="•"/>
            </a:pPr>
            <a:r>
              <a:rPr lang="en-US" dirty="0"/>
              <a:t>Modals</a:t>
            </a:r>
          </a:p>
          <a:p>
            <a:r>
              <a:rPr lang="en-US" dirty="0"/>
              <a:t>Purpose:</a:t>
            </a:r>
          </a:p>
          <a:p>
            <a:pPr>
              <a:buFont typeface="Arial" panose="020B0604020202020204" pitchFamily="34" charset="0"/>
              <a:buChar char="•"/>
            </a:pPr>
            <a:r>
              <a:rPr lang="en-US" dirty="0"/>
              <a:t>Save time</a:t>
            </a:r>
          </a:p>
          <a:p>
            <a:pPr>
              <a:buFont typeface="Arial" panose="020B0604020202020204" pitchFamily="34" charset="0"/>
              <a:buChar char="•"/>
            </a:pPr>
            <a:r>
              <a:rPr lang="en-US" dirty="0"/>
              <a:t>Maintain consistency</a:t>
            </a:r>
          </a:p>
          <a:p>
            <a:pPr>
              <a:buFont typeface="Arial" panose="020B0604020202020204" pitchFamily="34" charset="0"/>
              <a:buChar char="•"/>
            </a:pPr>
            <a:r>
              <a:rPr lang="en-US" dirty="0"/>
              <a:t>Responsive design</a:t>
            </a:r>
          </a:p>
          <a:p>
            <a:endParaRPr lang="en-US" dirty="0"/>
          </a:p>
        </p:txBody>
      </p:sp>
    </p:spTree>
    <p:extLst>
      <p:ext uri="{BB962C8B-B14F-4D97-AF65-F5344CB8AC3E}">
        <p14:creationId xmlns:p14="http://schemas.microsoft.com/office/powerpoint/2010/main" val="198428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C3423-8719-52D4-DDB9-B6DB83B8F30D}"/>
              </a:ext>
            </a:extLst>
          </p:cNvPr>
          <p:cNvSpPr>
            <a:spLocks noGrp="1"/>
          </p:cNvSpPr>
          <p:nvPr>
            <p:ph type="title"/>
          </p:nvPr>
        </p:nvSpPr>
        <p:spPr/>
        <p:txBody>
          <a:bodyPr/>
          <a:lstStyle/>
          <a:p>
            <a:r>
              <a:rPr lang="en-US" dirty="0"/>
              <a:t>Why Use Frameworks?</a:t>
            </a:r>
          </a:p>
        </p:txBody>
      </p:sp>
      <p:sp>
        <p:nvSpPr>
          <p:cNvPr id="3" name="Content Placeholder 2">
            <a:extLst>
              <a:ext uri="{FF2B5EF4-FFF2-40B4-BE49-F238E27FC236}">
                <a16:creationId xmlns:a16="http://schemas.microsoft.com/office/drawing/2014/main" id="{2AEE884C-F345-96ED-9188-B6FBE1B42BBF}"/>
              </a:ext>
            </a:extLst>
          </p:cNvPr>
          <p:cNvSpPr>
            <a:spLocks noGrp="1"/>
          </p:cNvSpPr>
          <p:nvPr>
            <p:ph idx="1"/>
          </p:nvPr>
        </p:nvSpPr>
        <p:spPr/>
        <p:txBody>
          <a:bodyPr/>
          <a:lstStyle/>
          <a:p>
            <a:r>
              <a:rPr lang="en-US" dirty="0"/>
              <a:t>Without framework:</a:t>
            </a:r>
          </a:p>
          <a:p>
            <a:pPr>
              <a:buFont typeface="Arial" panose="020B0604020202020204" pitchFamily="34" charset="0"/>
              <a:buChar char="•"/>
            </a:pPr>
            <a:r>
              <a:rPr lang="en-US" dirty="0"/>
              <a:t>Write CSS from scratch</a:t>
            </a:r>
          </a:p>
          <a:p>
            <a:pPr>
              <a:buFont typeface="Arial" panose="020B0604020202020204" pitchFamily="34" charset="0"/>
              <a:buChar char="•"/>
            </a:pPr>
            <a:r>
              <a:rPr lang="en-US" dirty="0"/>
              <a:t>Time-consuming</a:t>
            </a:r>
          </a:p>
          <a:p>
            <a:pPr>
              <a:buFont typeface="Arial" panose="020B0604020202020204" pitchFamily="34" charset="0"/>
              <a:buChar char="•"/>
            </a:pPr>
            <a:r>
              <a:rPr lang="en-US" dirty="0"/>
              <a:t>More bugs</a:t>
            </a:r>
          </a:p>
          <a:p>
            <a:r>
              <a:rPr lang="en-US" dirty="0"/>
              <a:t>With framework:</a:t>
            </a:r>
          </a:p>
          <a:p>
            <a:pPr>
              <a:buFont typeface="Arial" panose="020B0604020202020204" pitchFamily="34" charset="0"/>
              <a:buChar char="•"/>
            </a:pPr>
            <a:r>
              <a:rPr lang="en-US" dirty="0"/>
              <a:t>Ready-made components</a:t>
            </a:r>
          </a:p>
          <a:p>
            <a:pPr>
              <a:buFont typeface="Arial" panose="020B0604020202020204" pitchFamily="34" charset="0"/>
              <a:buChar char="•"/>
            </a:pPr>
            <a:r>
              <a:rPr lang="en-US" dirty="0"/>
              <a:t>Cross-browser compatibility</a:t>
            </a:r>
          </a:p>
          <a:p>
            <a:pPr>
              <a:buFont typeface="Arial" panose="020B0604020202020204" pitchFamily="34" charset="0"/>
              <a:buChar char="•"/>
            </a:pPr>
            <a:r>
              <a:rPr lang="en-US" dirty="0"/>
              <a:t>Faster development</a:t>
            </a:r>
          </a:p>
          <a:p>
            <a:pPr>
              <a:buFont typeface="Arial" panose="020B0604020202020204" pitchFamily="34" charset="0"/>
              <a:buChar char="•"/>
            </a:pPr>
            <a:r>
              <a:rPr lang="en-US" dirty="0"/>
              <a:t>Professional UI</a:t>
            </a:r>
          </a:p>
          <a:p>
            <a:endParaRPr lang="en-US" dirty="0"/>
          </a:p>
        </p:txBody>
      </p:sp>
    </p:spTree>
    <p:extLst>
      <p:ext uri="{BB962C8B-B14F-4D97-AF65-F5344CB8AC3E}">
        <p14:creationId xmlns:p14="http://schemas.microsoft.com/office/powerpoint/2010/main" val="18148001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608FD-0B8D-88C1-77E7-81FED0BE75F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DA069D-F8A9-8837-5048-01745CF850AA}"/>
              </a:ext>
            </a:extLst>
          </p:cNvPr>
          <p:cNvSpPr>
            <a:spLocks noGrp="1"/>
          </p:cNvSpPr>
          <p:nvPr>
            <p:ph idx="1"/>
          </p:nvPr>
        </p:nvSpPr>
        <p:spPr/>
        <p:txBody>
          <a:bodyPr/>
          <a:lstStyle/>
          <a:p>
            <a:r>
              <a:rPr lang="en-US" b="1" dirty="0"/>
              <a:t>Bootstrap Overview</a:t>
            </a:r>
          </a:p>
          <a:p>
            <a:r>
              <a:rPr lang="en-US" dirty="0"/>
              <a:t>Bootstrap is a popular CSS framework.</a:t>
            </a:r>
          </a:p>
          <a:p>
            <a:r>
              <a:rPr lang="en-US" dirty="0"/>
              <a:t>Created by:</a:t>
            </a:r>
            <a:br>
              <a:rPr lang="en-US" dirty="0"/>
            </a:br>
            <a:r>
              <a:rPr lang="en-US" dirty="0"/>
              <a:t>Twitter</a:t>
            </a:r>
          </a:p>
          <a:p>
            <a:r>
              <a:rPr lang="en-US" dirty="0"/>
              <a:t>Features:</a:t>
            </a:r>
          </a:p>
          <a:p>
            <a:pPr>
              <a:buFont typeface="Arial" panose="020B0604020202020204" pitchFamily="34" charset="0"/>
              <a:buChar char="•"/>
            </a:pPr>
            <a:r>
              <a:rPr lang="en-US" dirty="0"/>
              <a:t>12-column grid system</a:t>
            </a:r>
          </a:p>
          <a:p>
            <a:pPr>
              <a:buFont typeface="Arial" panose="020B0604020202020204" pitchFamily="34" charset="0"/>
              <a:buChar char="•"/>
            </a:pPr>
            <a:r>
              <a:rPr lang="en-US" dirty="0"/>
              <a:t>Pre-designed components</a:t>
            </a:r>
          </a:p>
          <a:p>
            <a:pPr>
              <a:buFont typeface="Arial" panose="020B0604020202020204" pitchFamily="34" charset="0"/>
              <a:buChar char="•"/>
            </a:pPr>
            <a:r>
              <a:rPr lang="en-US" dirty="0"/>
              <a:t>Responsive utilities</a:t>
            </a:r>
          </a:p>
          <a:p>
            <a:pPr>
              <a:buFont typeface="Arial" panose="020B0604020202020204" pitchFamily="34" charset="0"/>
              <a:buChar char="•"/>
            </a:pPr>
            <a:r>
              <a:rPr lang="en-US" dirty="0"/>
              <a:t>Built-in JS plugins</a:t>
            </a:r>
          </a:p>
          <a:p>
            <a:endParaRPr lang="en-US" dirty="0"/>
          </a:p>
        </p:txBody>
      </p:sp>
    </p:spTree>
    <p:extLst>
      <p:ext uri="{BB962C8B-B14F-4D97-AF65-F5344CB8AC3E}">
        <p14:creationId xmlns:p14="http://schemas.microsoft.com/office/powerpoint/2010/main" val="569433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AD97E-1F85-687A-2F0B-554FC9ED80E6}"/>
              </a:ext>
            </a:extLst>
          </p:cNvPr>
          <p:cNvSpPr>
            <a:spLocks noGrp="1"/>
          </p:cNvSpPr>
          <p:nvPr>
            <p:ph type="title"/>
          </p:nvPr>
        </p:nvSpPr>
        <p:spPr>
          <a:xfrm>
            <a:off x="646111" y="452718"/>
            <a:ext cx="9404723" cy="986117"/>
          </a:xfrm>
        </p:spPr>
        <p:txBody>
          <a:bodyPr/>
          <a:lstStyle/>
          <a:p>
            <a:r>
              <a:rPr lang="en-US" dirty="0"/>
              <a:t>Bootstrap Features</a:t>
            </a:r>
          </a:p>
        </p:txBody>
      </p:sp>
      <p:sp>
        <p:nvSpPr>
          <p:cNvPr id="3" name="Content Placeholder 2">
            <a:extLst>
              <a:ext uri="{FF2B5EF4-FFF2-40B4-BE49-F238E27FC236}">
                <a16:creationId xmlns:a16="http://schemas.microsoft.com/office/drawing/2014/main" id="{E8F5D4A9-B64F-5051-B541-CBB3D5205820}"/>
              </a:ext>
            </a:extLst>
          </p:cNvPr>
          <p:cNvSpPr>
            <a:spLocks noGrp="1"/>
          </p:cNvSpPr>
          <p:nvPr>
            <p:ph idx="1"/>
          </p:nvPr>
        </p:nvSpPr>
        <p:spPr>
          <a:xfrm>
            <a:off x="875201" y="1438835"/>
            <a:ext cx="8946541" cy="5004752"/>
          </a:xfrm>
        </p:spPr>
        <p:txBody>
          <a:bodyPr>
            <a:normAutofit/>
          </a:bodyPr>
          <a:lstStyle/>
          <a:p>
            <a:r>
              <a:rPr lang="en-US" b="1" dirty="0"/>
              <a:t>Bootstrap Features</a:t>
            </a:r>
          </a:p>
          <a:p>
            <a:pPr>
              <a:buFont typeface="Arial" panose="020B0604020202020204" pitchFamily="34" charset="0"/>
              <a:buChar char="•"/>
            </a:pPr>
            <a:r>
              <a:rPr lang="en-US" dirty="0"/>
              <a:t>Navbar</a:t>
            </a:r>
          </a:p>
          <a:p>
            <a:pPr>
              <a:buFont typeface="Arial" panose="020B0604020202020204" pitchFamily="34" charset="0"/>
              <a:buChar char="•"/>
            </a:pPr>
            <a:r>
              <a:rPr lang="en-US" dirty="0"/>
              <a:t>Cards</a:t>
            </a:r>
          </a:p>
          <a:p>
            <a:pPr>
              <a:buFont typeface="Arial" panose="020B0604020202020204" pitchFamily="34" charset="0"/>
              <a:buChar char="•"/>
            </a:pPr>
            <a:r>
              <a:rPr lang="en-US" dirty="0"/>
              <a:t>Buttons</a:t>
            </a:r>
          </a:p>
          <a:p>
            <a:pPr>
              <a:buFont typeface="Arial" panose="020B0604020202020204" pitchFamily="34" charset="0"/>
              <a:buChar char="•"/>
            </a:pPr>
            <a:r>
              <a:rPr lang="en-US" dirty="0"/>
              <a:t>Carousel</a:t>
            </a:r>
          </a:p>
          <a:p>
            <a:pPr>
              <a:buFont typeface="Arial" panose="020B0604020202020204" pitchFamily="34" charset="0"/>
              <a:buChar char="•"/>
            </a:pPr>
            <a:r>
              <a:rPr lang="en-US" dirty="0"/>
              <a:t>Modal</a:t>
            </a:r>
          </a:p>
          <a:p>
            <a:pPr>
              <a:buFont typeface="Arial" panose="020B0604020202020204" pitchFamily="34" charset="0"/>
              <a:buChar char="•"/>
            </a:pPr>
            <a:r>
              <a:rPr lang="en-US" dirty="0"/>
              <a:t>Forms</a:t>
            </a:r>
          </a:p>
          <a:p>
            <a:pPr>
              <a:buFont typeface="Arial" panose="020B0604020202020204" pitchFamily="34" charset="0"/>
              <a:buChar char="•"/>
            </a:pPr>
            <a:r>
              <a:rPr lang="en-US" dirty="0"/>
              <a:t>Alerts</a:t>
            </a:r>
          </a:p>
          <a:p>
            <a:r>
              <a:rPr lang="en-US" dirty="0"/>
              <a:t>Uses:</a:t>
            </a:r>
          </a:p>
          <a:p>
            <a:pPr>
              <a:buFont typeface="Arial" panose="020B0604020202020204" pitchFamily="34" charset="0"/>
              <a:buChar char="•"/>
            </a:pPr>
            <a:r>
              <a:rPr lang="en-US" dirty="0"/>
              <a:t>Class-based styling Example:</a:t>
            </a:r>
          </a:p>
          <a:p>
            <a:pPr>
              <a:buFont typeface="Arial" panose="020B0604020202020204" pitchFamily="34" charset="0"/>
              <a:buChar char="•"/>
            </a:pPr>
            <a:r>
              <a:rPr lang="en-US" dirty="0"/>
              <a:t>class="</a:t>
            </a:r>
            <a:r>
              <a:rPr lang="en-US" dirty="0" err="1"/>
              <a:t>btn</a:t>
            </a:r>
            <a:r>
              <a:rPr lang="en-US" dirty="0"/>
              <a:t> </a:t>
            </a:r>
            <a:r>
              <a:rPr lang="en-US" dirty="0" err="1"/>
              <a:t>btn</a:t>
            </a:r>
            <a:r>
              <a:rPr lang="en-US" dirty="0"/>
              <a:t>-primary"</a:t>
            </a:r>
          </a:p>
          <a:p>
            <a:endParaRPr lang="en-US" dirty="0"/>
          </a:p>
        </p:txBody>
      </p:sp>
    </p:spTree>
    <p:extLst>
      <p:ext uri="{BB962C8B-B14F-4D97-AF65-F5344CB8AC3E}">
        <p14:creationId xmlns:p14="http://schemas.microsoft.com/office/powerpoint/2010/main" val="793511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C77C-7275-EAC8-720C-ACCAC8E7956F}"/>
              </a:ext>
            </a:extLst>
          </p:cNvPr>
          <p:cNvSpPr>
            <a:spLocks noGrp="1"/>
          </p:cNvSpPr>
          <p:nvPr>
            <p:ph type="title"/>
          </p:nvPr>
        </p:nvSpPr>
        <p:spPr/>
        <p:txBody>
          <a:bodyPr/>
          <a:lstStyle/>
          <a:p>
            <a:r>
              <a:rPr lang="en-US" dirty="0"/>
              <a:t>Tailwind CSS Overview</a:t>
            </a:r>
          </a:p>
        </p:txBody>
      </p:sp>
      <p:sp>
        <p:nvSpPr>
          <p:cNvPr id="3" name="Content Placeholder 2">
            <a:extLst>
              <a:ext uri="{FF2B5EF4-FFF2-40B4-BE49-F238E27FC236}">
                <a16:creationId xmlns:a16="http://schemas.microsoft.com/office/drawing/2014/main" id="{F3E5973A-A6D4-DCB7-9641-B054A6FA7543}"/>
              </a:ext>
            </a:extLst>
          </p:cNvPr>
          <p:cNvSpPr>
            <a:spLocks noGrp="1"/>
          </p:cNvSpPr>
          <p:nvPr>
            <p:ph idx="1"/>
          </p:nvPr>
        </p:nvSpPr>
        <p:spPr>
          <a:xfrm>
            <a:off x="762117" y="1474695"/>
            <a:ext cx="10479624" cy="4930587"/>
          </a:xfrm>
        </p:spPr>
        <p:txBody>
          <a:bodyPr/>
          <a:lstStyle/>
          <a:p>
            <a:pPr>
              <a:lnSpc>
                <a:spcPct val="200000"/>
              </a:lnSpc>
            </a:pPr>
            <a:r>
              <a:rPr lang="en-US" dirty="0"/>
              <a:t>Tailwind CSS is a utility-first CSS framework for rapidly building custom user interfaces. Instead of providing pre-designed components like traditional frameworks (e.g., Bootstrap), Tailwind offers low-level utility classes that can be applied directly in HTML to create unique designs without writing custom CS</a:t>
            </a:r>
          </a:p>
          <a:p>
            <a:pPr>
              <a:lnSpc>
                <a:spcPct val="200000"/>
              </a:lnSpc>
            </a:pPr>
            <a:r>
              <a:rPr lang="en-US" dirty="0"/>
              <a:t>Instead of components, it gives utility classes.</a:t>
            </a:r>
          </a:p>
          <a:p>
            <a:pPr>
              <a:lnSpc>
                <a:spcPct val="200000"/>
              </a:lnSpc>
            </a:pPr>
            <a:r>
              <a:rPr lang="en-US" dirty="0"/>
              <a:t>Example:</a:t>
            </a:r>
          </a:p>
          <a:p>
            <a:pPr>
              <a:lnSpc>
                <a:spcPct val="200000"/>
              </a:lnSpc>
            </a:pPr>
            <a:r>
              <a:rPr lang="en-US" dirty="0"/>
              <a:t>class="bg-blue-500 text-white p-4 rounded"</a:t>
            </a:r>
          </a:p>
        </p:txBody>
      </p:sp>
    </p:spTree>
    <p:extLst>
      <p:ext uri="{BB962C8B-B14F-4D97-AF65-F5344CB8AC3E}">
        <p14:creationId xmlns:p14="http://schemas.microsoft.com/office/powerpoint/2010/main" val="491812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D36DF-D691-57B2-4A6A-97C78C592412}"/>
              </a:ext>
            </a:extLst>
          </p:cNvPr>
          <p:cNvSpPr>
            <a:spLocks noGrp="1"/>
          </p:cNvSpPr>
          <p:nvPr>
            <p:ph type="title"/>
          </p:nvPr>
        </p:nvSpPr>
        <p:spPr/>
        <p:txBody>
          <a:bodyPr/>
          <a:lstStyle/>
          <a:p>
            <a:r>
              <a:rPr lang="en-US" dirty="0"/>
              <a:t>Bootstrap vs Tailwind</a:t>
            </a:r>
          </a:p>
        </p:txBody>
      </p:sp>
      <p:graphicFrame>
        <p:nvGraphicFramePr>
          <p:cNvPr id="4" name="Content Placeholder 3">
            <a:extLst>
              <a:ext uri="{FF2B5EF4-FFF2-40B4-BE49-F238E27FC236}">
                <a16:creationId xmlns:a16="http://schemas.microsoft.com/office/drawing/2014/main" id="{3F92048B-6DDD-65E2-FD64-2866B4EDE5F0}"/>
              </a:ext>
            </a:extLst>
          </p:cNvPr>
          <p:cNvGraphicFramePr>
            <a:graphicFrameLocks noGrp="1"/>
          </p:cNvGraphicFramePr>
          <p:nvPr>
            <p:ph idx="1"/>
            <p:extLst>
              <p:ext uri="{D42A27DB-BD31-4B8C-83A1-F6EECF244321}">
                <p14:modId xmlns:p14="http://schemas.microsoft.com/office/powerpoint/2010/main" val="1188633653"/>
              </p:ext>
            </p:extLst>
          </p:nvPr>
        </p:nvGraphicFramePr>
        <p:xfrm>
          <a:off x="847819" y="1970372"/>
          <a:ext cx="8134815" cy="3798414"/>
        </p:xfrm>
        <a:graphic>
          <a:graphicData uri="http://schemas.openxmlformats.org/drawingml/2006/table">
            <a:tbl>
              <a:tblPr>
                <a:tableStyleId>{D7AC3CCA-C797-4891-BE02-D94E43425B78}</a:tableStyleId>
              </a:tblPr>
              <a:tblGrid>
                <a:gridCol w="2711605">
                  <a:extLst>
                    <a:ext uri="{9D8B030D-6E8A-4147-A177-3AD203B41FA5}">
                      <a16:colId xmlns:a16="http://schemas.microsoft.com/office/drawing/2014/main" val="2132889435"/>
                    </a:ext>
                  </a:extLst>
                </a:gridCol>
                <a:gridCol w="2711605">
                  <a:extLst>
                    <a:ext uri="{9D8B030D-6E8A-4147-A177-3AD203B41FA5}">
                      <a16:colId xmlns:a16="http://schemas.microsoft.com/office/drawing/2014/main" val="1951680316"/>
                    </a:ext>
                  </a:extLst>
                </a:gridCol>
                <a:gridCol w="2711605">
                  <a:extLst>
                    <a:ext uri="{9D8B030D-6E8A-4147-A177-3AD203B41FA5}">
                      <a16:colId xmlns:a16="http://schemas.microsoft.com/office/drawing/2014/main" val="3725140176"/>
                    </a:ext>
                  </a:extLst>
                </a:gridCol>
              </a:tblGrid>
              <a:tr h="633069">
                <a:tc>
                  <a:txBody>
                    <a:bodyPr/>
                    <a:lstStyle/>
                    <a:p>
                      <a:r>
                        <a:rPr lang="en-US"/>
                        <a:t>Feature</a:t>
                      </a:r>
                    </a:p>
                  </a:txBody>
                  <a:tcPr anchor="ctr"/>
                </a:tc>
                <a:tc>
                  <a:txBody>
                    <a:bodyPr/>
                    <a:lstStyle/>
                    <a:p>
                      <a:r>
                        <a:rPr lang="en-US"/>
                        <a:t>Bootstrap</a:t>
                      </a:r>
                    </a:p>
                  </a:txBody>
                  <a:tcPr anchor="ctr"/>
                </a:tc>
                <a:tc>
                  <a:txBody>
                    <a:bodyPr/>
                    <a:lstStyle/>
                    <a:p>
                      <a:r>
                        <a:rPr lang="en-US"/>
                        <a:t>Tailwind</a:t>
                      </a:r>
                    </a:p>
                  </a:txBody>
                  <a:tcPr anchor="ctr"/>
                </a:tc>
                <a:extLst>
                  <a:ext uri="{0D108BD9-81ED-4DB2-BD59-A6C34878D82A}">
                    <a16:rowId xmlns:a16="http://schemas.microsoft.com/office/drawing/2014/main" val="1741450651"/>
                  </a:ext>
                </a:extLst>
              </a:tr>
              <a:tr h="633069">
                <a:tc>
                  <a:txBody>
                    <a:bodyPr/>
                    <a:lstStyle/>
                    <a:p>
                      <a:r>
                        <a:rPr lang="en-US" dirty="0"/>
                        <a:t>Type</a:t>
                      </a:r>
                    </a:p>
                  </a:txBody>
                  <a:tcPr anchor="ctr"/>
                </a:tc>
                <a:tc>
                  <a:txBody>
                    <a:bodyPr/>
                    <a:lstStyle/>
                    <a:p>
                      <a:r>
                        <a:rPr lang="en-US"/>
                        <a:t>Component-based</a:t>
                      </a:r>
                    </a:p>
                  </a:txBody>
                  <a:tcPr anchor="ctr"/>
                </a:tc>
                <a:tc>
                  <a:txBody>
                    <a:bodyPr/>
                    <a:lstStyle/>
                    <a:p>
                      <a:r>
                        <a:rPr lang="en-US"/>
                        <a:t>Utility-first</a:t>
                      </a:r>
                    </a:p>
                  </a:txBody>
                  <a:tcPr anchor="ctr"/>
                </a:tc>
                <a:extLst>
                  <a:ext uri="{0D108BD9-81ED-4DB2-BD59-A6C34878D82A}">
                    <a16:rowId xmlns:a16="http://schemas.microsoft.com/office/drawing/2014/main" val="2136298922"/>
                  </a:ext>
                </a:extLst>
              </a:tr>
              <a:tr h="633069">
                <a:tc>
                  <a:txBody>
                    <a:bodyPr/>
                    <a:lstStyle/>
                    <a:p>
                      <a:r>
                        <a:rPr lang="en-US"/>
                        <a:t>Design</a:t>
                      </a:r>
                    </a:p>
                  </a:txBody>
                  <a:tcPr anchor="ctr"/>
                </a:tc>
                <a:tc>
                  <a:txBody>
                    <a:bodyPr/>
                    <a:lstStyle/>
                    <a:p>
                      <a:r>
                        <a:rPr lang="en-US"/>
                        <a:t>Pre-styled</a:t>
                      </a:r>
                    </a:p>
                  </a:txBody>
                  <a:tcPr anchor="ctr"/>
                </a:tc>
                <a:tc>
                  <a:txBody>
                    <a:bodyPr/>
                    <a:lstStyle/>
                    <a:p>
                      <a:r>
                        <a:rPr lang="en-US"/>
                        <a:t>Customizable</a:t>
                      </a:r>
                    </a:p>
                  </a:txBody>
                  <a:tcPr anchor="ctr"/>
                </a:tc>
                <a:extLst>
                  <a:ext uri="{0D108BD9-81ED-4DB2-BD59-A6C34878D82A}">
                    <a16:rowId xmlns:a16="http://schemas.microsoft.com/office/drawing/2014/main" val="1650205897"/>
                  </a:ext>
                </a:extLst>
              </a:tr>
              <a:tr h="633069">
                <a:tc>
                  <a:txBody>
                    <a:bodyPr/>
                    <a:lstStyle/>
                    <a:p>
                      <a:r>
                        <a:rPr lang="en-US"/>
                        <a:t>Learning</a:t>
                      </a:r>
                    </a:p>
                  </a:txBody>
                  <a:tcPr anchor="ctr"/>
                </a:tc>
                <a:tc>
                  <a:txBody>
                    <a:bodyPr/>
                    <a:lstStyle/>
                    <a:p>
                      <a:r>
                        <a:rPr lang="en-US"/>
                        <a:t>Easy</a:t>
                      </a:r>
                    </a:p>
                  </a:txBody>
                  <a:tcPr anchor="ctr"/>
                </a:tc>
                <a:tc>
                  <a:txBody>
                    <a:bodyPr/>
                    <a:lstStyle/>
                    <a:p>
                      <a:r>
                        <a:rPr lang="en-US"/>
                        <a:t>Medium</a:t>
                      </a:r>
                    </a:p>
                  </a:txBody>
                  <a:tcPr anchor="ctr"/>
                </a:tc>
                <a:extLst>
                  <a:ext uri="{0D108BD9-81ED-4DB2-BD59-A6C34878D82A}">
                    <a16:rowId xmlns:a16="http://schemas.microsoft.com/office/drawing/2014/main" val="2148191416"/>
                  </a:ext>
                </a:extLst>
              </a:tr>
              <a:tr h="633069">
                <a:tc>
                  <a:txBody>
                    <a:bodyPr/>
                    <a:lstStyle/>
                    <a:p>
                      <a:r>
                        <a:rPr lang="en-US"/>
                        <a:t>Flexibility</a:t>
                      </a:r>
                    </a:p>
                  </a:txBody>
                  <a:tcPr anchor="ctr"/>
                </a:tc>
                <a:tc>
                  <a:txBody>
                    <a:bodyPr/>
                    <a:lstStyle/>
                    <a:p>
                      <a:r>
                        <a:rPr lang="en-US" dirty="0"/>
                        <a:t>Limited</a:t>
                      </a:r>
                    </a:p>
                  </a:txBody>
                  <a:tcPr anchor="ctr"/>
                </a:tc>
                <a:tc>
                  <a:txBody>
                    <a:bodyPr/>
                    <a:lstStyle/>
                    <a:p>
                      <a:r>
                        <a:rPr lang="en-US"/>
                        <a:t>Very high</a:t>
                      </a:r>
                    </a:p>
                  </a:txBody>
                  <a:tcPr anchor="ctr"/>
                </a:tc>
                <a:extLst>
                  <a:ext uri="{0D108BD9-81ED-4DB2-BD59-A6C34878D82A}">
                    <a16:rowId xmlns:a16="http://schemas.microsoft.com/office/drawing/2014/main" val="3704966661"/>
                  </a:ext>
                </a:extLst>
              </a:tr>
              <a:tr h="633069">
                <a:tc>
                  <a:txBody>
                    <a:bodyPr/>
                    <a:lstStyle/>
                    <a:p>
                      <a:r>
                        <a:rPr lang="en-US"/>
                        <a:t>File Size</a:t>
                      </a:r>
                    </a:p>
                  </a:txBody>
                  <a:tcPr anchor="ctr"/>
                </a:tc>
                <a:tc>
                  <a:txBody>
                    <a:bodyPr/>
                    <a:lstStyle/>
                    <a:p>
                      <a:r>
                        <a:rPr lang="en-US"/>
                        <a:t>Medium</a:t>
                      </a:r>
                    </a:p>
                  </a:txBody>
                  <a:tcPr anchor="ctr"/>
                </a:tc>
                <a:tc>
                  <a:txBody>
                    <a:bodyPr/>
                    <a:lstStyle/>
                    <a:p>
                      <a:r>
                        <a:rPr lang="en-US" dirty="0"/>
                        <a:t>Can be optimized</a:t>
                      </a:r>
                    </a:p>
                  </a:txBody>
                  <a:tcPr anchor="ctr"/>
                </a:tc>
                <a:extLst>
                  <a:ext uri="{0D108BD9-81ED-4DB2-BD59-A6C34878D82A}">
                    <a16:rowId xmlns:a16="http://schemas.microsoft.com/office/drawing/2014/main" val="2285052191"/>
                  </a:ext>
                </a:extLst>
              </a:tr>
            </a:tbl>
          </a:graphicData>
        </a:graphic>
      </p:graphicFrame>
    </p:spTree>
    <p:extLst>
      <p:ext uri="{BB962C8B-B14F-4D97-AF65-F5344CB8AC3E}">
        <p14:creationId xmlns:p14="http://schemas.microsoft.com/office/powerpoint/2010/main" val="7603112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4CD84-4E6C-07FB-C4E8-16576C7C6CD3}"/>
              </a:ext>
            </a:extLst>
          </p:cNvPr>
          <p:cNvSpPr>
            <a:spLocks noGrp="1"/>
          </p:cNvSpPr>
          <p:nvPr>
            <p:ph type="title"/>
          </p:nvPr>
        </p:nvSpPr>
        <p:spPr/>
        <p:txBody>
          <a:bodyPr/>
          <a:lstStyle/>
          <a:p>
            <a:r>
              <a:rPr lang="en-US" dirty="0"/>
              <a:t>When to Use What?</a:t>
            </a:r>
          </a:p>
        </p:txBody>
      </p:sp>
      <p:sp>
        <p:nvSpPr>
          <p:cNvPr id="3" name="Content Placeholder 2">
            <a:extLst>
              <a:ext uri="{FF2B5EF4-FFF2-40B4-BE49-F238E27FC236}">
                <a16:creationId xmlns:a16="http://schemas.microsoft.com/office/drawing/2014/main" id="{7AA377CD-1C75-B32E-0CFB-EC601E363B99}"/>
              </a:ext>
            </a:extLst>
          </p:cNvPr>
          <p:cNvSpPr>
            <a:spLocks noGrp="1"/>
          </p:cNvSpPr>
          <p:nvPr>
            <p:ph idx="1"/>
          </p:nvPr>
        </p:nvSpPr>
        <p:spPr/>
        <p:txBody>
          <a:bodyPr/>
          <a:lstStyle/>
          <a:p>
            <a:r>
              <a:rPr lang="en-US" dirty="0"/>
              <a:t>Use Bootstrap if:</a:t>
            </a:r>
          </a:p>
          <a:p>
            <a:pPr>
              <a:buFont typeface="Arial" panose="020B0604020202020204" pitchFamily="34" charset="0"/>
              <a:buChar char="•"/>
            </a:pPr>
            <a:r>
              <a:rPr lang="en-US" dirty="0"/>
              <a:t>Quick project</a:t>
            </a:r>
          </a:p>
          <a:p>
            <a:pPr>
              <a:buFont typeface="Arial" panose="020B0604020202020204" pitchFamily="34" charset="0"/>
              <a:buChar char="•"/>
            </a:pPr>
            <a:r>
              <a:rPr lang="en-US" dirty="0"/>
              <a:t>Beginner level</a:t>
            </a:r>
          </a:p>
          <a:p>
            <a:pPr>
              <a:buFont typeface="Arial" panose="020B0604020202020204" pitchFamily="34" charset="0"/>
              <a:buChar char="•"/>
            </a:pPr>
            <a:r>
              <a:rPr lang="en-US" dirty="0"/>
              <a:t>Need ready UI</a:t>
            </a:r>
          </a:p>
          <a:p>
            <a:r>
              <a:rPr lang="en-US" dirty="0"/>
              <a:t>Use Tailwind if:</a:t>
            </a:r>
          </a:p>
          <a:p>
            <a:pPr>
              <a:buFont typeface="Arial" panose="020B0604020202020204" pitchFamily="34" charset="0"/>
              <a:buChar char="•"/>
            </a:pPr>
            <a:r>
              <a:rPr lang="en-US" dirty="0"/>
              <a:t>Custom design required</a:t>
            </a:r>
          </a:p>
          <a:p>
            <a:pPr>
              <a:buFont typeface="Arial" panose="020B0604020202020204" pitchFamily="34" charset="0"/>
              <a:buChar char="•"/>
            </a:pPr>
            <a:r>
              <a:rPr lang="en-US" dirty="0"/>
              <a:t>Modern UI</a:t>
            </a:r>
          </a:p>
          <a:p>
            <a:pPr>
              <a:buFont typeface="Arial" panose="020B0604020202020204" pitchFamily="34" charset="0"/>
              <a:buChar char="•"/>
            </a:pPr>
            <a:r>
              <a:rPr lang="en-US" dirty="0"/>
              <a:t>Full design control</a:t>
            </a:r>
          </a:p>
          <a:p>
            <a:endParaRPr lang="en-US" dirty="0"/>
          </a:p>
        </p:txBody>
      </p:sp>
    </p:spTree>
    <p:extLst>
      <p:ext uri="{BB962C8B-B14F-4D97-AF65-F5344CB8AC3E}">
        <p14:creationId xmlns:p14="http://schemas.microsoft.com/office/powerpoint/2010/main" val="1771145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61AC8-7133-0257-4E8D-6593D7BD3408}"/>
              </a:ext>
            </a:extLst>
          </p:cNvPr>
          <p:cNvSpPr>
            <a:spLocks noGrp="1"/>
          </p:cNvSpPr>
          <p:nvPr>
            <p:ph type="title"/>
          </p:nvPr>
        </p:nvSpPr>
        <p:spPr/>
        <p:txBody>
          <a:bodyPr/>
          <a:lstStyle/>
          <a:p>
            <a:r>
              <a:rPr lang="nn-NO" dirty="0"/>
              <a:t>Google Material Design Lite (MDL)</a:t>
            </a:r>
            <a:endParaRPr lang="en-US" dirty="0"/>
          </a:p>
        </p:txBody>
      </p:sp>
      <p:sp>
        <p:nvSpPr>
          <p:cNvPr id="3" name="Content Placeholder 2">
            <a:extLst>
              <a:ext uri="{FF2B5EF4-FFF2-40B4-BE49-F238E27FC236}">
                <a16:creationId xmlns:a16="http://schemas.microsoft.com/office/drawing/2014/main" id="{4AD0CAB7-46AA-420F-30FB-7D613DBA83F4}"/>
              </a:ext>
            </a:extLst>
          </p:cNvPr>
          <p:cNvSpPr>
            <a:spLocks noGrp="1"/>
          </p:cNvSpPr>
          <p:nvPr>
            <p:ph idx="1"/>
          </p:nvPr>
        </p:nvSpPr>
        <p:spPr>
          <a:xfrm>
            <a:off x="828489" y="1335741"/>
            <a:ext cx="10717399" cy="5522259"/>
          </a:xfrm>
        </p:spPr>
        <p:txBody>
          <a:bodyPr>
            <a:normAutofit fontScale="92500"/>
          </a:bodyPr>
          <a:lstStyle/>
          <a:p>
            <a:pPr>
              <a:lnSpc>
                <a:spcPct val="150000"/>
              </a:lnSpc>
            </a:pPr>
            <a:r>
              <a:rPr lang="en-US" dirty="0"/>
              <a:t>Material Design Lite (MDL) was a front-end component library introduced by Google in July 2015 to help developers apply the Material Design aesthetic to websites using vanilla CSS, HTML, and JavaScript. It was designed to be "lite" - framework-agnostic, with few dependencies, and a small code size (~27KB gipped)</a:t>
            </a:r>
          </a:p>
          <a:p>
            <a:r>
              <a:rPr lang="en-US" dirty="0"/>
              <a:t>Based on:</a:t>
            </a:r>
            <a:br>
              <a:rPr lang="en-US" dirty="0"/>
            </a:br>
            <a:r>
              <a:rPr lang="en-US" dirty="0"/>
              <a:t>Material Design Principles</a:t>
            </a:r>
          </a:p>
          <a:p>
            <a:r>
              <a:rPr lang="en-US" dirty="0"/>
              <a:t>Features:</a:t>
            </a:r>
          </a:p>
          <a:p>
            <a:pPr>
              <a:buFont typeface="Arial" panose="020B0604020202020204" pitchFamily="34" charset="0"/>
              <a:buChar char="•"/>
            </a:pPr>
            <a:r>
              <a:rPr lang="en-US" dirty="0"/>
              <a:t>Clean design</a:t>
            </a:r>
          </a:p>
          <a:p>
            <a:pPr>
              <a:buFont typeface="Arial" panose="020B0604020202020204" pitchFamily="34" charset="0"/>
              <a:buChar char="•"/>
            </a:pPr>
            <a:r>
              <a:rPr lang="en-US" dirty="0"/>
              <a:t>Shadow effects</a:t>
            </a:r>
          </a:p>
          <a:p>
            <a:pPr>
              <a:buFont typeface="Arial" panose="020B0604020202020204" pitchFamily="34" charset="0"/>
              <a:buChar char="•"/>
            </a:pPr>
            <a:r>
              <a:rPr lang="en-US" dirty="0"/>
              <a:t>Ripple effects</a:t>
            </a:r>
          </a:p>
          <a:p>
            <a:pPr>
              <a:buFont typeface="Arial" panose="020B0604020202020204" pitchFamily="34" charset="0"/>
              <a:buChar char="•"/>
            </a:pPr>
            <a:r>
              <a:rPr lang="en-US" dirty="0"/>
              <a:t>Cards, buttons, layouts</a:t>
            </a:r>
          </a:p>
          <a:p>
            <a:r>
              <a:rPr lang="en-US" dirty="0"/>
              <a:t>Note:</a:t>
            </a:r>
          </a:p>
          <a:p>
            <a:r>
              <a:rPr lang="en-US" dirty="0"/>
              <a:t>MDL is now outdated and replaced by Material Components.</a:t>
            </a:r>
          </a:p>
          <a:p>
            <a:pPr>
              <a:lnSpc>
                <a:spcPct val="150000"/>
              </a:lnSpc>
            </a:pPr>
            <a:endParaRPr lang="en-US" dirty="0"/>
          </a:p>
        </p:txBody>
      </p:sp>
    </p:spTree>
    <p:extLst>
      <p:ext uri="{BB962C8B-B14F-4D97-AF65-F5344CB8AC3E}">
        <p14:creationId xmlns:p14="http://schemas.microsoft.com/office/powerpoint/2010/main" val="1970007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065B1-6E4E-CE05-6D88-4D049AB58EC7}"/>
              </a:ext>
            </a:extLst>
          </p:cNvPr>
          <p:cNvSpPr>
            <a:spLocks noGrp="1"/>
          </p:cNvSpPr>
          <p:nvPr>
            <p:ph type="title"/>
          </p:nvPr>
        </p:nvSpPr>
        <p:spPr/>
        <p:txBody>
          <a:bodyPr/>
          <a:lstStyle/>
          <a:p>
            <a:r>
              <a:rPr lang="en-US" dirty="0"/>
              <a:t>What are UI Libraries?</a:t>
            </a:r>
          </a:p>
        </p:txBody>
      </p:sp>
      <p:sp>
        <p:nvSpPr>
          <p:cNvPr id="3" name="Content Placeholder 2">
            <a:extLst>
              <a:ext uri="{FF2B5EF4-FFF2-40B4-BE49-F238E27FC236}">
                <a16:creationId xmlns:a16="http://schemas.microsoft.com/office/drawing/2014/main" id="{0A413F95-2E76-CB81-650B-6C1E49BF5C51}"/>
              </a:ext>
            </a:extLst>
          </p:cNvPr>
          <p:cNvSpPr>
            <a:spLocks noGrp="1"/>
          </p:cNvSpPr>
          <p:nvPr>
            <p:ph idx="1"/>
          </p:nvPr>
        </p:nvSpPr>
        <p:spPr>
          <a:xfrm>
            <a:off x="875201" y="1425387"/>
            <a:ext cx="8946541" cy="5190565"/>
          </a:xfrm>
        </p:spPr>
        <p:txBody>
          <a:bodyPr>
            <a:normAutofit fontScale="85000" lnSpcReduction="10000"/>
          </a:bodyPr>
          <a:lstStyle/>
          <a:p>
            <a:pPr>
              <a:lnSpc>
                <a:spcPct val="150000"/>
              </a:lnSpc>
            </a:pPr>
            <a:r>
              <a:rPr lang="en-US" dirty="0"/>
              <a:t>UI Libraries provide:</a:t>
            </a:r>
          </a:p>
          <a:p>
            <a:pPr>
              <a:lnSpc>
                <a:spcPct val="150000"/>
              </a:lnSpc>
              <a:buFont typeface="Arial" panose="020B0604020202020204" pitchFamily="34" charset="0"/>
              <a:buChar char="•"/>
            </a:pPr>
            <a:r>
              <a:rPr lang="en-US" dirty="0"/>
              <a:t>Pre-built components</a:t>
            </a:r>
          </a:p>
          <a:p>
            <a:pPr>
              <a:lnSpc>
                <a:spcPct val="150000"/>
              </a:lnSpc>
              <a:buFont typeface="Arial" panose="020B0604020202020204" pitchFamily="34" charset="0"/>
              <a:buChar char="•"/>
            </a:pPr>
            <a:r>
              <a:rPr lang="en-US" dirty="0"/>
              <a:t>Reusable UI elements</a:t>
            </a:r>
          </a:p>
          <a:p>
            <a:pPr>
              <a:lnSpc>
                <a:spcPct val="150000"/>
              </a:lnSpc>
              <a:buFont typeface="Arial" panose="020B0604020202020204" pitchFamily="34" charset="0"/>
              <a:buChar char="•"/>
            </a:pPr>
            <a:r>
              <a:rPr lang="en-US" dirty="0"/>
              <a:t>Interactive features</a:t>
            </a:r>
          </a:p>
          <a:p>
            <a:pPr>
              <a:lnSpc>
                <a:spcPct val="150000"/>
              </a:lnSpc>
            </a:pPr>
            <a:r>
              <a:rPr lang="en-US" dirty="0"/>
              <a:t>Examples:</a:t>
            </a:r>
          </a:p>
          <a:p>
            <a:pPr>
              <a:lnSpc>
                <a:spcPct val="150000"/>
              </a:lnSpc>
              <a:buFont typeface="Arial" panose="020B0604020202020204" pitchFamily="34" charset="0"/>
              <a:buChar char="•"/>
            </a:pPr>
            <a:r>
              <a:rPr lang="en-US" dirty="0"/>
              <a:t>React</a:t>
            </a:r>
          </a:p>
          <a:p>
            <a:pPr>
              <a:lnSpc>
                <a:spcPct val="150000"/>
              </a:lnSpc>
              <a:buFont typeface="Arial" panose="020B0604020202020204" pitchFamily="34" charset="0"/>
              <a:buChar char="•"/>
            </a:pPr>
            <a:r>
              <a:rPr lang="en-US" dirty="0"/>
              <a:t>Vue.js</a:t>
            </a:r>
          </a:p>
          <a:p>
            <a:pPr>
              <a:lnSpc>
                <a:spcPct val="150000"/>
              </a:lnSpc>
              <a:buFont typeface="Arial" panose="020B0604020202020204" pitchFamily="34" charset="0"/>
              <a:buChar char="•"/>
            </a:pPr>
            <a:r>
              <a:rPr lang="en-US" dirty="0"/>
              <a:t>Angular</a:t>
            </a:r>
          </a:p>
          <a:p>
            <a:pPr>
              <a:lnSpc>
                <a:spcPct val="150000"/>
              </a:lnSpc>
            </a:pPr>
            <a:r>
              <a:rPr lang="en-US" dirty="0"/>
              <a:t>Difference:</a:t>
            </a:r>
            <a:br>
              <a:rPr lang="en-US" dirty="0"/>
            </a:br>
            <a:r>
              <a:rPr lang="en-US" dirty="0"/>
              <a:t>Framework = Full structure</a:t>
            </a:r>
            <a:br>
              <a:rPr lang="en-US" dirty="0"/>
            </a:br>
            <a:r>
              <a:rPr lang="en-US" dirty="0"/>
              <a:t>Library = Specific functionality</a:t>
            </a:r>
          </a:p>
          <a:p>
            <a:pPr>
              <a:lnSpc>
                <a:spcPct val="150000"/>
              </a:lnSpc>
            </a:pPr>
            <a:endParaRPr lang="en-US" dirty="0"/>
          </a:p>
        </p:txBody>
      </p:sp>
    </p:spTree>
    <p:extLst>
      <p:ext uri="{BB962C8B-B14F-4D97-AF65-F5344CB8AC3E}">
        <p14:creationId xmlns:p14="http://schemas.microsoft.com/office/powerpoint/2010/main" val="416484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D48D9-C0B1-DC62-A12F-CC8D5046650B}"/>
              </a:ext>
            </a:extLst>
          </p:cNvPr>
          <p:cNvSpPr>
            <a:spLocks noGrp="1"/>
          </p:cNvSpPr>
          <p:nvPr>
            <p:ph type="title"/>
          </p:nvPr>
        </p:nvSpPr>
        <p:spPr/>
        <p:txBody>
          <a:bodyPr/>
          <a:lstStyle/>
          <a:p>
            <a:r>
              <a:rPr lang="en-US" dirty="0"/>
              <a:t>Practical: Bootstrap</a:t>
            </a:r>
          </a:p>
        </p:txBody>
      </p:sp>
      <p:pic>
        <p:nvPicPr>
          <p:cNvPr id="7" name="Content Placeholder 6">
            <a:extLst>
              <a:ext uri="{FF2B5EF4-FFF2-40B4-BE49-F238E27FC236}">
                <a16:creationId xmlns:a16="http://schemas.microsoft.com/office/drawing/2014/main" id="{E62E1FFB-6FCC-8B74-9EB9-C10DF6EBE3AB}"/>
              </a:ext>
            </a:extLst>
          </p:cNvPr>
          <p:cNvPicPr>
            <a:picLocks noGrp="1" noChangeAspect="1"/>
          </p:cNvPicPr>
          <p:nvPr>
            <p:ph idx="1"/>
          </p:nvPr>
        </p:nvPicPr>
        <p:blipFill>
          <a:blip r:embed="rId2"/>
          <a:stretch>
            <a:fillRect/>
          </a:stretch>
        </p:blipFill>
        <p:spPr>
          <a:xfrm>
            <a:off x="323383" y="1343114"/>
            <a:ext cx="11423957" cy="5326627"/>
          </a:xfrm>
        </p:spPr>
      </p:pic>
    </p:spTree>
    <p:extLst>
      <p:ext uri="{BB962C8B-B14F-4D97-AF65-F5344CB8AC3E}">
        <p14:creationId xmlns:p14="http://schemas.microsoft.com/office/powerpoint/2010/main" val="2866072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0CB208-411D-B38B-3136-325815E261E3}"/>
              </a:ext>
            </a:extLst>
          </p:cNvPr>
          <p:cNvPicPr>
            <a:picLocks noChangeAspect="1"/>
          </p:cNvPicPr>
          <p:nvPr/>
        </p:nvPicPr>
        <p:blipFill>
          <a:blip r:embed="rId2"/>
          <a:stretch>
            <a:fillRect/>
          </a:stretch>
        </p:blipFill>
        <p:spPr>
          <a:xfrm>
            <a:off x="360032" y="1227638"/>
            <a:ext cx="9046790" cy="5630362"/>
          </a:xfrm>
          <a:prstGeom prst="rect">
            <a:avLst/>
          </a:prstGeom>
        </p:spPr>
      </p:pic>
      <p:sp>
        <p:nvSpPr>
          <p:cNvPr id="6" name="Title 1">
            <a:extLst>
              <a:ext uri="{FF2B5EF4-FFF2-40B4-BE49-F238E27FC236}">
                <a16:creationId xmlns:a16="http://schemas.microsoft.com/office/drawing/2014/main" id="{8C2F18C2-AE8A-BD5B-7268-3C085615D945}"/>
              </a:ext>
            </a:extLst>
          </p:cNvPr>
          <p:cNvSpPr>
            <a:spLocks noGrp="1"/>
          </p:cNvSpPr>
          <p:nvPr>
            <p:ph type="title"/>
          </p:nvPr>
        </p:nvSpPr>
        <p:spPr>
          <a:xfrm>
            <a:off x="342900" y="239713"/>
            <a:ext cx="9405938" cy="1400175"/>
          </a:xfrm>
        </p:spPr>
        <p:txBody>
          <a:bodyPr/>
          <a:lstStyle/>
          <a:p>
            <a:r>
              <a:rPr lang="en-US" dirty="0"/>
              <a:t>Practical: Bootstrap</a:t>
            </a:r>
          </a:p>
        </p:txBody>
      </p:sp>
    </p:spTree>
    <p:extLst>
      <p:ext uri="{BB962C8B-B14F-4D97-AF65-F5344CB8AC3E}">
        <p14:creationId xmlns:p14="http://schemas.microsoft.com/office/powerpoint/2010/main" val="39413317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CF36854-A606-6059-79F3-E7CCDA70413C}"/>
              </a:ext>
            </a:extLst>
          </p:cNvPr>
          <p:cNvPicPr>
            <a:picLocks noGrp="1" noChangeAspect="1"/>
          </p:cNvPicPr>
          <p:nvPr>
            <p:ph idx="1"/>
          </p:nvPr>
        </p:nvPicPr>
        <p:blipFill>
          <a:blip r:embed="rId2"/>
          <a:stretch>
            <a:fillRect/>
          </a:stretch>
        </p:blipFill>
        <p:spPr>
          <a:xfrm>
            <a:off x="551984" y="1060885"/>
            <a:ext cx="10071192" cy="5776876"/>
          </a:xfrm>
        </p:spPr>
      </p:pic>
      <p:sp>
        <p:nvSpPr>
          <p:cNvPr id="6" name="Title 1">
            <a:extLst>
              <a:ext uri="{FF2B5EF4-FFF2-40B4-BE49-F238E27FC236}">
                <a16:creationId xmlns:a16="http://schemas.microsoft.com/office/drawing/2014/main" id="{5E1D6CE1-1D37-BA1A-8DA7-C046D7016280}"/>
              </a:ext>
            </a:extLst>
          </p:cNvPr>
          <p:cNvSpPr>
            <a:spLocks noGrp="1"/>
          </p:cNvSpPr>
          <p:nvPr>
            <p:ph type="title"/>
          </p:nvPr>
        </p:nvSpPr>
        <p:spPr>
          <a:xfrm>
            <a:off x="646113" y="228497"/>
            <a:ext cx="9404350" cy="986397"/>
          </a:xfrm>
        </p:spPr>
        <p:txBody>
          <a:bodyPr/>
          <a:lstStyle/>
          <a:p>
            <a:r>
              <a:rPr lang="en-US" dirty="0"/>
              <a:t>Practical: Bootstrap</a:t>
            </a:r>
          </a:p>
        </p:txBody>
      </p:sp>
    </p:spTree>
    <p:extLst>
      <p:ext uri="{BB962C8B-B14F-4D97-AF65-F5344CB8AC3E}">
        <p14:creationId xmlns:p14="http://schemas.microsoft.com/office/powerpoint/2010/main" val="3850884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ABB618-3C37-DF69-EF63-52F603E75603}"/>
              </a:ext>
            </a:extLst>
          </p:cNvPr>
          <p:cNvPicPr>
            <a:picLocks noChangeAspect="1"/>
          </p:cNvPicPr>
          <p:nvPr/>
        </p:nvPicPr>
        <p:blipFill>
          <a:blip r:embed="rId2"/>
          <a:stretch>
            <a:fillRect/>
          </a:stretch>
        </p:blipFill>
        <p:spPr>
          <a:xfrm>
            <a:off x="646112" y="1422942"/>
            <a:ext cx="8946541" cy="5355835"/>
          </a:xfrm>
          <a:prstGeom prst="rect">
            <a:avLst/>
          </a:prstGeom>
        </p:spPr>
      </p:pic>
      <p:sp>
        <p:nvSpPr>
          <p:cNvPr id="6" name="Title 1">
            <a:extLst>
              <a:ext uri="{FF2B5EF4-FFF2-40B4-BE49-F238E27FC236}">
                <a16:creationId xmlns:a16="http://schemas.microsoft.com/office/drawing/2014/main" id="{FFC32A75-0529-CAA1-4B37-4ABFA0D5F27A}"/>
              </a:ext>
            </a:extLst>
          </p:cNvPr>
          <p:cNvSpPr>
            <a:spLocks noGrp="1"/>
          </p:cNvSpPr>
          <p:nvPr>
            <p:ph type="title"/>
          </p:nvPr>
        </p:nvSpPr>
        <p:spPr>
          <a:xfrm>
            <a:off x="645503" y="337755"/>
            <a:ext cx="9404350" cy="1400175"/>
          </a:xfrm>
        </p:spPr>
        <p:txBody>
          <a:bodyPr/>
          <a:lstStyle/>
          <a:p>
            <a:r>
              <a:rPr lang="en-US" dirty="0"/>
              <a:t>Practical: Bootstrap</a:t>
            </a:r>
          </a:p>
        </p:txBody>
      </p:sp>
    </p:spTree>
    <p:extLst>
      <p:ext uri="{BB962C8B-B14F-4D97-AF65-F5344CB8AC3E}">
        <p14:creationId xmlns:p14="http://schemas.microsoft.com/office/powerpoint/2010/main" val="4234634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75196-C5C9-7079-964B-1D5464263C64}"/>
              </a:ext>
            </a:extLst>
          </p:cNvPr>
          <p:cNvSpPr>
            <a:spLocks noGrp="1"/>
          </p:cNvSpPr>
          <p:nvPr>
            <p:ph type="title"/>
          </p:nvPr>
        </p:nvSpPr>
        <p:spPr>
          <a:xfrm>
            <a:off x="874711" y="139703"/>
            <a:ext cx="9404723" cy="1400530"/>
          </a:xfrm>
        </p:spPr>
        <p:txBody>
          <a:bodyPr/>
          <a:lstStyle/>
          <a:p>
            <a:r>
              <a:rPr lang="en-US" dirty="0"/>
              <a:t>Practical: Tailwind</a:t>
            </a:r>
          </a:p>
        </p:txBody>
      </p:sp>
      <p:pic>
        <p:nvPicPr>
          <p:cNvPr id="5" name="Content Placeholder 4">
            <a:extLst>
              <a:ext uri="{FF2B5EF4-FFF2-40B4-BE49-F238E27FC236}">
                <a16:creationId xmlns:a16="http://schemas.microsoft.com/office/drawing/2014/main" id="{19B7DEED-7A49-0C61-D867-0FAA041E1F49}"/>
              </a:ext>
            </a:extLst>
          </p:cNvPr>
          <p:cNvPicPr>
            <a:picLocks noGrp="1" noChangeAspect="1"/>
          </p:cNvPicPr>
          <p:nvPr>
            <p:ph idx="1"/>
          </p:nvPr>
        </p:nvPicPr>
        <p:blipFill>
          <a:blip r:embed="rId2"/>
          <a:stretch>
            <a:fillRect/>
          </a:stretch>
        </p:blipFill>
        <p:spPr>
          <a:xfrm>
            <a:off x="1720524" y="874888"/>
            <a:ext cx="8750952" cy="5843409"/>
          </a:xfrm>
        </p:spPr>
      </p:pic>
    </p:spTree>
    <p:extLst>
      <p:ext uri="{BB962C8B-B14F-4D97-AF65-F5344CB8AC3E}">
        <p14:creationId xmlns:p14="http://schemas.microsoft.com/office/powerpoint/2010/main" val="1782213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75196-C5C9-7079-964B-1D5464263C64}"/>
              </a:ext>
            </a:extLst>
          </p:cNvPr>
          <p:cNvSpPr>
            <a:spLocks noGrp="1"/>
          </p:cNvSpPr>
          <p:nvPr>
            <p:ph type="title"/>
          </p:nvPr>
        </p:nvSpPr>
        <p:spPr>
          <a:xfrm>
            <a:off x="874711" y="139703"/>
            <a:ext cx="9404723" cy="1400530"/>
          </a:xfrm>
        </p:spPr>
        <p:txBody>
          <a:bodyPr/>
          <a:lstStyle/>
          <a:p>
            <a:r>
              <a:rPr lang="en-US" dirty="0"/>
              <a:t>Practical: Tailwind</a:t>
            </a:r>
          </a:p>
        </p:txBody>
      </p:sp>
      <p:sp>
        <p:nvSpPr>
          <p:cNvPr id="4" name="Content Placeholder 3">
            <a:extLst>
              <a:ext uri="{FF2B5EF4-FFF2-40B4-BE49-F238E27FC236}">
                <a16:creationId xmlns:a16="http://schemas.microsoft.com/office/drawing/2014/main" id="{002BD59B-BE98-66FD-13EA-F3A710FB4F26}"/>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C69C0991-DCA7-EB2B-3E04-9CE19F7350D3}"/>
              </a:ext>
            </a:extLst>
          </p:cNvPr>
          <p:cNvPicPr>
            <a:picLocks noChangeAspect="1"/>
          </p:cNvPicPr>
          <p:nvPr/>
        </p:nvPicPr>
        <p:blipFill>
          <a:blip r:embed="rId2"/>
          <a:stretch>
            <a:fillRect/>
          </a:stretch>
        </p:blipFill>
        <p:spPr>
          <a:xfrm>
            <a:off x="354014" y="839968"/>
            <a:ext cx="11285991" cy="5878329"/>
          </a:xfrm>
          <a:prstGeom prst="rect">
            <a:avLst/>
          </a:prstGeom>
        </p:spPr>
      </p:pic>
    </p:spTree>
    <p:extLst>
      <p:ext uri="{BB962C8B-B14F-4D97-AF65-F5344CB8AC3E}">
        <p14:creationId xmlns:p14="http://schemas.microsoft.com/office/powerpoint/2010/main" val="1758195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75196-C5C9-7079-964B-1D5464263C64}"/>
              </a:ext>
            </a:extLst>
          </p:cNvPr>
          <p:cNvSpPr>
            <a:spLocks noGrp="1"/>
          </p:cNvSpPr>
          <p:nvPr>
            <p:ph type="title"/>
          </p:nvPr>
        </p:nvSpPr>
        <p:spPr>
          <a:xfrm>
            <a:off x="874711" y="139703"/>
            <a:ext cx="9404723" cy="1400530"/>
          </a:xfrm>
        </p:spPr>
        <p:txBody>
          <a:bodyPr/>
          <a:lstStyle/>
          <a:p>
            <a:r>
              <a:rPr lang="en-US" dirty="0"/>
              <a:t>Practical: Tailwind</a:t>
            </a:r>
          </a:p>
        </p:txBody>
      </p:sp>
      <p:sp>
        <p:nvSpPr>
          <p:cNvPr id="4" name="Content Placeholder 3">
            <a:extLst>
              <a:ext uri="{FF2B5EF4-FFF2-40B4-BE49-F238E27FC236}">
                <a16:creationId xmlns:a16="http://schemas.microsoft.com/office/drawing/2014/main" id="{002BD59B-BE98-66FD-13EA-F3A710FB4F2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10E08946-CFCC-2ABA-BFB2-0A202F8424F8}"/>
              </a:ext>
            </a:extLst>
          </p:cNvPr>
          <p:cNvPicPr>
            <a:picLocks noChangeAspect="1"/>
          </p:cNvPicPr>
          <p:nvPr/>
        </p:nvPicPr>
        <p:blipFill>
          <a:blip r:embed="rId2"/>
          <a:stretch>
            <a:fillRect/>
          </a:stretch>
        </p:blipFill>
        <p:spPr>
          <a:xfrm>
            <a:off x="338137" y="839968"/>
            <a:ext cx="10042992" cy="5918007"/>
          </a:xfrm>
          <a:prstGeom prst="rect">
            <a:avLst/>
          </a:prstGeom>
        </p:spPr>
      </p:pic>
    </p:spTree>
    <p:extLst>
      <p:ext uri="{BB962C8B-B14F-4D97-AF65-F5344CB8AC3E}">
        <p14:creationId xmlns:p14="http://schemas.microsoft.com/office/powerpoint/2010/main" val="3387529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6156-BB9A-64C8-59B2-AEC9355B61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2859EE-5DFC-3551-1596-C75FB59D7A9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2342235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31</TotalTime>
  <Words>398</Words>
  <Application>Microsoft Office PowerPoint</Application>
  <PresentationFormat>Widescreen</PresentationFormat>
  <Paragraphs>107</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Century Gothic</vt:lpstr>
      <vt:lpstr>Wingdings 3</vt:lpstr>
      <vt:lpstr>Ion</vt:lpstr>
      <vt:lpstr>HTML5 Frameworks Overview</vt:lpstr>
      <vt:lpstr>What are HTML5 Frameworks?</vt:lpstr>
      <vt:lpstr>Why Use Frameworks?</vt:lpstr>
      <vt:lpstr>PowerPoint Presentation</vt:lpstr>
      <vt:lpstr>Bootstrap Features</vt:lpstr>
      <vt:lpstr>Tailwind CSS Overview</vt:lpstr>
      <vt:lpstr>Bootstrap vs Tailwind</vt:lpstr>
      <vt:lpstr>When to Use What?</vt:lpstr>
      <vt:lpstr>Google Material Design Lite (MDL)</vt:lpstr>
      <vt:lpstr>What are UI Libraries?</vt:lpstr>
      <vt:lpstr>Practical: Bootstrap</vt:lpstr>
      <vt:lpstr>Practical: Bootstrap</vt:lpstr>
      <vt:lpstr>Practical: Bootstrap</vt:lpstr>
      <vt:lpstr>Practical: Bootstrap</vt:lpstr>
      <vt:lpstr>Practical: Tailwind</vt:lpstr>
      <vt:lpstr>Practical: Tailwind</vt:lpstr>
      <vt:lpstr>Practical: Tailwind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Manal Atif</dc:creator>
  <cp:lastModifiedBy>Manal Atif</cp:lastModifiedBy>
  <cp:revision>9</cp:revision>
  <dcterms:created xsi:type="dcterms:W3CDTF">2026-02-25T08:20:23Z</dcterms:created>
  <dcterms:modified xsi:type="dcterms:W3CDTF">2026-02-25T08:51:31Z</dcterms:modified>
</cp:coreProperties>
</file>