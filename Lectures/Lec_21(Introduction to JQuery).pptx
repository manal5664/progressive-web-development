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9" autoAdjust="0"/>
    <p:restoredTop sz="94660"/>
  </p:normalViewPr>
  <p:slideViewPr>
    <p:cSldViewPr snapToGrid="0">
      <p:cViewPr varScale="1">
        <p:scale>
          <a:sx n="58" d="100"/>
          <a:sy n="58" d="100"/>
        </p:scale>
        <p:origin x="78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86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4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98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69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7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00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3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5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9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94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14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91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42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15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56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9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79E0693-D2B5-467B-A34D-4343532F491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2BF640A-E372-44BB-9B72-840B04D9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80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AF272-48F0-4489-82EF-FD2C981BEB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jQuery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B37B7-87B8-9102-3F05-D9350B6B0B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3180261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0D00-6544-9716-5347-7E7D885E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jQuery?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B9AD2-9EE5-32EF-C238-E9627FD6C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94" y="2220077"/>
            <a:ext cx="10850435" cy="463792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jQuery is a fast, lightweight JavaScript library.</a:t>
            </a:r>
          </a:p>
          <a:p>
            <a:pPr>
              <a:lnSpc>
                <a:spcPct val="150000"/>
              </a:lnSpc>
            </a:pPr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 “Write Less, Do More”</a:t>
            </a:r>
          </a:p>
          <a:p>
            <a:pPr>
              <a:lnSpc>
                <a:spcPct val="150000"/>
              </a:lnSpc>
            </a:pPr>
            <a:r>
              <a:rPr lang="en-US" dirty="0"/>
              <a:t>It simplifies: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DOM manipulation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Event handling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Animations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AJAX</a:t>
            </a:r>
          </a:p>
          <a:p>
            <a:pPr>
              <a:lnSpc>
                <a:spcPct val="150000"/>
              </a:lnSpc>
            </a:pPr>
            <a:r>
              <a:rPr lang="en-US" dirty="0"/>
              <a:t>Before jQuery:</a:t>
            </a:r>
            <a:br>
              <a:rPr lang="en-US" dirty="0"/>
            </a:br>
            <a:r>
              <a:rPr lang="en-US" dirty="0"/>
              <a:t>JavaScript was long &amp; complex.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2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1CB33-C026-5B87-A2FE-12B5AAF6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jQuery Was Popular?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A4767-2C44-E870-F618-692E46924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Cross-browser compatibility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syntax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Shorter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animations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DOM access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JavaScript:</a:t>
            </a:r>
          </a:p>
          <a:p>
            <a:endParaRPr lang="en-US" dirty="0"/>
          </a:p>
          <a:p>
            <a:r>
              <a:rPr lang="en-US" dirty="0"/>
              <a:t>jQuery:	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8FC47-515D-7C16-D972-1D0549AF6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259" y="4810804"/>
            <a:ext cx="7615956" cy="748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B477A5-756D-1D3B-CDCE-AF0F9AB56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528" y="5411673"/>
            <a:ext cx="4287385" cy="78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8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38F2-0739-A7D1-B811-710A39B47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9B3D7-3962-DBDB-AF10-4112C03F1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344" y="2351314"/>
            <a:ext cx="9124270" cy="4506686"/>
          </a:xfrm>
        </p:spPr>
        <p:txBody>
          <a:bodyPr>
            <a:normAutofit/>
          </a:bodyPr>
          <a:lstStyle/>
          <a:p>
            <a:r>
              <a:rPr lang="en-US" dirty="0"/>
              <a:t>jQuery Syntax</a:t>
            </a:r>
          </a:p>
          <a:p>
            <a:r>
              <a:rPr lang="en-US" dirty="0"/>
              <a:t>Basic Syntax:</a:t>
            </a:r>
          </a:p>
          <a:p>
            <a:r>
              <a:rPr lang="en-US" dirty="0"/>
              <a:t>$(selector).action();</a:t>
            </a:r>
          </a:p>
          <a:p>
            <a:r>
              <a:rPr lang="en-US" dirty="0"/>
              <a:t>$ → jQuery</a:t>
            </a:r>
          </a:p>
          <a:p>
            <a:r>
              <a:rPr lang="en-US" dirty="0"/>
              <a:t>selector → HTML element</a:t>
            </a:r>
          </a:p>
          <a:p>
            <a:r>
              <a:rPr lang="en-US" dirty="0"/>
              <a:t>action() → What to do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$("#</a:t>
            </a:r>
            <a:r>
              <a:rPr lang="en-US" dirty="0" err="1"/>
              <a:t>btn</a:t>
            </a:r>
            <a:r>
              <a:rPr lang="en-US" dirty="0"/>
              <a:t>").click(function(){  </a:t>
            </a:r>
          </a:p>
          <a:p>
            <a:r>
              <a:rPr lang="en-US" dirty="0"/>
              <a:t>alert("Button Clicked");</a:t>
            </a:r>
          </a:p>
          <a:p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566055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1C6B-034D-82EB-7D27-B6DBE6A41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Selectors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B5B64B-FD66-7E28-83AB-AEDD954FF9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7442262"/>
              </p:ext>
            </p:extLst>
          </p:nvPr>
        </p:nvGraphicFramePr>
        <p:xfrm>
          <a:off x="1013277" y="2407613"/>
          <a:ext cx="9901466" cy="423993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950733">
                  <a:extLst>
                    <a:ext uri="{9D8B030D-6E8A-4147-A177-3AD203B41FA5}">
                      <a16:colId xmlns:a16="http://schemas.microsoft.com/office/drawing/2014/main" val="1170016136"/>
                    </a:ext>
                  </a:extLst>
                </a:gridCol>
                <a:gridCol w="4950733">
                  <a:extLst>
                    <a:ext uri="{9D8B030D-6E8A-4147-A177-3AD203B41FA5}">
                      <a16:colId xmlns:a16="http://schemas.microsoft.com/office/drawing/2014/main" val="1880439360"/>
                    </a:ext>
                  </a:extLst>
                </a:gridCol>
              </a:tblGrid>
              <a:tr h="706655">
                <a:tc>
                  <a:txBody>
                    <a:bodyPr/>
                    <a:lstStyle/>
                    <a:p>
                      <a:r>
                        <a:rPr lang="en-US"/>
                        <a:t>Selector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624981"/>
                  </a:ext>
                </a:extLst>
              </a:tr>
              <a:tr h="706655">
                <a:tc>
                  <a:txBody>
                    <a:bodyPr/>
                    <a:lstStyle/>
                    <a:p>
                      <a:r>
                        <a:rPr lang="en-US"/>
                        <a:t>$("p")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all paragraphs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200015"/>
                  </a:ext>
                </a:extLst>
              </a:tr>
              <a:tr h="706655">
                <a:tc>
                  <a:txBody>
                    <a:bodyPr/>
                    <a:lstStyle/>
                    <a:p>
                      <a:r>
                        <a:rPr lang="en-US"/>
                        <a:t>$("#id")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Select by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567635"/>
                  </a:ext>
                </a:extLst>
              </a:tr>
              <a:tr h="706655">
                <a:tc>
                  <a:txBody>
                    <a:bodyPr/>
                    <a:lstStyle/>
                    <a:p>
                      <a:r>
                        <a:rPr lang="en-US"/>
                        <a:t>$(".class")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Select by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9785047"/>
                  </a:ext>
                </a:extLst>
              </a:tr>
              <a:tr h="706655">
                <a:tc>
                  <a:txBody>
                    <a:bodyPr/>
                    <a:lstStyle/>
                    <a:p>
                      <a:r>
                        <a:rPr lang="en-US"/>
                        <a:t>$("div p")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Select p inside div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163803"/>
                  </a:ext>
                </a:extLst>
              </a:tr>
              <a:tr h="706655">
                <a:tc>
                  <a:txBody>
                    <a:bodyPr/>
                    <a:lstStyle/>
                    <a:p>
                      <a:r>
                        <a:rPr lang="en-US"/>
                        <a:t>$("input:first")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620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946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BBE7-1493-B6D4-745E-83DEBA6C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Events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E5AA7C4-6D1E-BE4D-3C24-85C4DEDA1A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1486" y="2303280"/>
            <a:ext cx="9811657" cy="4190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jQuery has built-in animation effects: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hide()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show()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toggle()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fadeIn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fadeOut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slideDown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slideUp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 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1000 = 1 second animation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A987E8-CB6F-B87E-9DC4-C7DD8167DC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753"/>
          <a:stretch/>
        </p:blipFill>
        <p:spPr>
          <a:xfrm>
            <a:off x="2278638" y="5645016"/>
            <a:ext cx="4557592" cy="47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363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D0F9-C6AE-64EB-2C4E-554C4423A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2E015-BA69-C0A2-150D-E846504D8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904932" cy="4073071"/>
          </a:xfrm>
        </p:spPr>
        <p:txBody>
          <a:bodyPr/>
          <a:lstStyle/>
          <a:p>
            <a:r>
              <a:rPr lang="en-US" dirty="0"/>
              <a:t>DOM = Document Object Model</a:t>
            </a:r>
          </a:p>
          <a:p>
            <a:r>
              <a:rPr lang="en-US" dirty="0"/>
              <a:t>jQuery can:</a:t>
            </a:r>
          </a:p>
          <a:p>
            <a:r>
              <a:rPr lang="en-US" dirty="0"/>
              <a:t>Change text → .text()</a:t>
            </a:r>
          </a:p>
          <a:p>
            <a:r>
              <a:rPr lang="en-US" dirty="0"/>
              <a:t>Change HTML → .html()</a:t>
            </a:r>
          </a:p>
          <a:p>
            <a:r>
              <a:rPr lang="en-US" dirty="0"/>
              <a:t>Change CSS → .</a:t>
            </a:r>
            <a:r>
              <a:rPr lang="en-US" dirty="0" err="1"/>
              <a:t>css</a:t>
            </a:r>
            <a:r>
              <a:rPr lang="en-US" dirty="0"/>
              <a:t>()</a:t>
            </a:r>
          </a:p>
          <a:p>
            <a:r>
              <a:rPr lang="en-US" dirty="0"/>
              <a:t>Add class → .</a:t>
            </a:r>
            <a:r>
              <a:rPr lang="en-US" dirty="0" err="1"/>
              <a:t>addClass</a:t>
            </a:r>
            <a:r>
              <a:rPr lang="en-US" dirty="0"/>
              <a:t>()</a:t>
            </a:r>
          </a:p>
          <a:p>
            <a:r>
              <a:rPr lang="en-US" dirty="0"/>
              <a:t>Remove class → .</a:t>
            </a:r>
            <a:r>
              <a:rPr lang="en-US" dirty="0" err="1"/>
              <a:t>removeClass</a:t>
            </a:r>
            <a:r>
              <a:rPr lang="en-US" dirty="0"/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19348-5D2A-71CF-CCC7-7860768FB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5450264"/>
            <a:ext cx="4657884" cy="86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35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BBFDB-3D6D-6618-EF8F-8DAF2A247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Mobile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9DA9-1518-1EE3-08D6-4A82427BE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077" y="2400299"/>
            <a:ext cx="10325846" cy="407307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It is a mobile UI framework built on jQuery.</a:t>
            </a:r>
          </a:p>
          <a:p>
            <a:pPr>
              <a:lnSpc>
                <a:spcPct val="150000"/>
              </a:lnSpc>
            </a:pPr>
            <a:r>
              <a:rPr lang="en-US" dirty="0"/>
              <a:t>Features: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Touch-friendly UI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Mobile themes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Responsive layout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Swipe events</a:t>
            </a:r>
          </a:p>
          <a:p>
            <a:pPr>
              <a:lnSpc>
                <a:spcPct val="150000"/>
              </a:lnSpc>
            </a:pPr>
            <a:r>
              <a:rPr lang="en-US" dirty="0"/>
              <a:t>Note:</a:t>
            </a:r>
            <a:br>
              <a:rPr lang="en-US" dirty="0"/>
            </a:br>
            <a:r>
              <a:rPr lang="en-US" dirty="0"/>
              <a:t>jQuery Mobile is now outdated but still taught academically.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356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1FCC4-A857-ED1B-8A8A-43EE5F2BA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400" y="713318"/>
            <a:ext cx="8761413" cy="706964"/>
          </a:xfrm>
        </p:spPr>
        <p:txBody>
          <a:bodyPr/>
          <a:lstStyle/>
          <a:p>
            <a:r>
              <a:rPr lang="en-US" b="1" dirty="0"/>
              <a:t>Tabbed Content + Modal Using jQuery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C9CC9-FBFC-750D-A464-99AF5C6B3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00" y="1620505"/>
            <a:ext cx="8283348" cy="523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18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829547-6585-73A0-6F45-C223A46D89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104"/>
          <a:stretch/>
        </p:blipFill>
        <p:spPr>
          <a:xfrm>
            <a:off x="478971" y="158568"/>
            <a:ext cx="6894286" cy="6699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DA771E-3F13-CC18-7F23-B350C9F4E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4655"/>
            <a:ext cx="6045289" cy="379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1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84E509-94A6-23C3-FD2D-E326F35DE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500" b="2888"/>
          <a:stretch/>
        </p:blipFill>
        <p:spPr>
          <a:xfrm>
            <a:off x="1039252" y="1"/>
            <a:ext cx="6226072" cy="701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917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33</TotalTime>
  <Words>262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Tahoma</vt:lpstr>
      <vt:lpstr>Wingdings 3</vt:lpstr>
      <vt:lpstr>Ion Boardroom</vt:lpstr>
      <vt:lpstr>Introduction to jQuery</vt:lpstr>
      <vt:lpstr>What is jQuery?</vt:lpstr>
      <vt:lpstr>Why jQuery Was Popular?</vt:lpstr>
      <vt:lpstr>jQuery Syntax</vt:lpstr>
      <vt:lpstr>jQuery Selectors</vt:lpstr>
      <vt:lpstr>jQuery Events</vt:lpstr>
      <vt:lpstr>DOM Manipulation</vt:lpstr>
      <vt:lpstr>jQuery Mobile Basics</vt:lpstr>
      <vt:lpstr>Tabbed Content + Modal Using jQuery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8</cp:revision>
  <dcterms:created xsi:type="dcterms:W3CDTF">2026-02-25T08:53:11Z</dcterms:created>
  <dcterms:modified xsi:type="dcterms:W3CDTF">2026-02-25T09:26:15Z</dcterms:modified>
</cp:coreProperties>
</file>